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webextensions/webextension4.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2"/>
  </p:notesMasterIdLst>
  <p:sldIdLst>
    <p:sldId id="256" r:id="rId2"/>
    <p:sldId id="257" r:id="rId3"/>
    <p:sldId id="258" r:id="rId4"/>
    <p:sldId id="259" r:id="rId5"/>
    <p:sldId id="261" r:id="rId6"/>
    <p:sldId id="263" r:id="rId7"/>
    <p:sldId id="264" r:id="rId8"/>
    <p:sldId id="265" r:id="rId9"/>
    <p:sldId id="266" r:id="rId10"/>
    <p:sldId id="267" r:id="rId11"/>
    <p:sldId id="268" r:id="rId12"/>
    <p:sldId id="269" r:id="rId13"/>
    <p:sldId id="270" r:id="rId14"/>
    <p:sldId id="271" r:id="rId15"/>
    <p:sldId id="272" r:id="rId16"/>
    <p:sldId id="274" r:id="rId17"/>
    <p:sldId id="278" r:id="rId18"/>
    <p:sldId id="275" r:id="rId19"/>
    <p:sldId id="276" r:id="rId20"/>
    <p:sldId id="277" r:id="rId21"/>
    <p:sldId id="279" r:id="rId22"/>
    <p:sldId id="280" r:id="rId23"/>
    <p:sldId id="282" r:id="rId24"/>
    <p:sldId id="281" r:id="rId25"/>
    <p:sldId id="288" r:id="rId26"/>
    <p:sldId id="284" r:id="rId27"/>
    <p:sldId id="285" r:id="rId28"/>
    <p:sldId id="283" r:id="rId29"/>
    <p:sldId id="287" r:id="rId30"/>
    <p:sldId id="286"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5EBBAC-2265-4701-A471-B81CA86CB42F}" v="16" dt="2026-06-23T21:52:50.4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120" d="100"/>
          <a:sy n="120" d="100"/>
        </p:scale>
        <p:origin x="120" y="9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ED250D0-10FB-4B99-AAFD-BAB768394F3D}" type="doc">
      <dgm:prSet loTypeId="urn:microsoft.com/office/officeart/2008/layout/LinedList" loCatId="list" qsTypeId="urn:microsoft.com/office/officeart/2005/8/quickstyle/simple5" qsCatId="simple" csTypeId="urn:microsoft.com/office/officeart/2005/8/colors/accent2_2" csCatId="accent2" phldr="1"/>
      <dgm:spPr/>
      <dgm:t>
        <a:bodyPr/>
        <a:lstStyle/>
        <a:p>
          <a:endParaRPr lang="en-US"/>
        </a:p>
      </dgm:t>
    </dgm:pt>
    <dgm:pt modelId="{96F7C6C2-26FB-4CEF-B67E-26B9E15FFDD0}">
      <dgm:prSet/>
      <dgm:spPr/>
      <dgm:t>
        <a:bodyPr/>
        <a:lstStyle/>
        <a:p>
          <a:r>
            <a:rPr lang="en-IN" b="1" i="0" dirty="0"/>
            <a:t>MCP Host</a:t>
          </a:r>
          <a:r>
            <a:rPr lang="en-IN" b="0" i="0" dirty="0"/>
            <a:t>: The AI application that coordinates and manages one or multiple MCP clients</a:t>
          </a:r>
          <a:endParaRPr lang="en-US" dirty="0"/>
        </a:p>
      </dgm:t>
    </dgm:pt>
    <dgm:pt modelId="{E44A4E70-EFBE-47FF-AAA9-D70AC0832BAC}" type="parTrans" cxnId="{E36DA8A2-4E5B-4232-9957-CB3B3F5509B9}">
      <dgm:prSet/>
      <dgm:spPr/>
      <dgm:t>
        <a:bodyPr/>
        <a:lstStyle/>
        <a:p>
          <a:endParaRPr lang="en-US"/>
        </a:p>
      </dgm:t>
    </dgm:pt>
    <dgm:pt modelId="{2B823400-7755-463E-BDB2-BDFA3C6906AD}" type="sibTrans" cxnId="{E36DA8A2-4E5B-4232-9957-CB3B3F5509B9}">
      <dgm:prSet/>
      <dgm:spPr/>
      <dgm:t>
        <a:bodyPr/>
        <a:lstStyle/>
        <a:p>
          <a:endParaRPr lang="en-US"/>
        </a:p>
      </dgm:t>
    </dgm:pt>
    <dgm:pt modelId="{1F804B83-FCE7-4C4C-8E45-ACF4FAF09B66}">
      <dgm:prSet/>
      <dgm:spPr/>
      <dgm:t>
        <a:bodyPr/>
        <a:lstStyle/>
        <a:p>
          <a:r>
            <a:rPr lang="en-IN" b="1" i="0" dirty="0"/>
            <a:t>MCP Client</a:t>
          </a:r>
          <a:r>
            <a:rPr lang="en-IN" b="0" i="0" dirty="0"/>
            <a:t>: A component that maintains a connection to an MCP server and obtains context from an MCP server for the MCP host to use</a:t>
          </a:r>
          <a:endParaRPr lang="en-US" dirty="0"/>
        </a:p>
      </dgm:t>
    </dgm:pt>
    <dgm:pt modelId="{E1251F06-41FF-48E3-9F18-D079BB46C854}" type="parTrans" cxnId="{E7D3A68A-3C25-48E8-9EA4-444BE5E36309}">
      <dgm:prSet/>
      <dgm:spPr/>
      <dgm:t>
        <a:bodyPr/>
        <a:lstStyle/>
        <a:p>
          <a:endParaRPr lang="en-US"/>
        </a:p>
      </dgm:t>
    </dgm:pt>
    <dgm:pt modelId="{3FFC3F2C-F630-4D2D-A097-83788D486D00}" type="sibTrans" cxnId="{E7D3A68A-3C25-48E8-9EA4-444BE5E36309}">
      <dgm:prSet/>
      <dgm:spPr/>
      <dgm:t>
        <a:bodyPr/>
        <a:lstStyle/>
        <a:p>
          <a:endParaRPr lang="en-US"/>
        </a:p>
      </dgm:t>
    </dgm:pt>
    <dgm:pt modelId="{F5022A49-CFE2-4005-98BE-B0D3D216C451}">
      <dgm:prSet/>
      <dgm:spPr/>
      <dgm:t>
        <a:bodyPr/>
        <a:lstStyle/>
        <a:p>
          <a:r>
            <a:rPr lang="en-IN" b="1" i="0"/>
            <a:t>MCP Server</a:t>
          </a:r>
          <a:r>
            <a:rPr lang="en-IN" b="0" i="0"/>
            <a:t>: A program that provides context to MCP clients</a:t>
          </a:r>
          <a:endParaRPr lang="en-US"/>
        </a:p>
      </dgm:t>
    </dgm:pt>
    <dgm:pt modelId="{C37C3433-F3D8-4648-8B48-CB56C03B356E}" type="parTrans" cxnId="{8B846CED-843D-4F6F-B616-789F09C77CF8}">
      <dgm:prSet/>
      <dgm:spPr/>
      <dgm:t>
        <a:bodyPr/>
        <a:lstStyle/>
        <a:p>
          <a:endParaRPr lang="en-US"/>
        </a:p>
      </dgm:t>
    </dgm:pt>
    <dgm:pt modelId="{86871542-6216-4A66-B287-D2B5E1059773}" type="sibTrans" cxnId="{8B846CED-843D-4F6F-B616-789F09C77CF8}">
      <dgm:prSet/>
      <dgm:spPr/>
      <dgm:t>
        <a:bodyPr/>
        <a:lstStyle/>
        <a:p>
          <a:endParaRPr lang="en-US"/>
        </a:p>
      </dgm:t>
    </dgm:pt>
    <dgm:pt modelId="{338FD1AB-2367-4279-A38C-510BC005D8C0}" type="pres">
      <dgm:prSet presAssocID="{8ED250D0-10FB-4B99-AAFD-BAB768394F3D}" presName="vert0" presStyleCnt="0">
        <dgm:presLayoutVars>
          <dgm:dir/>
          <dgm:animOne val="branch"/>
          <dgm:animLvl val="lvl"/>
        </dgm:presLayoutVars>
      </dgm:prSet>
      <dgm:spPr/>
    </dgm:pt>
    <dgm:pt modelId="{7723C73C-A63F-4746-8895-72D9152D9E5A}" type="pres">
      <dgm:prSet presAssocID="{96F7C6C2-26FB-4CEF-B67E-26B9E15FFDD0}" presName="thickLine" presStyleLbl="alignNode1" presStyleIdx="0" presStyleCnt="3"/>
      <dgm:spPr/>
    </dgm:pt>
    <dgm:pt modelId="{70963E31-64E6-4D33-BF99-ED99E1DEE0D4}" type="pres">
      <dgm:prSet presAssocID="{96F7C6C2-26FB-4CEF-B67E-26B9E15FFDD0}" presName="horz1" presStyleCnt="0"/>
      <dgm:spPr/>
    </dgm:pt>
    <dgm:pt modelId="{BE66AEB9-8209-40B4-A862-8D1E2CE7916E}" type="pres">
      <dgm:prSet presAssocID="{96F7C6C2-26FB-4CEF-B67E-26B9E15FFDD0}" presName="tx1" presStyleLbl="revTx" presStyleIdx="0" presStyleCnt="3"/>
      <dgm:spPr/>
    </dgm:pt>
    <dgm:pt modelId="{6A181614-E146-4AA2-827D-F3D4D1EEBD10}" type="pres">
      <dgm:prSet presAssocID="{96F7C6C2-26FB-4CEF-B67E-26B9E15FFDD0}" presName="vert1" presStyleCnt="0"/>
      <dgm:spPr/>
    </dgm:pt>
    <dgm:pt modelId="{0F0AFAB8-556F-474C-A565-0D3BCDB3BF65}" type="pres">
      <dgm:prSet presAssocID="{1F804B83-FCE7-4C4C-8E45-ACF4FAF09B66}" presName="thickLine" presStyleLbl="alignNode1" presStyleIdx="1" presStyleCnt="3"/>
      <dgm:spPr/>
    </dgm:pt>
    <dgm:pt modelId="{B942115D-2B43-42D7-A3F0-D0F69BECA1C5}" type="pres">
      <dgm:prSet presAssocID="{1F804B83-FCE7-4C4C-8E45-ACF4FAF09B66}" presName="horz1" presStyleCnt="0"/>
      <dgm:spPr/>
    </dgm:pt>
    <dgm:pt modelId="{F53A8CE2-F145-448F-95D6-0308121FEA80}" type="pres">
      <dgm:prSet presAssocID="{1F804B83-FCE7-4C4C-8E45-ACF4FAF09B66}" presName="tx1" presStyleLbl="revTx" presStyleIdx="1" presStyleCnt="3"/>
      <dgm:spPr/>
    </dgm:pt>
    <dgm:pt modelId="{468E3398-41DB-4B29-9BB5-0AC477C13DA4}" type="pres">
      <dgm:prSet presAssocID="{1F804B83-FCE7-4C4C-8E45-ACF4FAF09B66}" presName="vert1" presStyleCnt="0"/>
      <dgm:spPr/>
    </dgm:pt>
    <dgm:pt modelId="{666D4859-E737-40F9-B68A-66D596B85B6B}" type="pres">
      <dgm:prSet presAssocID="{F5022A49-CFE2-4005-98BE-B0D3D216C451}" presName="thickLine" presStyleLbl="alignNode1" presStyleIdx="2" presStyleCnt="3"/>
      <dgm:spPr/>
    </dgm:pt>
    <dgm:pt modelId="{05F63194-5798-4109-A47D-CC3142559457}" type="pres">
      <dgm:prSet presAssocID="{F5022A49-CFE2-4005-98BE-B0D3D216C451}" presName="horz1" presStyleCnt="0"/>
      <dgm:spPr/>
    </dgm:pt>
    <dgm:pt modelId="{0E1AD9E7-6E2E-468E-A973-C08D35B008A8}" type="pres">
      <dgm:prSet presAssocID="{F5022A49-CFE2-4005-98BE-B0D3D216C451}" presName="tx1" presStyleLbl="revTx" presStyleIdx="2" presStyleCnt="3"/>
      <dgm:spPr/>
    </dgm:pt>
    <dgm:pt modelId="{1A802E8F-CE20-4570-B737-35B212EEEAD7}" type="pres">
      <dgm:prSet presAssocID="{F5022A49-CFE2-4005-98BE-B0D3D216C451}" presName="vert1" presStyleCnt="0"/>
      <dgm:spPr/>
    </dgm:pt>
  </dgm:ptLst>
  <dgm:cxnLst>
    <dgm:cxn modelId="{0B8E7631-BFEB-4CC9-87B2-F4A646817133}" type="presOf" srcId="{96F7C6C2-26FB-4CEF-B67E-26B9E15FFDD0}" destId="{BE66AEB9-8209-40B4-A862-8D1E2CE7916E}" srcOrd="0" destOrd="0" presId="urn:microsoft.com/office/officeart/2008/layout/LinedList"/>
    <dgm:cxn modelId="{E1278437-97E1-4437-80EE-D965CA0E3E2A}" type="presOf" srcId="{1F804B83-FCE7-4C4C-8E45-ACF4FAF09B66}" destId="{F53A8CE2-F145-448F-95D6-0308121FEA80}" srcOrd="0" destOrd="0" presId="urn:microsoft.com/office/officeart/2008/layout/LinedList"/>
    <dgm:cxn modelId="{E7D3A68A-3C25-48E8-9EA4-444BE5E36309}" srcId="{8ED250D0-10FB-4B99-AAFD-BAB768394F3D}" destId="{1F804B83-FCE7-4C4C-8E45-ACF4FAF09B66}" srcOrd="1" destOrd="0" parTransId="{E1251F06-41FF-48E3-9F18-D079BB46C854}" sibTransId="{3FFC3F2C-F630-4D2D-A097-83788D486D00}"/>
    <dgm:cxn modelId="{E36DA8A2-4E5B-4232-9957-CB3B3F5509B9}" srcId="{8ED250D0-10FB-4B99-AAFD-BAB768394F3D}" destId="{96F7C6C2-26FB-4CEF-B67E-26B9E15FFDD0}" srcOrd="0" destOrd="0" parTransId="{E44A4E70-EFBE-47FF-AAA9-D70AC0832BAC}" sibTransId="{2B823400-7755-463E-BDB2-BDFA3C6906AD}"/>
    <dgm:cxn modelId="{5E8210EA-3630-4E30-A5F6-187BED5CF289}" type="presOf" srcId="{8ED250D0-10FB-4B99-AAFD-BAB768394F3D}" destId="{338FD1AB-2367-4279-A38C-510BC005D8C0}" srcOrd="0" destOrd="0" presId="urn:microsoft.com/office/officeart/2008/layout/LinedList"/>
    <dgm:cxn modelId="{8B846CED-843D-4F6F-B616-789F09C77CF8}" srcId="{8ED250D0-10FB-4B99-AAFD-BAB768394F3D}" destId="{F5022A49-CFE2-4005-98BE-B0D3D216C451}" srcOrd="2" destOrd="0" parTransId="{C37C3433-F3D8-4648-8B48-CB56C03B356E}" sibTransId="{86871542-6216-4A66-B287-D2B5E1059773}"/>
    <dgm:cxn modelId="{0DA772F1-4ECC-440F-98AB-8C583476DC81}" type="presOf" srcId="{F5022A49-CFE2-4005-98BE-B0D3D216C451}" destId="{0E1AD9E7-6E2E-468E-A973-C08D35B008A8}" srcOrd="0" destOrd="0" presId="urn:microsoft.com/office/officeart/2008/layout/LinedList"/>
    <dgm:cxn modelId="{A5015CDC-ED28-4F42-85E1-6F96EC42DB96}" type="presParOf" srcId="{338FD1AB-2367-4279-A38C-510BC005D8C0}" destId="{7723C73C-A63F-4746-8895-72D9152D9E5A}" srcOrd="0" destOrd="0" presId="urn:microsoft.com/office/officeart/2008/layout/LinedList"/>
    <dgm:cxn modelId="{5D689BB3-D514-463E-9E20-632B5220B8F4}" type="presParOf" srcId="{338FD1AB-2367-4279-A38C-510BC005D8C0}" destId="{70963E31-64E6-4D33-BF99-ED99E1DEE0D4}" srcOrd="1" destOrd="0" presId="urn:microsoft.com/office/officeart/2008/layout/LinedList"/>
    <dgm:cxn modelId="{8E8E7A8A-5993-4BA3-868F-2CEEBE554EC6}" type="presParOf" srcId="{70963E31-64E6-4D33-BF99-ED99E1DEE0D4}" destId="{BE66AEB9-8209-40B4-A862-8D1E2CE7916E}" srcOrd="0" destOrd="0" presId="urn:microsoft.com/office/officeart/2008/layout/LinedList"/>
    <dgm:cxn modelId="{22298C58-18E4-4BB1-8EF2-B00D536AC26E}" type="presParOf" srcId="{70963E31-64E6-4D33-BF99-ED99E1DEE0D4}" destId="{6A181614-E146-4AA2-827D-F3D4D1EEBD10}" srcOrd="1" destOrd="0" presId="urn:microsoft.com/office/officeart/2008/layout/LinedList"/>
    <dgm:cxn modelId="{76B19199-2C21-4267-BED4-37703E33FD6D}" type="presParOf" srcId="{338FD1AB-2367-4279-A38C-510BC005D8C0}" destId="{0F0AFAB8-556F-474C-A565-0D3BCDB3BF65}" srcOrd="2" destOrd="0" presId="urn:microsoft.com/office/officeart/2008/layout/LinedList"/>
    <dgm:cxn modelId="{5940F352-8D51-45E5-998F-E0CD7431AB3F}" type="presParOf" srcId="{338FD1AB-2367-4279-A38C-510BC005D8C0}" destId="{B942115D-2B43-42D7-A3F0-D0F69BECA1C5}" srcOrd="3" destOrd="0" presId="urn:microsoft.com/office/officeart/2008/layout/LinedList"/>
    <dgm:cxn modelId="{7FFD2077-D115-4744-89C0-09327DF3DC30}" type="presParOf" srcId="{B942115D-2B43-42D7-A3F0-D0F69BECA1C5}" destId="{F53A8CE2-F145-448F-95D6-0308121FEA80}" srcOrd="0" destOrd="0" presId="urn:microsoft.com/office/officeart/2008/layout/LinedList"/>
    <dgm:cxn modelId="{AA7C142F-2536-451A-BAE0-0F881474FD4D}" type="presParOf" srcId="{B942115D-2B43-42D7-A3F0-D0F69BECA1C5}" destId="{468E3398-41DB-4B29-9BB5-0AC477C13DA4}" srcOrd="1" destOrd="0" presId="urn:microsoft.com/office/officeart/2008/layout/LinedList"/>
    <dgm:cxn modelId="{3255927A-3481-483C-9CB6-F706365EE2E4}" type="presParOf" srcId="{338FD1AB-2367-4279-A38C-510BC005D8C0}" destId="{666D4859-E737-40F9-B68A-66D596B85B6B}" srcOrd="4" destOrd="0" presId="urn:microsoft.com/office/officeart/2008/layout/LinedList"/>
    <dgm:cxn modelId="{F27433BA-3515-4A6B-8BE5-CE4B83094C5C}" type="presParOf" srcId="{338FD1AB-2367-4279-A38C-510BC005D8C0}" destId="{05F63194-5798-4109-A47D-CC3142559457}" srcOrd="5" destOrd="0" presId="urn:microsoft.com/office/officeart/2008/layout/LinedList"/>
    <dgm:cxn modelId="{0054781D-1EB3-4F20-858C-E99B34F3CDA5}" type="presParOf" srcId="{05F63194-5798-4109-A47D-CC3142559457}" destId="{0E1AD9E7-6E2E-468E-A973-C08D35B008A8}" srcOrd="0" destOrd="0" presId="urn:microsoft.com/office/officeart/2008/layout/LinedList"/>
    <dgm:cxn modelId="{630223F8-4303-4153-B0FB-6D042CF77B82}" type="presParOf" srcId="{05F63194-5798-4109-A47D-CC3142559457}" destId="{1A802E8F-CE20-4570-B737-35B212EEEAD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23C73C-A63F-4746-8895-72D9152D9E5A}">
      <dsp:nvSpPr>
        <dsp:cNvPr id="0" name=""/>
        <dsp:cNvSpPr/>
      </dsp:nvSpPr>
      <dsp:spPr>
        <a:xfrm>
          <a:off x="0" y="1748"/>
          <a:ext cx="5175114" cy="0"/>
        </a:xfrm>
        <a:prstGeom prst="line">
          <a:avLst/>
        </a:prstGeom>
        <a:gradFill rotWithShape="0">
          <a:gsLst>
            <a:gs pos="0">
              <a:schemeClr val="accent2">
                <a:hueOff val="0"/>
                <a:satOff val="0"/>
                <a:lumOff val="0"/>
                <a:alphaOff val="0"/>
                <a:tint val="94000"/>
                <a:satMod val="103000"/>
                <a:lumMod val="102000"/>
              </a:schemeClr>
            </a:gs>
            <a:gs pos="50000">
              <a:schemeClr val="accent2">
                <a:hueOff val="0"/>
                <a:satOff val="0"/>
                <a:lumOff val="0"/>
                <a:alphaOff val="0"/>
                <a:shade val="100000"/>
                <a:satMod val="110000"/>
                <a:lumMod val="100000"/>
              </a:schemeClr>
            </a:gs>
            <a:gs pos="100000">
              <a:schemeClr val="accent2">
                <a:hueOff val="0"/>
                <a:satOff val="0"/>
                <a:lumOff val="0"/>
                <a:alphaOff val="0"/>
                <a:shade val="78000"/>
                <a:satMod val="120000"/>
                <a:lumMod val="99000"/>
              </a:schemeClr>
            </a:gs>
          </a:gsLst>
          <a:lin ang="5400000" scaled="0"/>
        </a:gradFill>
        <a:ln w="6350" cap="flat" cmpd="sng" algn="in">
          <a:solidFill>
            <a:schemeClr val="accent2">
              <a:hueOff val="0"/>
              <a:satOff val="0"/>
              <a:lumOff val="0"/>
              <a:alphaOff val="0"/>
            </a:schemeClr>
          </a:solidFill>
          <a:prstDash val="solid"/>
        </a:ln>
        <a:effectLst>
          <a:outerShdw blurRad="57150" dist="19050" dir="5400000" algn="ctr" rotWithShape="0">
            <a:srgbClr val="000000">
              <a:alpha val="35000"/>
            </a:srgbClr>
          </a:outerShdw>
        </a:effectLst>
      </dsp:spPr>
      <dsp:style>
        <a:lnRef idx="1">
          <a:scrgbClr r="0" g="0" b="0"/>
        </a:lnRef>
        <a:fillRef idx="3">
          <a:scrgbClr r="0" g="0" b="0"/>
        </a:fillRef>
        <a:effectRef idx="3">
          <a:scrgbClr r="0" g="0" b="0"/>
        </a:effectRef>
        <a:fontRef idx="minor">
          <a:schemeClr val="lt1"/>
        </a:fontRef>
      </dsp:style>
    </dsp:sp>
    <dsp:sp modelId="{BE66AEB9-8209-40B4-A862-8D1E2CE7916E}">
      <dsp:nvSpPr>
        <dsp:cNvPr id="0" name=""/>
        <dsp:cNvSpPr/>
      </dsp:nvSpPr>
      <dsp:spPr>
        <a:xfrm>
          <a:off x="0" y="1748"/>
          <a:ext cx="5175114" cy="11926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b="1" i="0" kern="1200" dirty="0"/>
            <a:t>MCP Host</a:t>
          </a:r>
          <a:r>
            <a:rPr lang="en-IN" sz="2000" b="0" i="0" kern="1200" dirty="0"/>
            <a:t>: The AI application that coordinates and manages one or multiple MCP clients</a:t>
          </a:r>
          <a:endParaRPr lang="en-US" sz="2000" kern="1200" dirty="0"/>
        </a:p>
      </dsp:txBody>
      <dsp:txXfrm>
        <a:off x="0" y="1748"/>
        <a:ext cx="5175114" cy="1192634"/>
      </dsp:txXfrm>
    </dsp:sp>
    <dsp:sp modelId="{0F0AFAB8-556F-474C-A565-0D3BCDB3BF65}">
      <dsp:nvSpPr>
        <dsp:cNvPr id="0" name=""/>
        <dsp:cNvSpPr/>
      </dsp:nvSpPr>
      <dsp:spPr>
        <a:xfrm>
          <a:off x="0" y="1194382"/>
          <a:ext cx="5175114" cy="0"/>
        </a:xfrm>
        <a:prstGeom prst="line">
          <a:avLst/>
        </a:prstGeom>
        <a:gradFill rotWithShape="0">
          <a:gsLst>
            <a:gs pos="0">
              <a:schemeClr val="accent2">
                <a:hueOff val="0"/>
                <a:satOff val="0"/>
                <a:lumOff val="0"/>
                <a:alphaOff val="0"/>
                <a:tint val="94000"/>
                <a:satMod val="103000"/>
                <a:lumMod val="102000"/>
              </a:schemeClr>
            </a:gs>
            <a:gs pos="50000">
              <a:schemeClr val="accent2">
                <a:hueOff val="0"/>
                <a:satOff val="0"/>
                <a:lumOff val="0"/>
                <a:alphaOff val="0"/>
                <a:shade val="100000"/>
                <a:satMod val="110000"/>
                <a:lumMod val="100000"/>
              </a:schemeClr>
            </a:gs>
            <a:gs pos="100000">
              <a:schemeClr val="accent2">
                <a:hueOff val="0"/>
                <a:satOff val="0"/>
                <a:lumOff val="0"/>
                <a:alphaOff val="0"/>
                <a:shade val="78000"/>
                <a:satMod val="120000"/>
                <a:lumMod val="99000"/>
              </a:schemeClr>
            </a:gs>
          </a:gsLst>
          <a:lin ang="5400000" scaled="0"/>
        </a:gradFill>
        <a:ln w="6350" cap="flat" cmpd="sng" algn="in">
          <a:solidFill>
            <a:schemeClr val="accent2">
              <a:hueOff val="0"/>
              <a:satOff val="0"/>
              <a:lumOff val="0"/>
              <a:alphaOff val="0"/>
            </a:schemeClr>
          </a:solidFill>
          <a:prstDash val="solid"/>
        </a:ln>
        <a:effectLst>
          <a:outerShdw blurRad="57150" dist="19050" dir="5400000" algn="ctr" rotWithShape="0">
            <a:srgbClr val="000000">
              <a:alpha val="35000"/>
            </a:srgbClr>
          </a:outerShdw>
        </a:effectLst>
      </dsp:spPr>
      <dsp:style>
        <a:lnRef idx="1">
          <a:scrgbClr r="0" g="0" b="0"/>
        </a:lnRef>
        <a:fillRef idx="3">
          <a:scrgbClr r="0" g="0" b="0"/>
        </a:fillRef>
        <a:effectRef idx="3">
          <a:scrgbClr r="0" g="0" b="0"/>
        </a:effectRef>
        <a:fontRef idx="minor">
          <a:schemeClr val="lt1"/>
        </a:fontRef>
      </dsp:style>
    </dsp:sp>
    <dsp:sp modelId="{F53A8CE2-F145-448F-95D6-0308121FEA80}">
      <dsp:nvSpPr>
        <dsp:cNvPr id="0" name=""/>
        <dsp:cNvSpPr/>
      </dsp:nvSpPr>
      <dsp:spPr>
        <a:xfrm>
          <a:off x="0" y="1194382"/>
          <a:ext cx="5175114" cy="11926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b="1" i="0" kern="1200" dirty="0"/>
            <a:t>MCP Client</a:t>
          </a:r>
          <a:r>
            <a:rPr lang="en-IN" sz="2000" b="0" i="0" kern="1200" dirty="0"/>
            <a:t>: A component that maintains a connection to an MCP server and obtains context from an MCP server for the MCP host to use</a:t>
          </a:r>
          <a:endParaRPr lang="en-US" sz="2000" kern="1200" dirty="0"/>
        </a:p>
      </dsp:txBody>
      <dsp:txXfrm>
        <a:off x="0" y="1194382"/>
        <a:ext cx="5175114" cy="1192634"/>
      </dsp:txXfrm>
    </dsp:sp>
    <dsp:sp modelId="{666D4859-E737-40F9-B68A-66D596B85B6B}">
      <dsp:nvSpPr>
        <dsp:cNvPr id="0" name=""/>
        <dsp:cNvSpPr/>
      </dsp:nvSpPr>
      <dsp:spPr>
        <a:xfrm>
          <a:off x="0" y="2387017"/>
          <a:ext cx="5175114" cy="0"/>
        </a:xfrm>
        <a:prstGeom prst="line">
          <a:avLst/>
        </a:prstGeom>
        <a:gradFill rotWithShape="0">
          <a:gsLst>
            <a:gs pos="0">
              <a:schemeClr val="accent2">
                <a:hueOff val="0"/>
                <a:satOff val="0"/>
                <a:lumOff val="0"/>
                <a:alphaOff val="0"/>
                <a:tint val="94000"/>
                <a:satMod val="103000"/>
                <a:lumMod val="102000"/>
              </a:schemeClr>
            </a:gs>
            <a:gs pos="50000">
              <a:schemeClr val="accent2">
                <a:hueOff val="0"/>
                <a:satOff val="0"/>
                <a:lumOff val="0"/>
                <a:alphaOff val="0"/>
                <a:shade val="100000"/>
                <a:satMod val="110000"/>
                <a:lumMod val="100000"/>
              </a:schemeClr>
            </a:gs>
            <a:gs pos="100000">
              <a:schemeClr val="accent2">
                <a:hueOff val="0"/>
                <a:satOff val="0"/>
                <a:lumOff val="0"/>
                <a:alphaOff val="0"/>
                <a:shade val="78000"/>
                <a:satMod val="120000"/>
                <a:lumMod val="99000"/>
              </a:schemeClr>
            </a:gs>
          </a:gsLst>
          <a:lin ang="5400000" scaled="0"/>
        </a:gradFill>
        <a:ln w="6350" cap="flat" cmpd="sng" algn="in">
          <a:solidFill>
            <a:schemeClr val="accent2">
              <a:hueOff val="0"/>
              <a:satOff val="0"/>
              <a:lumOff val="0"/>
              <a:alphaOff val="0"/>
            </a:schemeClr>
          </a:solidFill>
          <a:prstDash val="solid"/>
        </a:ln>
        <a:effectLst>
          <a:outerShdw blurRad="57150" dist="19050" dir="5400000" algn="ctr" rotWithShape="0">
            <a:srgbClr val="000000">
              <a:alpha val="35000"/>
            </a:srgbClr>
          </a:outerShdw>
        </a:effectLst>
      </dsp:spPr>
      <dsp:style>
        <a:lnRef idx="1">
          <a:scrgbClr r="0" g="0" b="0"/>
        </a:lnRef>
        <a:fillRef idx="3">
          <a:scrgbClr r="0" g="0" b="0"/>
        </a:fillRef>
        <a:effectRef idx="3">
          <a:scrgbClr r="0" g="0" b="0"/>
        </a:effectRef>
        <a:fontRef idx="minor">
          <a:schemeClr val="lt1"/>
        </a:fontRef>
      </dsp:style>
    </dsp:sp>
    <dsp:sp modelId="{0E1AD9E7-6E2E-468E-A973-C08D35B008A8}">
      <dsp:nvSpPr>
        <dsp:cNvPr id="0" name=""/>
        <dsp:cNvSpPr/>
      </dsp:nvSpPr>
      <dsp:spPr>
        <a:xfrm>
          <a:off x="0" y="2387017"/>
          <a:ext cx="5175114" cy="11926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b="1" i="0" kern="1200"/>
            <a:t>MCP Server</a:t>
          </a:r>
          <a:r>
            <a:rPr lang="en-IN" sz="2000" b="0" i="0" kern="1200"/>
            <a:t>: A program that provides context to MCP clients</a:t>
          </a:r>
          <a:endParaRPr lang="en-US" sz="2000" kern="1200"/>
        </a:p>
      </dsp:txBody>
      <dsp:txXfrm>
        <a:off x="0" y="2387017"/>
        <a:ext cx="5175114" cy="119263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A5C31D-BE92-4E49-BC22-6A472BBE2ABB}" type="datetimeFigureOut">
              <a:rPr lang="en-IN" smtClean="0"/>
              <a:t>24-06-2026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EEF507-DB7C-42BB-BC50-13228B21F6F1}" type="slidenum">
              <a:rPr lang="en-IN" smtClean="0"/>
              <a:t>‹#›</a:t>
            </a:fld>
            <a:endParaRPr lang="en-IN"/>
          </a:p>
        </p:txBody>
      </p:sp>
    </p:spTree>
    <p:extLst>
      <p:ext uri="{BB962C8B-B14F-4D97-AF65-F5344CB8AC3E}">
        <p14:creationId xmlns:p14="http://schemas.microsoft.com/office/powerpoint/2010/main" val="1144823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FEEF507-DB7C-42BB-BC50-13228B21F6F1}" type="slidenum">
              <a:rPr lang="en-IN" smtClean="0"/>
              <a:t>24</a:t>
            </a:fld>
            <a:endParaRPr lang="en-IN"/>
          </a:p>
        </p:txBody>
      </p:sp>
    </p:spTree>
    <p:extLst>
      <p:ext uri="{BB962C8B-B14F-4D97-AF65-F5344CB8AC3E}">
        <p14:creationId xmlns:p14="http://schemas.microsoft.com/office/powerpoint/2010/main" val="9758751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440F599E-355C-4126-8F34-F9D5AB870884}" type="datetimeFigureOut">
              <a:rPr lang="en-IN" smtClean="0"/>
              <a:t>24-06-2026</a:t>
            </a:fld>
            <a:endParaRPr lang="en-IN"/>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IN"/>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3030232F-3F00-4ECD-A573-093F627EBF36}" type="slidenum">
              <a:rPr lang="en-IN" smtClean="0"/>
              <a:t>‹#›</a:t>
            </a:fld>
            <a:endParaRPr lang="en-IN"/>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64216963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0F599E-355C-4126-8F34-F9D5AB870884}" type="datetimeFigureOut">
              <a:rPr lang="en-IN" smtClean="0"/>
              <a:t>24-06-2026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30232F-3F00-4ECD-A573-093F627EBF36}" type="slidenum">
              <a:rPr lang="en-IN" smtClean="0"/>
              <a:t>‹#›</a:t>
            </a:fld>
            <a:endParaRPr lang="en-IN"/>
          </a:p>
        </p:txBody>
      </p:sp>
    </p:spTree>
    <p:extLst>
      <p:ext uri="{BB962C8B-B14F-4D97-AF65-F5344CB8AC3E}">
        <p14:creationId xmlns:p14="http://schemas.microsoft.com/office/powerpoint/2010/main" val="2869171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440F599E-355C-4126-8F34-F9D5AB870884}" type="datetimeFigureOut">
              <a:rPr lang="en-IN" smtClean="0"/>
              <a:t>24-06-2026</a:t>
            </a:fld>
            <a:endParaRPr lang="en-IN"/>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IN"/>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3030232F-3F00-4ECD-A573-093F627EBF36}" type="slidenum">
              <a:rPr lang="en-IN" smtClean="0"/>
              <a:t>‹#›</a:t>
            </a:fld>
            <a:endParaRPr lang="en-IN"/>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224808265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0F599E-355C-4126-8F34-F9D5AB870884}" type="datetimeFigureOut">
              <a:rPr lang="en-IN" smtClean="0"/>
              <a:t>24-06-2026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30232F-3F00-4ECD-A573-093F627EBF36}" type="slidenum">
              <a:rPr lang="en-IN" smtClean="0"/>
              <a:t>‹#›</a:t>
            </a:fld>
            <a:endParaRPr lang="en-IN"/>
          </a:p>
        </p:txBody>
      </p:sp>
    </p:spTree>
    <p:extLst>
      <p:ext uri="{BB962C8B-B14F-4D97-AF65-F5344CB8AC3E}">
        <p14:creationId xmlns:p14="http://schemas.microsoft.com/office/powerpoint/2010/main" val="2611526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0F599E-355C-4126-8F34-F9D5AB870884}" type="datetimeFigureOut">
              <a:rPr lang="en-IN" smtClean="0"/>
              <a:t>24-06-2026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30232F-3F00-4ECD-A573-093F627EBF36}" type="slidenum">
              <a:rPr lang="en-IN" smtClean="0"/>
              <a:t>‹#›</a:t>
            </a:fld>
            <a:endParaRPr lang="en-IN"/>
          </a:p>
        </p:txBody>
      </p:sp>
    </p:spTree>
    <p:extLst>
      <p:ext uri="{BB962C8B-B14F-4D97-AF65-F5344CB8AC3E}">
        <p14:creationId xmlns:p14="http://schemas.microsoft.com/office/powerpoint/2010/main" val="1726613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0F599E-355C-4126-8F34-F9D5AB870884}" type="datetimeFigureOut">
              <a:rPr lang="en-IN" smtClean="0"/>
              <a:t>24-06-2026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30232F-3F00-4ECD-A573-093F627EBF36}" type="slidenum">
              <a:rPr lang="en-IN" smtClean="0"/>
              <a:t>‹#›</a:t>
            </a:fld>
            <a:endParaRPr lang="en-IN"/>
          </a:p>
        </p:txBody>
      </p:sp>
    </p:spTree>
    <p:extLst>
      <p:ext uri="{BB962C8B-B14F-4D97-AF65-F5344CB8AC3E}">
        <p14:creationId xmlns:p14="http://schemas.microsoft.com/office/powerpoint/2010/main" val="1314237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0F599E-355C-4126-8F34-F9D5AB870884}" type="datetimeFigureOut">
              <a:rPr lang="en-IN" smtClean="0"/>
              <a:t>24-06-2026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30232F-3F00-4ECD-A573-093F627EBF36}" type="slidenum">
              <a:rPr lang="en-IN" smtClean="0"/>
              <a:t>‹#›</a:t>
            </a:fld>
            <a:endParaRPr lang="en-IN"/>
          </a:p>
        </p:txBody>
      </p:sp>
    </p:spTree>
    <p:extLst>
      <p:ext uri="{BB962C8B-B14F-4D97-AF65-F5344CB8AC3E}">
        <p14:creationId xmlns:p14="http://schemas.microsoft.com/office/powerpoint/2010/main" val="1321576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440F599E-355C-4126-8F34-F9D5AB870884}" type="datetimeFigureOut">
              <a:rPr lang="en-IN" smtClean="0"/>
              <a:t>24-06-2026</a:t>
            </a:fld>
            <a:endParaRPr lang="en-IN"/>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IN"/>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3030232F-3F00-4ECD-A573-093F627EBF36}" type="slidenum">
              <a:rPr lang="en-IN" smtClean="0"/>
              <a:t>‹#›</a:t>
            </a:fld>
            <a:endParaRPr lang="en-IN"/>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386944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440F599E-355C-4126-8F34-F9D5AB870884}" type="datetimeFigureOut">
              <a:rPr lang="en-IN" smtClean="0"/>
              <a:t>24-06-2026</a:t>
            </a:fld>
            <a:endParaRPr lang="en-IN"/>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IN"/>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3030232F-3F00-4ECD-A573-093F627EBF36}" type="slidenum">
              <a:rPr lang="en-IN" smtClean="0"/>
              <a:t>‹#›</a:t>
            </a:fld>
            <a:endParaRPr lang="en-IN"/>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85212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0F599E-355C-4126-8F34-F9D5AB870884}" type="datetimeFigureOut">
              <a:rPr lang="en-IN" smtClean="0"/>
              <a:t>24-06-2026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30232F-3F00-4ECD-A573-093F627EBF36}" type="slidenum">
              <a:rPr lang="en-IN" smtClean="0"/>
              <a:t>‹#›</a:t>
            </a:fld>
            <a:endParaRPr lang="en-IN"/>
          </a:p>
        </p:txBody>
      </p:sp>
    </p:spTree>
    <p:extLst>
      <p:ext uri="{BB962C8B-B14F-4D97-AF65-F5344CB8AC3E}">
        <p14:creationId xmlns:p14="http://schemas.microsoft.com/office/powerpoint/2010/main" val="3609370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0F599E-355C-4126-8F34-F9D5AB870884}" type="datetimeFigureOut">
              <a:rPr lang="en-IN" smtClean="0"/>
              <a:t>24-06-2026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30232F-3F00-4ECD-A573-093F627EBF36}" type="slidenum">
              <a:rPr lang="en-IN" smtClean="0"/>
              <a:t>‹#›</a:t>
            </a:fld>
            <a:endParaRPr lang="en-IN"/>
          </a:p>
        </p:txBody>
      </p:sp>
    </p:spTree>
    <p:extLst>
      <p:ext uri="{BB962C8B-B14F-4D97-AF65-F5344CB8AC3E}">
        <p14:creationId xmlns:p14="http://schemas.microsoft.com/office/powerpoint/2010/main" val="3590856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440F599E-355C-4126-8F34-F9D5AB870884}" type="datetimeFigureOut">
              <a:rPr lang="en-IN" smtClean="0"/>
              <a:t>24-06-2026</a:t>
            </a:fld>
            <a:endParaRPr lang="en-IN"/>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IN"/>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3030232F-3F00-4ECD-A573-093F627EBF36}" type="slidenum">
              <a:rPr lang="en-IN" smtClean="0"/>
              <a:t>‹#›</a:t>
            </a:fld>
            <a:endParaRPr lang="en-IN"/>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1697326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hyperlink" Target="https://docs.sentry.io/product/sentry-mcp/" TargetMode="External"/><Relationship Id="rId2" Type="http://schemas.openxmlformats.org/officeDocument/2006/relationships/hyperlink" Target="https://www.claude.ai/download" TargetMode="External"/><Relationship Id="rId1" Type="http://schemas.openxmlformats.org/officeDocument/2006/relationships/slideLayout" Target="../slideLayouts/slideLayout4.xml"/><Relationship Id="rId4" Type="http://schemas.openxmlformats.org/officeDocument/2006/relationships/hyperlink" Target="https://github.com/modelcontextprotocol/servers/tree/main/src/filesyste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jsonrpc.org/"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modelcontextprotocol.io/docs/develop/build-server"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0B124-D63E-3D3A-0938-1F5E0DE68731}"/>
              </a:ext>
            </a:extLst>
          </p:cNvPr>
          <p:cNvSpPr>
            <a:spLocks noGrp="1"/>
          </p:cNvSpPr>
          <p:nvPr>
            <p:ph type="ctrTitle"/>
          </p:nvPr>
        </p:nvSpPr>
        <p:spPr/>
        <p:txBody>
          <a:bodyPr/>
          <a:lstStyle/>
          <a:p>
            <a:r>
              <a:rPr lang="en-IN" dirty="0"/>
              <a:t>Model Context Protocol </a:t>
            </a:r>
          </a:p>
        </p:txBody>
      </p:sp>
    </p:spTree>
    <p:extLst>
      <p:ext uri="{BB962C8B-B14F-4D97-AF65-F5344CB8AC3E}">
        <p14:creationId xmlns:p14="http://schemas.microsoft.com/office/powerpoint/2010/main" val="22646395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B46BD-07B6-D749-374C-2A78D0ABE9F7}"/>
              </a:ext>
            </a:extLst>
          </p:cNvPr>
          <p:cNvSpPr>
            <a:spLocks noGrp="1"/>
          </p:cNvSpPr>
          <p:nvPr>
            <p:ph type="title"/>
          </p:nvPr>
        </p:nvSpPr>
        <p:spPr>
          <a:xfrm>
            <a:off x="1371600" y="685800"/>
            <a:ext cx="9601200" cy="1485900"/>
          </a:xfrm>
        </p:spPr>
        <p:txBody>
          <a:bodyPr anchor="t">
            <a:normAutofit/>
          </a:bodyPr>
          <a:lstStyle/>
          <a:p>
            <a:r>
              <a:rPr lang="en-IN" b="1"/>
              <a:t>What is the Model Context Protocol (MCP)?</a:t>
            </a:r>
            <a:endParaRPr lang="en-IN"/>
          </a:p>
        </p:txBody>
      </p:sp>
      <p:sp>
        <p:nvSpPr>
          <p:cNvPr id="3" name="Content Placeholder 2">
            <a:extLst>
              <a:ext uri="{FF2B5EF4-FFF2-40B4-BE49-F238E27FC236}">
                <a16:creationId xmlns:a16="http://schemas.microsoft.com/office/drawing/2014/main" id="{F575F15C-87A3-0511-7CF4-7B9F1A6FA51F}"/>
              </a:ext>
            </a:extLst>
          </p:cNvPr>
          <p:cNvSpPr>
            <a:spLocks noGrp="1"/>
          </p:cNvSpPr>
          <p:nvPr>
            <p:ph sz="half" idx="1"/>
          </p:nvPr>
        </p:nvSpPr>
        <p:spPr>
          <a:xfrm>
            <a:off x="1371600" y="2285999"/>
            <a:ext cx="4447786" cy="3581401"/>
          </a:xfrm>
        </p:spPr>
        <p:txBody>
          <a:bodyPr>
            <a:normAutofit/>
          </a:bodyPr>
          <a:lstStyle/>
          <a:p>
            <a:r>
              <a:rPr lang="en-IN" dirty="0"/>
              <a:t>MCP is an open-source standard for connecting AI applications to external systems.</a:t>
            </a:r>
          </a:p>
          <a:p>
            <a:r>
              <a:rPr lang="en-IN" dirty="0"/>
              <a:t>Think of MCP like a USB-C port for AI applications. Just as USB-C provides a standardized way to connect electronic devices, MCP provides a standardized way to connect AI applications to external systems</a:t>
            </a:r>
          </a:p>
          <a:p>
            <a:endParaRPr lang="en-IN" dirty="0"/>
          </a:p>
        </p:txBody>
      </p:sp>
      <p:pic>
        <p:nvPicPr>
          <p:cNvPr id="12" name="Content Placeholder 4">
            <a:extLst>
              <a:ext uri="{FF2B5EF4-FFF2-40B4-BE49-F238E27FC236}">
                <a16:creationId xmlns:a16="http://schemas.microsoft.com/office/drawing/2014/main" id="{2076AF7F-DB94-1F12-4524-633635AD9B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5403" y="3209381"/>
            <a:ext cx="4447786" cy="1734636"/>
          </a:xfrm>
          <a:prstGeom prst="rect">
            <a:avLst/>
          </a:prstGeom>
          <a:noFill/>
        </p:spPr>
      </p:pic>
    </p:spTree>
    <p:extLst>
      <p:ext uri="{BB962C8B-B14F-4D97-AF65-F5344CB8AC3E}">
        <p14:creationId xmlns:p14="http://schemas.microsoft.com/office/powerpoint/2010/main" val="1552625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EA1FB057-619D-1B5B-4155-29F42A196C77}"/>
              </a:ext>
            </a:extLst>
          </p:cNvPr>
          <p:cNvSpPr>
            <a:spLocks noGrp="1"/>
          </p:cNvSpPr>
          <p:nvPr>
            <p:ph type="title"/>
          </p:nvPr>
        </p:nvSpPr>
        <p:spPr>
          <a:xfrm>
            <a:off x="865762" y="247650"/>
            <a:ext cx="9601200" cy="1485900"/>
          </a:xfrm>
        </p:spPr>
        <p:txBody>
          <a:bodyPr/>
          <a:lstStyle/>
          <a:p>
            <a:endParaRPr lang="en-US" dirty="0"/>
          </a:p>
        </p:txBody>
      </p:sp>
      <p:sp>
        <p:nvSpPr>
          <p:cNvPr id="8" name="TextBox 7">
            <a:extLst>
              <a:ext uri="{FF2B5EF4-FFF2-40B4-BE49-F238E27FC236}">
                <a16:creationId xmlns:a16="http://schemas.microsoft.com/office/drawing/2014/main" id="{1664EFE7-C60D-B128-88A5-C628E378D8EB}"/>
              </a:ext>
            </a:extLst>
          </p:cNvPr>
          <p:cNvSpPr txBox="1"/>
          <p:nvPr/>
        </p:nvSpPr>
        <p:spPr>
          <a:xfrm>
            <a:off x="943583" y="1906620"/>
            <a:ext cx="11089532" cy="3581401"/>
          </a:xfrm>
          <a:prstGeom prst="rect">
            <a:avLst/>
          </a:prstGeom>
        </p:spPr>
        <p:txBody>
          <a:bodyPr vert="horz" lIns="91440" tIns="45720" rIns="91440" bIns="45720" rtlCol="0">
            <a:noAutofit/>
          </a:bodyPr>
          <a:lstStyle/>
          <a:p>
            <a:pPr marL="384048" indent="-384048" defTabSz="914400">
              <a:lnSpc>
                <a:spcPct val="94000"/>
              </a:lnSpc>
              <a:spcBef>
                <a:spcPts val="1000"/>
              </a:spcBef>
              <a:spcAft>
                <a:spcPts val="200"/>
              </a:spcAft>
              <a:buFont typeface="Franklin Gothic Book" panose="020B0503020102020204" pitchFamily="34" charset="0"/>
              <a:buChar char="■"/>
            </a:pPr>
            <a:r>
              <a:rPr lang="en-US" sz="1400" b="1" dirty="0">
                <a:solidFill>
                  <a:schemeClr val="tx2"/>
                </a:solidFill>
              </a:rPr>
              <a:t>The Problem</a:t>
            </a:r>
          </a:p>
          <a:p>
            <a:pPr marL="384048" indent="-384048" defTabSz="914400">
              <a:lnSpc>
                <a:spcPct val="94000"/>
              </a:lnSpc>
              <a:spcBef>
                <a:spcPts val="1000"/>
              </a:spcBef>
              <a:spcAft>
                <a:spcPts val="200"/>
              </a:spcAft>
              <a:buFont typeface="Franklin Gothic Book" panose="020B0503020102020204" pitchFamily="34" charset="0"/>
              <a:buChar char="■"/>
            </a:pPr>
            <a:r>
              <a:rPr lang="en-US" sz="1400" dirty="0">
                <a:solidFill>
                  <a:schemeClr val="tx2"/>
                </a:solidFill>
              </a:rPr>
              <a:t>Without MCP, every AI client—whether it's Claude Code, GitHub Copilot, Cursor, Claude Desktop, or a custom-built agent—needs a custom integration for every tool it wants to access. Connecting to Slack, GitHub, PostgreSQL, Google Drive, and other services requires separate code, creating a fragmented ecosystem filled with redundant integrations and ongoing maintenance overhead.</a:t>
            </a:r>
          </a:p>
          <a:p>
            <a:pPr marL="384048" indent="-384048" defTabSz="914400">
              <a:lnSpc>
                <a:spcPct val="94000"/>
              </a:lnSpc>
              <a:spcBef>
                <a:spcPts val="1000"/>
              </a:spcBef>
              <a:spcAft>
                <a:spcPts val="200"/>
              </a:spcAft>
              <a:buFont typeface="Franklin Gothic Book" panose="020B0503020102020204" pitchFamily="34" charset="0"/>
              <a:buChar char="■"/>
            </a:pPr>
            <a:r>
              <a:rPr lang="en-US" sz="1400" b="1" dirty="0">
                <a:solidFill>
                  <a:schemeClr val="tx2"/>
                </a:solidFill>
              </a:rPr>
              <a:t>The MCP Solution</a:t>
            </a:r>
          </a:p>
          <a:p>
            <a:pPr marL="384048" indent="-384048" defTabSz="914400">
              <a:lnSpc>
                <a:spcPct val="94000"/>
              </a:lnSpc>
              <a:spcBef>
                <a:spcPts val="1000"/>
              </a:spcBef>
              <a:spcAft>
                <a:spcPts val="200"/>
              </a:spcAft>
              <a:buFont typeface="Franklin Gothic Book" panose="020B0503020102020204" pitchFamily="34" charset="0"/>
              <a:buChar char="■"/>
            </a:pPr>
            <a:r>
              <a:rPr lang="en-US" sz="1400" b="1" dirty="0">
                <a:solidFill>
                  <a:schemeClr val="tx2"/>
                </a:solidFill>
              </a:rPr>
              <a:t>Build Once, Expose to All</a:t>
            </a:r>
            <a:endParaRPr lang="en-US" sz="1400" dirty="0">
              <a:solidFill>
                <a:schemeClr val="tx2"/>
              </a:solidFill>
            </a:endParaRPr>
          </a:p>
          <a:p>
            <a:pPr marL="384048" indent="-384048" defTabSz="914400">
              <a:lnSpc>
                <a:spcPct val="94000"/>
              </a:lnSpc>
              <a:spcBef>
                <a:spcPts val="1000"/>
              </a:spcBef>
              <a:spcAft>
                <a:spcPts val="200"/>
              </a:spcAft>
              <a:buFont typeface="Franklin Gothic Book" panose="020B0503020102020204" pitchFamily="34" charset="0"/>
              <a:buChar char="■"/>
            </a:pPr>
            <a:r>
              <a:rPr lang="en-US" sz="1400" dirty="0">
                <a:solidFill>
                  <a:schemeClr val="tx2"/>
                </a:solidFill>
              </a:rPr>
              <a:t>Each tool simply exposes a standardized MCP server. Instead of building integrations for every AI application individually, tool providers implement MCP once and make their capabilities available to the entire ecosystem.</a:t>
            </a:r>
          </a:p>
          <a:p>
            <a:pPr marL="384048" indent="-384048" defTabSz="914400">
              <a:lnSpc>
                <a:spcPct val="94000"/>
              </a:lnSpc>
              <a:spcBef>
                <a:spcPts val="1000"/>
              </a:spcBef>
              <a:spcAft>
                <a:spcPts val="200"/>
              </a:spcAft>
              <a:buFont typeface="Franklin Gothic Book" panose="020B0503020102020204" pitchFamily="34" charset="0"/>
              <a:buChar char="■"/>
            </a:pPr>
            <a:r>
              <a:rPr lang="en-US" sz="1400" b="1" dirty="0">
                <a:solidFill>
                  <a:schemeClr val="tx2"/>
                </a:solidFill>
              </a:rPr>
              <a:t>Plug-and-Play Connectivity</a:t>
            </a:r>
            <a:endParaRPr lang="en-US" sz="1400" dirty="0">
              <a:solidFill>
                <a:schemeClr val="tx2"/>
              </a:solidFill>
            </a:endParaRPr>
          </a:p>
          <a:p>
            <a:pPr marL="384048" indent="-384048" defTabSz="914400">
              <a:lnSpc>
                <a:spcPct val="94000"/>
              </a:lnSpc>
              <a:spcBef>
                <a:spcPts val="1000"/>
              </a:spcBef>
              <a:spcAft>
                <a:spcPts val="200"/>
              </a:spcAft>
              <a:buFont typeface="Franklin Gothic Book" panose="020B0503020102020204" pitchFamily="34" charset="0"/>
              <a:buChar char="■"/>
            </a:pPr>
            <a:r>
              <a:rPr lang="en-US" sz="1400" dirty="0">
                <a:solidFill>
                  <a:schemeClr val="tx2"/>
                </a:solidFill>
              </a:rPr>
              <a:t>Any MCP-compatible AI client can instantly connect to any MCP-compatible server. Whether it's Claude Code, GitHub Copilot, Cursor, Claude Desktop, or a custom AI agent, they all speak the same protocol and can access the same tools without custom integrations.</a:t>
            </a:r>
          </a:p>
          <a:p>
            <a:pPr marL="384048" indent="-384048" defTabSz="914400">
              <a:lnSpc>
                <a:spcPct val="94000"/>
              </a:lnSpc>
              <a:spcBef>
                <a:spcPts val="1000"/>
              </a:spcBef>
              <a:spcAft>
                <a:spcPts val="200"/>
              </a:spcAft>
              <a:buFont typeface="Franklin Gothic Book" panose="020B0503020102020204" pitchFamily="34" charset="0"/>
              <a:buChar char="■"/>
            </a:pPr>
            <a:r>
              <a:rPr lang="en-US" sz="1400" b="1" dirty="0">
                <a:solidFill>
                  <a:schemeClr val="tx2"/>
                </a:solidFill>
              </a:rPr>
              <a:t>Why It Matters</a:t>
            </a:r>
          </a:p>
          <a:p>
            <a:pPr marL="384048" indent="-384048" defTabSz="914400">
              <a:lnSpc>
                <a:spcPct val="94000"/>
              </a:lnSpc>
              <a:spcBef>
                <a:spcPts val="1000"/>
              </a:spcBef>
              <a:spcAft>
                <a:spcPts val="200"/>
              </a:spcAft>
              <a:buFont typeface="Franklin Gothic Book" panose="020B0503020102020204" pitchFamily="34" charset="0"/>
              <a:buChar char="■"/>
            </a:pPr>
            <a:r>
              <a:rPr lang="en-US" sz="1400" dirty="0">
                <a:solidFill>
                  <a:schemeClr val="tx2"/>
                </a:solidFill>
              </a:rPr>
              <a:t>Instead of managing dozens of one-off connections, AI clients only need to understand one standard: MCP. This enables secure, scalable, and interoperable access to tools, databases, and services across the ecosystem.</a:t>
            </a:r>
          </a:p>
          <a:p>
            <a:pPr marL="384048" indent="-384048" defTabSz="914400">
              <a:lnSpc>
                <a:spcPct val="94000"/>
              </a:lnSpc>
              <a:spcBef>
                <a:spcPts val="1000"/>
              </a:spcBef>
              <a:spcAft>
                <a:spcPts val="200"/>
              </a:spcAft>
              <a:buFont typeface="Franklin Gothic Book" panose="020B0503020102020204" pitchFamily="34" charset="0"/>
              <a:buChar char="■"/>
            </a:pPr>
            <a:r>
              <a:rPr lang="en-US" sz="1400" b="1" dirty="0">
                <a:solidFill>
                  <a:schemeClr val="tx2"/>
                </a:solidFill>
              </a:rPr>
              <a:t>MCP is the USB-C for AI: one standard connection that allows any compatible AI client to work with any compatible tool.</a:t>
            </a:r>
            <a:endParaRPr lang="en-US" sz="1400" dirty="0">
              <a:solidFill>
                <a:schemeClr val="tx2"/>
              </a:solidFill>
            </a:endParaRPr>
          </a:p>
        </p:txBody>
      </p:sp>
    </p:spTree>
    <p:extLst>
      <p:ext uri="{BB962C8B-B14F-4D97-AF65-F5344CB8AC3E}">
        <p14:creationId xmlns:p14="http://schemas.microsoft.com/office/powerpoint/2010/main" val="2206999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E511F-AF28-77D1-78BD-2B78AC91A36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3DFA8FC-29AF-ACFA-C03D-51339159E776}"/>
              </a:ext>
            </a:extLst>
          </p:cNvPr>
          <p:cNvSpPr>
            <a:spLocks noGrp="1"/>
          </p:cNvSpPr>
          <p:nvPr>
            <p:ph type="title"/>
          </p:nvPr>
        </p:nvSpPr>
        <p:spPr>
          <a:xfrm>
            <a:off x="1371600" y="685800"/>
            <a:ext cx="9601200" cy="1485900"/>
          </a:xfrm>
        </p:spPr>
        <p:txBody>
          <a:bodyPr anchor="t">
            <a:normAutofit/>
          </a:bodyPr>
          <a:lstStyle/>
          <a:p>
            <a:r>
              <a:rPr lang="en-IN" b="1"/>
              <a:t> A Side-by-Side Comparison</a:t>
            </a:r>
          </a:p>
        </p:txBody>
      </p:sp>
      <p:sp>
        <p:nvSpPr>
          <p:cNvPr id="8" name="TextBox 7">
            <a:extLst>
              <a:ext uri="{FF2B5EF4-FFF2-40B4-BE49-F238E27FC236}">
                <a16:creationId xmlns:a16="http://schemas.microsoft.com/office/drawing/2014/main" id="{8DA156EB-5AEB-8E7C-200F-EAB446C9CA32}"/>
              </a:ext>
            </a:extLst>
          </p:cNvPr>
          <p:cNvSpPr txBox="1"/>
          <p:nvPr/>
        </p:nvSpPr>
        <p:spPr>
          <a:xfrm>
            <a:off x="838200" y="1929384"/>
            <a:ext cx="10515600" cy="425196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endParaRPr lang="en-US" sz="1500" dirty="0"/>
          </a:p>
        </p:txBody>
      </p:sp>
      <p:graphicFrame>
        <p:nvGraphicFramePr>
          <p:cNvPr id="2" name="Table 1">
            <a:extLst>
              <a:ext uri="{FF2B5EF4-FFF2-40B4-BE49-F238E27FC236}">
                <a16:creationId xmlns:a16="http://schemas.microsoft.com/office/drawing/2014/main" id="{5A5ADE91-EA62-11D3-73B8-078B29AD535C}"/>
              </a:ext>
            </a:extLst>
          </p:cNvPr>
          <p:cNvGraphicFramePr>
            <a:graphicFrameLocks noGrp="1"/>
          </p:cNvGraphicFramePr>
          <p:nvPr>
            <p:extLst>
              <p:ext uri="{D42A27DB-BD31-4B8C-83A1-F6EECF244321}">
                <p14:modId xmlns:p14="http://schemas.microsoft.com/office/powerpoint/2010/main" val="4161167059"/>
              </p:ext>
            </p:extLst>
          </p:nvPr>
        </p:nvGraphicFramePr>
        <p:xfrm>
          <a:off x="1371600" y="2442807"/>
          <a:ext cx="9601201" cy="3267789"/>
        </p:xfrm>
        <a:graphic>
          <a:graphicData uri="http://schemas.openxmlformats.org/drawingml/2006/table">
            <a:tbl>
              <a:tblPr/>
              <a:tblGrid>
                <a:gridCol w="2784378">
                  <a:extLst>
                    <a:ext uri="{9D8B030D-6E8A-4147-A177-3AD203B41FA5}">
                      <a16:colId xmlns:a16="http://schemas.microsoft.com/office/drawing/2014/main" val="3887632007"/>
                    </a:ext>
                  </a:extLst>
                </a:gridCol>
                <a:gridCol w="3355316">
                  <a:extLst>
                    <a:ext uri="{9D8B030D-6E8A-4147-A177-3AD203B41FA5}">
                      <a16:colId xmlns:a16="http://schemas.microsoft.com/office/drawing/2014/main" val="1984153738"/>
                    </a:ext>
                  </a:extLst>
                </a:gridCol>
                <a:gridCol w="3461507">
                  <a:extLst>
                    <a:ext uri="{9D8B030D-6E8A-4147-A177-3AD203B41FA5}">
                      <a16:colId xmlns:a16="http://schemas.microsoft.com/office/drawing/2014/main" val="1897394394"/>
                    </a:ext>
                  </a:extLst>
                </a:gridCol>
              </a:tblGrid>
              <a:tr h="443486">
                <a:tc>
                  <a:txBody>
                    <a:bodyPr/>
                    <a:lstStyle/>
                    <a:p>
                      <a:pPr>
                        <a:buNone/>
                      </a:pPr>
                      <a:r>
                        <a:rPr lang="en-IN" sz="1700" b="1">
                          <a:effectLst/>
                          <a:latin typeface="Google Sans Text"/>
                        </a:rPr>
                        <a:t>Feature</a:t>
                      </a:r>
                      <a:endParaRPr lang="en-IN" sz="1700">
                        <a:effectLst/>
                        <a:latin typeface="Google Sans Text"/>
                      </a:endParaRPr>
                    </a:p>
                  </a:txBody>
                  <a:tcPr marL="109412" marR="109412" marT="72942" marB="7294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buNone/>
                      </a:pPr>
                      <a:r>
                        <a:rPr lang="en-IN" sz="1700" b="1">
                          <a:effectLst/>
                          <a:latin typeface="Google Sans Text"/>
                        </a:rPr>
                        <a:t>The Web Ecosystem</a:t>
                      </a:r>
                      <a:endParaRPr lang="en-IN" sz="1700">
                        <a:effectLst/>
                        <a:latin typeface="Google Sans Text"/>
                      </a:endParaRPr>
                    </a:p>
                  </a:txBody>
                  <a:tcPr marL="109412" marR="109412" marT="72942" marB="7294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buNone/>
                      </a:pPr>
                      <a:r>
                        <a:rPr lang="en-IN" sz="1700" b="1">
                          <a:effectLst/>
                          <a:latin typeface="Google Sans Text"/>
                        </a:rPr>
                        <a:t>The AI Ecosystem</a:t>
                      </a:r>
                      <a:endParaRPr lang="en-IN" sz="1700">
                        <a:effectLst/>
                        <a:latin typeface="Google Sans Text"/>
                      </a:endParaRPr>
                    </a:p>
                  </a:txBody>
                  <a:tcPr marL="109412" marR="109412" marT="72942" marB="7294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371079160"/>
                  </a:ext>
                </a:extLst>
              </a:tr>
              <a:tr h="443486">
                <a:tc>
                  <a:txBody>
                    <a:bodyPr/>
                    <a:lstStyle/>
                    <a:p>
                      <a:pPr>
                        <a:buNone/>
                      </a:pPr>
                      <a:r>
                        <a:rPr lang="en-IN" sz="1700" b="1">
                          <a:effectLst/>
                          <a:latin typeface="Google Sans Text"/>
                        </a:rPr>
                        <a:t>The Standard</a:t>
                      </a:r>
                      <a:endParaRPr lang="en-IN" sz="1700">
                        <a:effectLst/>
                        <a:latin typeface="Google Sans Text"/>
                      </a:endParaRPr>
                    </a:p>
                  </a:txBody>
                  <a:tcPr marL="109412" marR="109412" marT="72942" marB="7294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buNone/>
                      </a:pPr>
                      <a:r>
                        <a:rPr lang="en-IN" sz="1700" b="1">
                          <a:effectLst/>
                          <a:latin typeface="Google Sans Text"/>
                        </a:rPr>
                        <a:t>REST (HTTP / JSON)</a:t>
                      </a:r>
                      <a:endParaRPr lang="en-IN" sz="1700">
                        <a:effectLst/>
                        <a:latin typeface="Google Sans Text"/>
                      </a:endParaRPr>
                    </a:p>
                  </a:txBody>
                  <a:tcPr marL="109412" marR="109412" marT="72942" marB="7294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buNone/>
                      </a:pPr>
                      <a:r>
                        <a:rPr lang="en-IN" sz="1700" b="1">
                          <a:effectLst/>
                          <a:latin typeface="Google Sans Text"/>
                        </a:rPr>
                        <a:t>MCP (Model Context Protocol)</a:t>
                      </a:r>
                      <a:endParaRPr lang="en-IN" sz="1700">
                        <a:effectLst/>
                        <a:latin typeface="Google Sans Text"/>
                      </a:endParaRPr>
                    </a:p>
                  </a:txBody>
                  <a:tcPr marL="109412" marR="109412" marT="72942" marB="7294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130065097"/>
                  </a:ext>
                </a:extLst>
              </a:tr>
              <a:tr h="968665">
                <a:tc>
                  <a:txBody>
                    <a:bodyPr/>
                    <a:lstStyle/>
                    <a:p>
                      <a:pPr>
                        <a:buNone/>
                      </a:pPr>
                      <a:r>
                        <a:rPr lang="en-IN" sz="1700" b="1">
                          <a:effectLst/>
                          <a:latin typeface="Google Sans Text"/>
                        </a:rPr>
                        <a:t>The Provider</a:t>
                      </a:r>
                      <a:endParaRPr lang="en-IN" sz="1700">
                        <a:effectLst/>
                        <a:latin typeface="Google Sans Text"/>
                      </a:endParaRPr>
                    </a:p>
                  </a:txBody>
                  <a:tcPr marL="109412" marR="109412" marT="72942" marB="7294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buNone/>
                      </a:pPr>
                      <a:r>
                        <a:rPr lang="en-IN" sz="1700">
                          <a:effectLst/>
                          <a:latin typeface="Google Sans Text"/>
                        </a:rPr>
                        <a:t>Backend API Server</a:t>
                      </a:r>
                    </a:p>
                  </a:txBody>
                  <a:tcPr marL="109412" marR="109412" marT="72942" marB="7294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buNone/>
                      </a:pPr>
                      <a:r>
                        <a:rPr lang="en-IN" sz="1700">
                          <a:effectLst/>
                          <a:latin typeface="Google Sans Text"/>
                        </a:rPr>
                        <a:t>MCP Server (e.g., GitHub MCP Server, Google calendar Mcp Server)</a:t>
                      </a:r>
                    </a:p>
                  </a:txBody>
                  <a:tcPr marL="109412" marR="109412" marT="72942" marB="7294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340093859"/>
                  </a:ext>
                </a:extLst>
              </a:tr>
              <a:tr h="706076">
                <a:tc>
                  <a:txBody>
                    <a:bodyPr/>
                    <a:lstStyle/>
                    <a:p>
                      <a:pPr>
                        <a:buNone/>
                      </a:pPr>
                      <a:r>
                        <a:rPr lang="en-IN" sz="1700" b="1">
                          <a:effectLst/>
                          <a:latin typeface="Google Sans Text"/>
                        </a:rPr>
                        <a:t>The Consumers</a:t>
                      </a:r>
                      <a:endParaRPr lang="en-IN" sz="1700">
                        <a:effectLst/>
                        <a:latin typeface="Google Sans Text"/>
                      </a:endParaRPr>
                    </a:p>
                  </a:txBody>
                  <a:tcPr marL="109412" marR="109412" marT="72942" marB="7294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buNone/>
                      </a:pPr>
                      <a:r>
                        <a:rPr lang="en-IN" sz="1700">
                          <a:effectLst/>
                          <a:latin typeface="Google Sans Text"/>
                        </a:rPr>
                        <a:t>Web App, iOS App, Android App</a:t>
                      </a:r>
                    </a:p>
                  </a:txBody>
                  <a:tcPr marL="109412" marR="109412" marT="72942" marB="7294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buNone/>
                      </a:pPr>
                      <a:r>
                        <a:rPr lang="en-IN" sz="1700">
                          <a:effectLst/>
                          <a:latin typeface="Google Sans Text"/>
                        </a:rPr>
                        <a:t>Claude Desktop, LibreChat, Custom Agents</a:t>
                      </a:r>
                    </a:p>
                  </a:txBody>
                  <a:tcPr marL="109412" marR="109412" marT="72942" marB="7294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4131724348"/>
                  </a:ext>
                </a:extLst>
              </a:tr>
              <a:tr h="706076">
                <a:tc>
                  <a:txBody>
                    <a:bodyPr/>
                    <a:lstStyle/>
                    <a:p>
                      <a:pPr>
                        <a:buNone/>
                      </a:pPr>
                      <a:r>
                        <a:rPr lang="en-IN" sz="1700" b="1">
                          <a:effectLst/>
                          <a:latin typeface="Google Sans Text"/>
                        </a:rPr>
                        <a:t>The Benefit</a:t>
                      </a:r>
                      <a:endParaRPr lang="en-IN" sz="1700">
                        <a:effectLst/>
                        <a:latin typeface="Google Sans Text"/>
                      </a:endParaRPr>
                    </a:p>
                  </a:txBody>
                  <a:tcPr marL="109412" marR="109412" marT="72942" marB="7294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buNone/>
                      </a:pPr>
                      <a:r>
                        <a:rPr lang="en-IN" sz="1700">
                          <a:effectLst/>
                          <a:latin typeface="Google Sans Text"/>
                        </a:rPr>
                        <a:t>Frontends change, but the API stays the same.</a:t>
                      </a:r>
                    </a:p>
                  </a:txBody>
                  <a:tcPr marL="109412" marR="109412" marT="72942" marB="7294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buNone/>
                      </a:pPr>
                      <a:r>
                        <a:rPr lang="en-IN" sz="1700">
                          <a:effectLst/>
                          <a:latin typeface="Google Sans Text"/>
                        </a:rPr>
                        <a:t>AI models change, but the data source stays the same.</a:t>
                      </a:r>
                    </a:p>
                  </a:txBody>
                  <a:tcPr marL="109412" marR="109412" marT="72942" marB="7294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541757125"/>
                  </a:ext>
                </a:extLst>
              </a:tr>
            </a:tbl>
          </a:graphicData>
        </a:graphic>
      </p:graphicFrame>
    </p:spTree>
    <p:extLst>
      <p:ext uri="{BB962C8B-B14F-4D97-AF65-F5344CB8AC3E}">
        <p14:creationId xmlns:p14="http://schemas.microsoft.com/office/powerpoint/2010/main" val="3657662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DD692-6087-B4A8-1942-13B0F2BF18D6}"/>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A51971CB-5D03-7094-3579-86E26447A608}"/>
              </a:ext>
            </a:extLst>
          </p:cNvPr>
          <p:cNvSpPr>
            <a:spLocks noGrp="1"/>
          </p:cNvSpPr>
          <p:nvPr>
            <p:ph type="title"/>
          </p:nvPr>
        </p:nvSpPr>
        <p:spPr>
          <a:xfrm>
            <a:off x="838200" y="593217"/>
            <a:ext cx="9601200" cy="1485900"/>
          </a:xfrm>
        </p:spPr>
        <p:txBody>
          <a:bodyPr anchor="t">
            <a:normAutofit/>
          </a:bodyPr>
          <a:lstStyle/>
          <a:p>
            <a:r>
              <a:rPr lang="en-IN" b="1" dirty="0"/>
              <a:t>MCP Architecture</a:t>
            </a:r>
            <a:endParaRPr lang="en-IN" dirty="0"/>
          </a:p>
        </p:txBody>
      </p:sp>
      <p:sp>
        <p:nvSpPr>
          <p:cNvPr id="8" name="TextBox 7">
            <a:extLst>
              <a:ext uri="{FF2B5EF4-FFF2-40B4-BE49-F238E27FC236}">
                <a16:creationId xmlns:a16="http://schemas.microsoft.com/office/drawing/2014/main" id="{FCC887E1-9B7E-1DB4-B42D-868D4F61C6F9}"/>
              </a:ext>
            </a:extLst>
          </p:cNvPr>
          <p:cNvSpPr txBox="1"/>
          <p:nvPr/>
        </p:nvSpPr>
        <p:spPr>
          <a:xfrm>
            <a:off x="838200" y="1929384"/>
            <a:ext cx="10515600" cy="425196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endParaRPr lang="en-US" sz="1500" dirty="0"/>
          </a:p>
        </p:txBody>
      </p:sp>
      <p:graphicFrame>
        <p:nvGraphicFramePr>
          <p:cNvPr id="25" name="TextBox 4">
            <a:extLst>
              <a:ext uri="{FF2B5EF4-FFF2-40B4-BE49-F238E27FC236}">
                <a16:creationId xmlns:a16="http://schemas.microsoft.com/office/drawing/2014/main" id="{A7181605-D322-DBDA-F20F-964F18CB0472}"/>
              </a:ext>
            </a:extLst>
          </p:cNvPr>
          <p:cNvGraphicFramePr/>
          <p:nvPr>
            <p:extLst>
              <p:ext uri="{D42A27DB-BD31-4B8C-83A1-F6EECF244321}">
                <p14:modId xmlns:p14="http://schemas.microsoft.com/office/powerpoint/2010/main" val="1919361211"/>
              </p:ext>
            </p:extLst>
          </p:nvPr>
        </p:nvGraphicFramePr>
        <p:xfrm>
          <a:off x="838200" y="2228850"/>
          <a:ext cx="5175115" cy="3581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8" name="Content Placeholder 4">
            <a:extLst>
              <a:ext uri="{FF2B5EF4-FFF2-40B4-BE49-F238E27FC236}">
                <a16:creationId xmlns:a16="http://schemas.microsoft.com/office/drawing/2014/main" id="{364CE7BE-1BC9-38BE-AFE4-A7677EE51CCA}"/>
              </a:ext>
            </a:extLst>
          </p:cNvPr>
          <p:cNvPicPr>
            <a:picLocks noGrp="1" noChangeAspect="1"/>
          </p:cNvPicPr>
          <p:nvPr>
            <p:ph idx="1"/>
          </p:nvPr>
        </p:nvPicPr>
        <p:blipFill>
          <a:blip r:embed="rId7"/>
          <a:stretch>
            <a:fillRect/>
          </a:stretch>
        </p:blipFill>
        <p:spPr>
          <a:xfrm>
            <a:off x="6267046" y="1934325"/>
            <a:ext cx="5649338" cy="3875925"/>
          </a:xfrm>
          <a:prstGeom prst="rect">
            <a:avLst/>
          </a:prstGeom>
        </p:spPr>
      </p:pic>
    </p:spTree>
    <p:extLst>
      <p:ext uri="{BB962C8B-B14F-4D97-AF65-F5344CB8AC3E}">
        <p14:creationId xmlns:p14="http://schemas.microsoft.com/office/powerpoint/2010/main" val="2698766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9F7D8-E876-D453-BCD9-AEE525D7616B}"/>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4A5302B9-F7D3-F1EC-3A39-4AFA5AB3A42E}"/>
              </a:ext>
            </a:extLst>
          </p:cNvPr>
          <p:cNvSpPr>
            <a:spLocks noGrp="1"/>
          </p:cNvSpPr>
          <p:nvPr>
            <p:ph type="title"/>
          </p:nvPr>
        </p:nvSpPr>
        <p:spPr>
          <a:xfrm>
            <a:off x="1147863" y="443484"/>
            <a:ext cx="9601200" cy="1485900"/>
          </a:xfrm>
        </p:spPr>
        <p:txBody>
          <a:bodyPr vert="horz" lIns="91440" tIns="45720" rIns="91440" bIns="45720" rtlCol="0" anchor="t">
            <a:normAutofit/>
          </a:bodyPr>
          <a:lstStyle/>
          <a:p>
            <a:r>
              <a:rPr lang="en-US" b="1" kern="1200" baseline="0" dirty="0">
                <a:latin typeface="+mj-lt"/>
                <a:ea typeface="+mj-ea"/>
                <a:cs typeface="+mj-cs"/>
              </a:rPr>
              <a:t>MCP Architecture</a:t>
            </a:r>
            <a:endParaRPr lang="en-US" kern="1200" baseline="0" dirty="0">
              <a:latin typeface="+mj-lt"/>
              <a:ea typeface="+mj-ea"/>
              <a:cs typeface="+mj-cs"/>
            </a:endParaRPr>
          </a:p>
        </p:txBody>
      </p:sp>
      <p:sp>
        <p:nvSpPr>
          <p:cNvPr id="5" name="TextBox 4">
            <a:extLst>
              <a:ext uri="{FF2B5EF4-FFF2-40B4-BE49-F238E27FC236}">
                <a16:creationId xmlns:a16="http://schemas.microsoft.com/office/drawing/2014/main" id="{70D49B2F-88DB-359B-6BD0-EC2C79C2EC1B}"/>
              </a:ext>
            </a:extLst>
          </p:cNvPr>
          <p:cNvSpPr txBox="1"/>
          <p:nvPr/>
        </p:nvSpPr>
        <p:spPr>
          <a:xfrm>
            <a:off x="1147863" y="1638299"/>
            <a:ext cx="10651787" cy="3581401"/>
          </a:xfrm>
          <a:prstGeom prst="rect">
            <a:avLst/>
          </a:prstGeom>
        </p:spPr>
        <p:txBody>
          <a:bodyPr vert="horz" lIns="91440" tIns="45720" rIns="91440" bIns="45720" rtlCol="0">
            <a:noAutofit/>
          </a:bodyPr>
          <a:lstStyle/>
          <a:p>
            <a:pPr marL="384048" indent="-384048" defTabSz="914400">
              <a:lnSpc>
                <a:spcPct val="94000"/>
              </a:lnSpc>
              <a:spcBef>
                <a:spcPts val="1000"/>
              </a:spcBef>
              <a:spcAft>
                <a:spcPts val="200"/>
              </a:spcAft>
              <a:buFont typeface="Franklin Gothic Book" panose="020B0503020102020204" pitchFamily="34" charset="0"/>
              <a:buChar char="■"/>
            </a:pPr>
            <a:endParaRPr lang="en-US" sz="1400" dirty="0">
              <a:solidFill>
                <a:schemeClr val="tx2"/>
              </a:solidFill>
            </a:endParaRPr>
          </a:p>
          <a:p>
            <a:pPr marL="384048" indent="-384048" defTabSz="914400">
              <a:lnSpc>
                <a:spcPct val="94000"/>
              </a:lnSpc>
              <a:spcBef>
                <a:spcPts val="1000"/>
              </a:spcBef>
              <a:spcAft>
                <a:spcPts val="200"/>
              </a:spcAft>
              <a:buFont typeface="Franklin Gothic Book" panose="020B0503020102020204" pitchFamily="34" charset="0"/>
              <a:buChar char="■"/>
            </a:pPr>
            <a:r>
              <a:rPr lang="en-US" sz="1400" dirty="0">
                <a:solidFill>
                  <a:schemeClr val="tx2"/>
                </a:solidFill>
              </a:rPr>
              <a:t>MCP follows a client-server architecture where an MCP host — an AI application like Custom Agents or </a:t>
            </a:r>
            <a:r>
              <a:rPr lang="en-US" sz="1400" b="1" dirty="0">
                <a:solidFill>
                  <a:schemeClr val="tx2"/>
                </a:solidFill>
                <a:hlinkClick r:id="rId2">
                  <a:extLst>
                    <a:ext uri="{A12FA001-AC4F-418D-AE19-62706E023703}">
                      <ahyp:hlinkClr xmlns:ahyp="http://schemas.microsoft.com/office/drawing/2018/hyperlinkcolor" val="tx"/>
                    </a:ext>
                  </a:extLst>
                </a:hlinkClick>
              </a:rPr>
              <a:t>Claude Desktop</a:t>
            </a:r>
            <a:r>
              <a:rPr lang="en-US" sz="1400" dirty="0">
                <a:solidFill>
                  <a:schemeClr val="tx2"/>
                </a:solidFill>
              </a:rPr>
              <a:t> — establishes connections to one or more MCP servers</a:t>
            </a:r>
          </a:p>
          <a:p>
            <a:pPr marL="384048" indent="-384048" defTabSz="914400">
              <a:lnSpc>
                <a:spcPct val="94000"/>
              </a:lnSpc>
              <a:spcBef>
                <a:spcPts val="1000"/>
              </a:spcBef>
              <a:spcAft>
                <a:spcPts val="200"/>
              </a:spcAft>
              <a:buFont typeface="Franklin Gothic Book" panose="020B0503020102020204" pitchFamily="34" charset="0"/>
              <a:buChar char="■"/>
            </a:pPr>
            <a:r>
              <a:rPr lang="en-US" sz="1400" dirty="0">
                <a:solidFill>
                  <a:schemeClr val="tx2"/>
                </a:solidFill>
              </a:rPr>
              <a:t>The MCP host accomplishes this by creating one MCP client for each MCP server. </a:t>
            </a:r>
          </a:p>
          <a:p>
            <a:pPr marL="384048" indent="-384048" defTabSz="914400">
              <a:lnSpc>
                <a:spcPct val="94000"/>
              </a:lnSpc>
              <a:spcBef>
                <a:spcPts val="1000"/>
              </a:spcBef>
              <a:spcAft>
                <a:spcPts val="200"/>
              </a:spcAft>
              <a:buFont typeface="Franklin Gothic Book" panose="020B0503020102020204" pitchFamily="34" charset="0"/>
              <a:buChar char="■"/>
            </a:pPr>
            <a:r>
              <a:rPr lang="en-US" sz="1400" dirty="0">
                <a:solidFill>
                  <a:schemeClr val="tx2"/>
                </a:solidFill>
              </a:rPr>
              <a:t>Each MCP client maintains a dedicated connection with its corresponding MCP server.</a:t>
            </a:r>
          </a:p>
          <a:p>
            <a:pPr marL="384048" indent="-384048" defTabSz="914400">
              <a:lnSpc>
                <a:spcPct val="94000"/>
              </a:lnSpc>
              <a:spcBef>
                <a:spcPts val="1000"/>
              </a:spcBef>
              <a:spcAft>
                <a:spcPts val="200"/>
              </a:spcAft>
              <a:buFont typeface="Franklin Gothic Book" panose="020B0503020102020204" pitchFamily="34" charset="0"/>
              <a:buChar char="■"/>
            </a:pPr>
            <a:r>
              <a:rPr lang="en-US" sz="1400" dirty="0">
                <a:solidFill>
                  <a:schemeClr val="tx2"/>
                </a:solidFill>
              </a:rPr>
              <a:t>Local MCP servers that use the STDIO transport typically serve a single MCP client. </a:t>
            </a:r>
          </a:p>
          <a:p>
            <a:pPr marL="384048" indent="-384048" defTabSz="914400">
              <a:lnSpc>
                <a:spcPct val="94000"/>
              </a:lnSpc>
              <a:spcBef>
                <a:spcPts val="1000"/>
              </a:spcBef>
              <a:spcAft>
                <a:spcPts val="200"/>
              </a:spcAft>
              <a:buFont typeface="Franklin Gothic Book" panose="020B0503020102020204" pitchFamily="34" charset="0"/>
              <a:buChar char="■"/>
            </a:pPr>
            <a:r>
              <a:rPr lang="en-US" sz="1400" dirty="0">
                <a:solidFill>
                  <a:schemeClr val="tx2"/>
                </a:solidFill>
              </a:rPr>
              <a:t>Remote MCP servers that use the </a:t>
            </a:r>
            <a:r>
              <a:rPr lang="en-US" sz="1400" dirty="0" err="1">
                <a:solidFill>
                  <a:schemeClr val="tx2"/>
                </a:solidFill>
              </a:rPr>
              <a:t>Streamable</a:t>
            </a:r>
            <a:r>
              <a:rPr lang="en-US" sz="1400" dirty="0">
                <a:solidFill>
                  <a:schemeClr val="tx2"/>
                </a:solidFill>
              </a:rPr>
              <a:t> HTTP transport will typically serve many MCP clients.</a:t>
            </a:r>
            <a:endParaRPr lang="en-US" sz="1400" b="1" dirty="0">
              <a:solidFill>
                <a:schemeClr val="tx2"/>
              </a:solidFill>
            </a:endParaRPr>
          </a:p>
          <a:p>
            <a:pPr marL="384048" indent="-384048" defTabSz="914400">
              <a:lnSpc>
                <a:spcPct val="94000"/>
              </a:lnSpc>
              <a:spcBef>
                <a:spcPts val="1000"/>
              </a:spcBef>
              <a:spcAft>
                <a:spcPts val="200"/>
              </a:spcAft>
              <a:buFont typeface="Franklin Gothic Book" panose="020B0503020102020204" pitchFamily="34" charset="0"/>
              <a:buChar char="■"/>
            </a:pPr>
            <a:r>
              <a:rPr lang="en-US" sz="1400" b="1" dirty="0">
                <a:solidFill>
                  <a:schemeClr val="tx2"/>
                </a:solidFill>
              </a:rPr>
              <a:t>For example</a:t>
            </a:r>
            <a:r>
              <a:rPr lang="en-US" sz="1400" dirty="0">
                <a:solidFill>
                  <a:schemeClr val="tx2"/>
                </a:solidFill>
              </a:rPr>
              <a:t>: Visual Studio Code acts as an MCP host. </a:t>
            </a:r>
            <a:br>
              <a:rPr lang="en-US" sz="1400" dirty="0">
                <a:solidFill>
                  <a:schemeClr val="tx2"/>
                </a:solidFill>
              </a:rPr>
            </a:br>
            <a:r>
              <a:rPr lang="en-US" sz="1400" dirty="0">
                <a:solidFill>
                  <a:schemeClr val="tx2"/>
                </a:solidFill>
              </a:rPr>
              <a:t>When Visual Studio Code establishes a connection to an MCP server, such as the </a:t>
            </a:r>
            <a:r>
              <a:rPr lang="en-US" sz="1400" b="1" dirty="0">
                <a:solidFill>
                  <a:schemeClr val="tx2"/>
                </a:solidFill>
                <a:hlinkClick r:id="rId3">
                  <a:extLst>
                    <a:ext uri="{A12FA001-AC4F-418D-AE19-62706E023703}">
                      <ahyp:hlinkClr xmlns:ahyp="http://schemas.microsoft.com/office/drawing/2018/hyperlinkcolor" val="tx"/>
                    </a:ext>
                  </a:extLst>
                </a:hlinkClick>
              </a:rPr>
              <a:t>Sentry MCP server</a:t>
            </a:r>
            <a:r>
              <a:rPr lang="en-US" sz="1400" dirty="0">
                <a:solidFill>
                  <a:schemeClr val="tx2"/>
                </a:solidFill>
              </a:rPr>
              <a:t>, </a:t>
            </a:r>
            <a:br>
              <a:rPr lang="en-US" sz="1400" dirty="0">
                <a:solidFill>
                  <a:schemeClr val="tx2"/>
                </a:solidFill>
              </a:rPr>
            </a:br>
            <a:r>
              <a:rPr lang="en-US" sz="1400" dirty="0">
                <a:solidFill>
                  <a:schemeClr val="tx2"/>
                </a:solidFill>
              </a:rPr>
              <a:t>the Visual Studio Code runtime instantiates an MCP client object that maintains the connection to the Sentry MCP server.</a:t>
            </a:r>
            <a:br>
              <a:rPr lang="en-US" sz="1400" dirty="0">
                <a:solidFill>
                  <a:schemeClr val="tx2"/>
                </a:solidFill>
              </a:rPr>
            </a:br>
            <a:r>
              <a:rPr lang="en-US" sz="1400" dirty="0">
                <a:solidFill>
                  <a:schemeClr val="tx2"/>
                </a:solidFill>
              </a:rPr>
              <a:t> When Visual Studio Code subsequently connects to another MCP server, such as the </a:t>
            </a:r>
            <a:r>
              <a:rPr lang="en-US" sz="1400" b="1" dirty="0">
                <a:solidFill>
                  <a:schemeClr val="tx2"/>
                </a:solidFill>
                <a:hlinkClick r:id="rId4">
                  <a:extLst>
                    <a:ext uri="{A12FA001-AC4F-418D-AE19-62706E023703}">
                      <ahyp:hlinkClr xmlns:ahyp="http://schemas.microsoft.com/office/drawing/2018/hyperlinkcolor" val="tx"/>
                    </a:ext>
                  </a:extLst>
                </a:hlinkClick>
              </a:rPr>
              <a:t>local filesystem server</a:t>
            </a:r>
            <a:r>
              <a:rPr lang="en-US" sz="1400" dirty="0">
                <a:solidFill>
                  <a:schemeClr val="tx2"/>
                </a:solidFill>
              </a:rPr>
              <a:t>, the Visual Studio Code runtime instantiates an additional MCP client object to maintain this connection.</a:t>
            </a:r>
          </a:p>
        </p:txBody>
      </p:sp>
      <p:sp>
        <p:nvSpPr>
          <p:cNvPr id="8" name="TextBox 7">
            <a:extLst>
              <a:ext uri="{FF2B5EF4-FFF2-40B4-BE49-F238E27FC236}">
                <a16:creationId xmlns:a16="http://schemas.microsoft.com/office/drawing/2014/main" id="{3D69E0D2-E699-81E9-D326-E314090F4477}"/>
              </a:ext>
            </a:extLst>
          </p:cNvPr>
          <p:cNvSpPr txBox="1"/>
          <p:nvPr/>
        </p:nvSpPr>
        <p:spPr>
          <a:xfrm>
            <a:off x="838200" y="1929384"/>
            <a:ext cx="10515600" cy="425196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endParaRPr lang="en-US" sz="1500" dirty="0"/>
          </a:p>
        </p:txBody>
      </p:sp>
    </p:spTree>
    <p:extLst>
      <p:ext uri="{BB962C8B-B14F-4D97-AF65-F5344CB8AC3E}">
        <p14:creationId xmlns:p14="http://schemas.microsoft.com/office/powerpoint/2010/main" val="1984850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5E31A-0857-54B3-64BC-E88E6C83F30F}"/>
              </a:ext>
            </a:extLst>
          </p:cNvPr>
          <p:cNvSpPr>
            <a:spLocks noGrp="1"/>
          </p:cNvSpPr>
          <p:nvPr>
            <p:ph type="title"/>
          </p:nvPr>
        </p:nvSpPr>
        <p:spPr/>
        <p:txBody>
          <a:bodyPr/>
          <a:lstStyle/>
          <a:p>
            <a:r>
              <a:rPr lang="en-IN" dirty="0"/>
              <a:t>Layers</a:t>
            </a:r>
          </a:p>
        </p:txBody>
      </p:sp>
      <p:sp>
        <p:nvSpPr>
          <p:cNvPr id="3" name="Content Placeholder 2">
            <a:extLst>
              <a:ext uri="{FF2B5EF4-FFF2-40B4-BE49-F238E27FC236}">
                <a16:creationId xmlns:a16="http://schemas.microsoft.com/office/drawing/2014/main" id="{94E00464-C28F-AD0D-91AD-9ABA0193966A}"/>
              </a:ext>
            </a:extLst>
          </p:cNvPr>
          <p:cNvSpPr>
            <a:spLocks noGrp="1"/>
          </p:cNvSpPr>
          <p:nvPr>
            <p:ph idx="1"/>
          </p:nvPr>
        </p:nvSpPr>
        <p:spPr/>
        <p:txBody>
          <a:bodyPr/>
          <a:lstStyle/>
          <a:p>
            <a:pPr marL="0" indent="0">
              <a:buNone/>
            </a:pPr>
            <a:r>
              <a:rPr lang="en-IN" dirty="0"/>
              <a:t>MCP consists of two layers.</a:t>
            </a:r>
          </a:p>
          <a:p>
            <a:r>
              <a:rPr lang="en-IN" b="1" dirty="0"/>
              <a:t>Data layer</a:t>
            </a:r>
            <a:r>
              <a:rPr lang="en-IN" dirty="0"/>
              <a:t>: Defines the JSON-RPC based protocol for client-server communication, including </a:t>
            </a:r>
          </a:p>
          <a:p>
            <a:pPr lvl="1"/>
            <a:r>
              <a:rPr lang="en-IN" dirty="0"/>
              <a:t>lifecycle management, and core primitives, such as tools, resources, prompts and notifications.</a:t>
            </a:r>
          </a:p>
          <a:p>
            <a:r>
              <a:rPr lang="en-IN" b="1" dirty="0"/>
              <a:t>Transport layer</a:t>
            </a:r>
            <a:r>
              <a:rPr lang="en-IN" dirty="0"/>
              <a:t>: Defines the communication mechanisms and channels that enable data exchange between clients and servers, </a:t>
            </a:r>
          </a:p>
          <a:p>
            <a:pPr lvl="1"/>
            <a:r>
              <a:rPr lang="en-IN" dirty="0"/>
              <a:t>including transport-specific connection establishment, message framing, and authorization.</a:t>
            </a:r>
          </a:p>
          <a:p>
            <a:endParaRPr lang="en-IN" dirty="0"/>
          </a:p>
        </p:txBody>
      </p:sp>
    </p:spTree>
    <p:extLst>
      <p:ext uri="{BB962C8B-B14F-4D97-AF65-F5344CB8AC3E}">
        <p14:creationId xmlns:p14="http://schemas.microsoft.com/office/powerpoint/2010/main" val="1564090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3503E-C0C4-9F1F-AEB1-0AE77B6BBE34}"/>
              </a:ext>
            </a:extLst>
          </p:cNvPr>
          <p:cNvSpPr>
            <a:spLocks noGrp="1"/>
          </p:cNvSpPr>
          <p:nvPr>
            <p:ph type="title"/>
          </p:nvPr>
        </p:nvSpPr>
        <p:spPr>
          <a:xfrm>
            <a:off x="839037" y="306476"/>
            <a:ext cx="9601200" cy="1485900"/>
          </a:xfrm>
        </p:spPr>
        <p:txBody>
          <a:bodyPr/>
          <a:lstStyle/>
          <a:p>
            <a:r>
              <a:rPr lang="en-IN" dirty="0"/>
              <a:t>Data Layer</a:t>
            </a:r>
          </a:p>
        </p:txBody>
      </p:sp>
      <p:sp>
        <p:nvSpPr>
          <p:cNvPr id="3" name="Content Placeholder 2">
            <a:extLst>
              <a:ext uri="{FF2B5EF4-FFF2-40B4-BE49-F238E27FC236}">
                <a16:creationId xmlns:a16="http://schemas.microsoft.com/office/drawing/2014/main" id="{88001876-5DC8-CD32-79D7-D9BD25D1C6CE}"/>
              </a:ext>
            </a:extLst>
          </p:cNvPr>
          <p:cNvSpPr>
            <a:spLocks noGrp="1"/>
          </p:cNvSpPr>
          <p:nvPr>
            <p:ph idx="1"/>
          </p:nvPr>
        </p:nvSpPr>
        <p:spPr>
          <a:xfrm>
            <a:off x="839037" y="1356527"/>
            <a:ext cx="10967776" cy="5194997"/>
          </a:xfrm>
        </p:spPr>
        <p:txBody>
          <a:bodyPr>
            <a:normAutofit/>
          </a:bodyPr>
          <a:lstStyle/>
          <a:p>
            <a:pPr marL="0" indent="0">
              <a:buNone/>
            </a:pPr>
            <a:r>
              <a:rPr lang="en-IN" dirty="0"/>
              <a:t>The data layer implements a </a:t>
            </a:r>
            <a:r>
              <a:rPr lang="en-IN" b="1" dirty="0">
                <a:hlinkClick r:id="rId2"/>
              </a:rPr>
              <a:t>JSON-RPC 2.0</a:t>
            </a:r>
            <a:r>
              <a:rPr lang="en-IN" dirty="0"/>
              <a:t> based exchange protocol that defines the message structure and semantics.</a:t>
            </a:r>
          </a:p>
          <a:p>
            <a:pPr marL="0" indent="0">
              <a:buNone/>
            </a:pPr>
            <a:r>
              <a:rPr lang="en-IN" dirty="0"/>
              <a:t> This layer includes:</a:t>
            </a:r>
          </a:p>
          <a:p>
            <a:r>
              <a:rPr lang="en-IN" b="1" dirty="0"/>
              <a:t>Lifecycle management</a:t>
            </a:r>
            <a:r>
              <a:rPr lang="en-IN" dirty="0"/>
              <a:t>: Handles connection initialization, capability negotiation, and connection termination between clients and servers</a:t>
            </a:r>
          </a:p>
          <a:p>
            <a:r>
              <a:rPr lang="en-IN" b="1" dirty="0"/>
              <a:t>Server features</a:t>
            </a:r>
            <a:r>
              <a:rPr lang="en-IN" dirty="0"/>
              <a:t>: Enables servers to provide core functionality including tools for AI</a:t>
            </a:r>
            <a:br>
              <a:rPr lang="en-IN" dirty="0"/>
            </a:br>
            <a:r>
              <a:rPr lang="en-IN" dirty="0"/>
              <a:t>actions, resources for context data, and prompts for interaction templates from and to the client</a:t>
            </a:r>
          </a:p>
          <a:p>
            <a:r>
              <a:rPr lang="en-IN" b="1" dirty="0"/>
              <a:t>Client features</a:t>
            </a:r>
            <a:r>
              <a:rPr lang="en-IN" dirty="0"/>
              <a:t>: Enables servers to ask the client to sample from the host LLM, elicit input from the user, and log messages to the client</a:t>
            </a:r>
          </a:p>
          <a:p>
            <a:r>
              <a:rPr lang="en-IN" b="1" dirty="0"/>
              <a:t>Utility features</a:t>
            </a:r>
            <a:r>
              <a:rPr lang="en-IN" dirty="0"/>
              <a:t>: Supports additional capabilities like notifications for real-time updates and progress tracking for long-running operations</a:t>
            </a:r>
          </a:p>
          <a:p>
            <a:endParaRPr lang="en-IN" dirty="0"/>
          </a:p>
        </p:txBody>
      </p:sp>
    </p:spTree>
    <p:extLst>
      <p:ext uri="{BB962C8B-B14F-4D97-AF65-F5344CB8AC3E}">
        <p14:creationId xmlns:p14="http://schemas.microsoft.com/office/powerpoint/2010/main" val="814098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2AF3A-0267-1EE0-2C8D-28EBF9DA6C34}"/>
              </a:ext>
            </a:extLst>
          </p:cNvPr>
          <p:cNvSpPr>
            <a:spLocks noGrp="1"/>
          </p:cNvSpPr>
          <p:nvPr>
            <p:ph type="title"/>
          </p:nvPr>
        </p:nvSpPr>
        <p:spPr/>
        <p:txBody>
          <a:bodyPr/>
          <a:lstStyle/>
          <a:p>
            <a:r>
              <a:rPr lang="en-IN" dirty="0"/>
              <a:t>Transport Layer</a:t>
            </a:r>
          </a:p>
        </p:txBody>
      </p:sp>
      <p:sp>
        <p:nvSpPr>
          <p:cNvPr id="3" name="Content Placeholder 2">
            <a:extLst>
              <a:ext uri="{FF2B5EF4-FFF2-40B4-BE49-F238E27FC236}">
                <a16:creationId xmlns:a16="http://schemas.microsoft.com/office/drawing/2014/main" id="{9E1553F6-62F9-8E6F-6C78-329A54A31346}"/>
              </a:ext>
            </a:extLst>
          </p:cNvPr>
          <p:cNvSpPr>
            <a:spLocks noGrp="1"/>
          </p:cNvSpPr>
          <p:nvPr>
            <p:ph idx="1"/>
          </p:nvPr>
        </p:nvSpPr>
        <p:spPr/>
        <p:txBody>
          <a:bodyPr>
            <a:normAutofit fontScale="85000" lnSpcReduction="20000"/>
          </a:bodyPr>
          <a:lstStyle/>
          <a:p>
            <a:r>
              <a:rPr lang="en-IN" dirty="0"/>
              <a:t>The transport layer manages communication channels and authentication between clients and servers. It handles connection establishment, message framing, and secure communication between MCP participants.</a:t>
            </a:r>
          </a:p>
          <a:p>
            <a:r>
              <a:rPr lang="en-IN" dirty="0"/>
              <a:t>MCP supports two transport mechanisms</a:t>
            </a:r>
          </a:p>
          <a:p>
            <a:pPr lvl="1"/>
            <a:r>
              <a:rPr lang="en-IN" dirty="0"/>
              <a:t>:</a:t>
            </a:r>
            <a:r>
              <a:rPr lang="en-IN" b="1" dirty="0" err="1"/>
              <a:t>Stdio</a:t>
            </a:r>
            <a:r>
              <a:rPr lang="en-IN" b="1" dirty="0"/>
              <a:t> transport</a:t>
            </a:r>
            <a:r>
              <a:rPr lang="en-IN" dirty="0"/>
              <a:t>: Uses standard input/output streams for direct process communication between local processes on the same machine, providing optimal performance with no network overhead.</a:t>
            </a:r>
          </a:p>
          <a:p>
            <a:pPr lvl="1"/>
            <a:r>
              <a:rPr lang="en-IN" b="1" dirty="0" err="1"/>
              <a:t>Streamable</a:t>
            </a:r>
            <a:r>
              <a:rPr lang="en-IN" b="1" dirty="0"/>
              <a:t> HTTP transport</a:t>
            </a:r>
            <a:r>
              <a:rPr lang="en-IN" dirty="0"/>
              <a:t>: Uses HTTP POST for client-to-server messages with optional Server-Sent Events for streaming capabilities. </a:t>
            </a:r>
          </a:p>
          <a:p>
            <a:pPr lvl="2"/>
            <a:r>
              <a:rPr lang="en-IN" dirty="0"/>
              <a:t>This transport enables remote server communication and supports standard HTTP authentication methods including bearer tokens, API keys, and custom headers.</a:t>
            </a:r>
          </a:p>
          <a:p>
            <a:pPr lvl="2"/>
            <a:r>
              <a:rPr lang="en-IN" dirty="0"/>
              <a:t> MCP recommends using OAuth to obtain authentication tokens.</a:t>
            </a:r>
          </a:p>
          <a:p>
            <a:r>
              <a:rPr lang="en-IN" dirty="0"/>
              <a:t>The transport layer abstracts communication details from the protocol layer, enabling the same JSON-RPC 2.0 message format across all transport mechanisms.</a:t>
            </a:r>
          </a:p>
        </p:txBody>
      </p:sp>
    </p:spTree>
    <p:extLst>
      <p:ext uri="{BB962C8B-B14F-4D97-AF65-F5344CB8AC3E}">
        <p14:creationId xmlns:p14="http://schemas.microsoft.com/office/powerpoint/2010/main" val="451860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04CD8-7F7C-DE58-3C94-262A22523728}"/>
              </a:ext>
            </a:extLst>
          </p:cNvPr>
          <p:cNvSpPr>
            <a:spLocks noGrp="1"/>
          </p:cNvSpPr>
          <p:nvPr>
            <p:ph type="title"/>
          </p:nvPr>
        </p:nvSpPr>
        <p:spPr/>
        <p:txBody>
          <a:bodyPr/>
          <a:lstStyle/>
          <a:p>
            <a:r>
              <a:rPr lang="en-IN" dirty="0"/>
              <a:t>MCP Primitives: Tools, Resources, and Prompts</a:t>
            </a:r>
          </a:p>
        </p:txBody>
      </p:sp>
      <p:sp>
        <p:nvSpPr>
          <p:cNvPr id="3" name="Content Placeholder 2">
            <a:extLst>
              <a:ext uri="{FF2B5EF4-FFF2-40B4-BE49-F238E27FC236}">
                <a16:creationId xmlns:a16="http://schemas.microsoft.com/office/drawing/2014/main" id="{EBE679E9-3017-2F77-2B7C-4DA16EE15C33}"/>
              </a:ext>
            </a:extLst>
          </p:cNvPr>
          <p:cNvSpPr>
            <a:spLocks noGrp="1"/>
          </p:cNvSpPr>
          <p:nvPr>
            <p:ph idx="1"/>
          </p:nvPr>
        </p:nvSpPr>
        <p:spPr/>
        <p:txBody>
          <a:bodyPr>
            <a:normAutofit fontScale="32500" lnSpcReduction="20000"/>
          </a:bodyPr>
          <a:lstStyle/>
          <a:p>
            <a:pPr marL="0" indent="0">
              <a:buNone/>
            </a:pPr>
            <a:r>
              <a:rPr lang="en-IN" sz="4800" dirty="0"/>
              <a:t>MCP servers provide capabilities through three core primitives:</a:t>
            </a:r>
          </a:p>
          <a:p>
            <a:r>
              <a:rPr lang="en-IN" sz="4800" b="1" dirty="0"/>
              <a:t>Tools</a:t>
            </a:r>
          </a:p>
          <a:p>
            <a:pPr lvl="1"/>
            <a:r>
              <a:rPr lang="en-IN" sz="4800" dirty="0"/>
              <a:t>Actions the AI can perform.</a:t>
            </a:r>
          </a:p>
          <a:p>
            <a:pPr lvl="1"/>
            <a:r>
              <a:rPr lang="en-IN" sz="4800" dirty="0"/>
              <a:t>Examples: </a:t>
            </a:r>
            <a:r>
              <a:rPr lang="en-IN" sz="4600" dirty="0"/>
              <a:t>Create a GitHub issue, Query a database, Send a Slack message</a:t>
            </a:r>
          </a:p>
          <a:p>
            <a:r>
              <a:rPr lang="en-IN" sz="4800" b="1" dirty="0"/>
              <a:t>Resources</a:t>
            </a:r>
          </a:p>
          <a:p>
            <a:pPr lvl="1"/>
            <a:r>
              <a:rPr lang="en-IN" sz="4800" dirty="0"/>
              <a:t>Data the AI can read and use as context.</a:t>
            </a:r>
          </a:p>
          <a:p>
            <a:pPr lvl="1"/>
            <a:r>
              <a:rPr lang="en-IN" sz="4800" dirty="0"/>
              <a:t>Examples: </a:t>
            </a:r>
            <a:r>
              <a:rPr lang="en-IN" sz="4600" dirty="0"/>
              <a:t>Database schema, File contents, API responses, </a:t>
            </a:r>
            <a:r>
              <a:rPr lang="en-IN" sz="4800" dirty="0"/>
              <a:t>Documentation</a:t>
            </a:r>
          </a:p>
          <a:p>
            <a:r>
              <a:rPr lang="en-IN" sz="4800" b="1" dirty="0"/>
              <a:t>Prompts</a:t>
            </a:r>
          </a:p>
          <a:p>
            <a:pPr lvl="1"/>
            <a:r>
              <a:rPr lang="en-IN" sz="4800" dirty="0"/>
              <a:t>Reusable prompt templates that guide the AI.</a:t>
            </a:r>
          </a:p>
          <a:p>
            <a:pPr lvl="1"/>
            <a:r>
              <a:rPr lang="en-IN" sz="4800" dirty="0"/>
              <a:t>Examples: Code review templates, Incident response workflows, Database analysis prompts</a:t>
            </a:r>
          </a:p>
          <a:p>
            <a:pPr marL="0" indent="0">
              <a:buNone/>
            </a:pPr>
            <a:r>
              <a:rPr lang="en-IN" sz="4800" dirty="0"/>
              <a:t>Together, these primitives give AI applications a standardized way to discover information, perform actions, and follow structured workflows.</a:t>
            </a:r>
          </a:p>
          <a:p>
            <a:endParaRPr lang="en-IN" dirty="0"/>
          </a:p>
        </p:txBody>
      </p:sp>
    </p:spTree>
    <p:extLst>
      <p:ext uri="{BB962C8B-B14F-4D97-AF65-F5344CB8AC3E}">
        <p14:creationId xmlns:p14="http://schemas.microsoft.com/office/powerpoint/2010/main" val="2557568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D3998EF-E6AE-409A-799B-43C268C74941}"/>
              </a:ext>
            </a:extLst>
          </p:cNvPr>
          <p:cNvSpPr>
            <a:spLocks noGrp="1"/>
          </p:cNvSpPr>
          <p:nvPr>
            <p:ph type="title"/>
          </p:nvPr>
        </p:nvSpPr>
        <p:spPr>
          <a:xfrm>
            <a:off x="1371600" y="685800"/>
            <a:ext cx="9601200" cy="1485900"/>
          </a:xfrm>
        </p:spPr>
        <p:txBody>
          <a:bodyPr anchor="t">
            <a:normAutofit/>
          </a:bodyPr>
          <a:lstStyle/>
          <a:p>
            <a:r>
              <a:rPr lang="en-IN" b="1" dirty="0"/>
              <a:t>Tools</a:t>
            </a:r>
            <a:endParaRPr lang="en-US" dirty="0"/>
          </a:p>
        </p:txBody>
      </p:sp>
      <p:sp>
        <p:nvSpPr>
          <p:cNvPr id="3" name="Content Placeholder 2">
            <a:extLst>
              <a:ext uri="{FF2B5EF4-FFF2-40B4-BE49-F238E27FC236}">
                <a16:creationId xmlns:a16="http://schemas.microsoft.com/office/drawing/2014/main" id="{29128D92-E6CE-C3BD-15AF-EE42C2BD2D10}"/>
              </a:ext>
            </a:extLst>
          </p:cNvPr>
          <p:cNvSpPr>
            <a:spLocks noGrp="1"/>
          </p:cNvSpPr>
          <p:nvPr>
            <p:ph sz="half" idx="1"/>
          </p:nvPr>
        </p:nvSpPr>
        <p:spPr>
          <a:xfrm>
            <a:off x="809203" y="1679642"/>
            <a:ext cx="5716200" cy="3581401"/>
          </a:xfrm>
        </p:spPr>
        <p:txBody>
          <a:bodyPr>
            <a:normAutofit fontScale="70000" lnSpcReduction="20000"/>
          </a:bodyPr>
          <a:lstStyle/>
          <a:p>
            <a:pPr marL="0" indent="0">
              <a:buNone/>
            </a:pPr>
            <a:endParaRPr lang="en-IN" sz="1900" b="1" dirty="0"/>
          </a:p>
          <a:p>
            <a:pPr>
              <a:buNone/>
            </a:pPr>
            <a:r>
              <a:rPr lang="en-IN" sz="1900" dirty="0"/>
              <a:t>Tools allow AI clients to perform actions or execute business logic and </a:t>
            </a:r>
            <a:r>
              <a:rPr lang="en-IN" sz="1800" dirty="0"/>
              <a:t>ideal for</a:t>
            </a:r>
          </a:p>
          <a:p>
            <a:r>
              <a:rPr lang="en-IN" sz="1800" dirty="0"/>
              <a:t>Database queries,</a:t>
            </a:r>
          </a:p>
          <a:p>
            <a:r>
              <a:rPr lang="en-IN" sz="1800" dirty="0"/>
              <a:t> API calls, </a:t>
            </a:r>
          </a:p>
          <a:p>
            <a:r>
              <a:rPr lang="en-IN" sz="1800" dirty="0"/>
              <a:t>Sending messages, </a:t>
            </a:r>
          </a:p>
          <a:p>
            <a:r>
              <a:rPr lang="en-IN" sz="1800" dirty="0"/>
              <a:t>Creating tickets, </a:t>
            </a:r>
          </a:p>
          <a:p>
            <a:r>
              <a:rPr lang="en-IN" sz="1800" dirty="0"/>
              <a:t>Running workflows</a:t>
            </a:r>
          </a:p>
          <a:p>
            <a:pPr marL="0" indent="0">
              <a:buNone/>
            </a:pPr>
            <a:r>
              <a:rPr lang="en-IN" sz="1900" b="1" dirty="0"/>
              <a:t>Example:</a:t>
            </a:r>
            <a:r>
              <a:rPr lang="en-IN" sz="1900" dirty="0"/>
              <a:t> Create a tool that retrieves customer information.</a:t>
            </a:r>
          </a:p>
          <a:p>
            <a:pPr marL="0" indent="0">
              <a:buNone/>
            </a:pPr>
            <a:r>
              <a:rPr lang="en-IN" sz="1900" b="1" dirty="0"/>
              <a:t>AI Usage:</a:t>
            </a:r>
            <a:endParaRPr lang="en-IN" sz="1900" dirty="0"/>
          </a:p>
          <a:p>
            <a:pPr marL="0" indent="0">
              <a:buNone/>
            </a:pPr>
            <a:r>
              <a:rPr lang="en-IN" sz="1900" dirty="0"/>
              <a:t>User: Get customer CUST-123</a:t>
            </a:r>
          </a:p>
          <a:p>
            <a:pPr marL="0" indent="0">
              <a:buNone/>
            </a:pPr>
            <a:r>
              <a:rPr lang="en-IN" sz="1900" dirty="0"/>
              <a:t>AI → Calls </a:t>
            </a:r>
            <a:r>
              <a:rPr lang="en-IN" sz="1900" dirty="0" err="1"/>
              <a:t>get_customer</a:t>
            </a:r>
            <a:r>
              <a:rPr lang="en-IN" sz="1900" dirty="0"/>
              <a:t>("CUST-123")</a:t>
            </a:r>
          </a:p>
          <a:p>
            <a:pPr marL="0" indent="0">
              <a:buNone/>
            </a:pPr>
            <a:endParaRPr lang="en-IN" sz="1900" dirty="0"/>
          </a:p>
        </p:txBody>
      </p:sp>
      <p:pic>
        <p:nvPicPr>
          <p:cNvPr id="5" name="Picture 4">
            <a:extLst>
              <a:ext uri="{FF2B5EF4-FFF2-40B4-BE49-F238E27FC236}">
                <a16:creationId xmlns:a16="http://schemas.microsoft.com/office/drawing/2014/main" id="{6632B0C1-1021-0C10-33AE-5D6952DEEE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5403" y="997214"/>
            <a:ext cx="5974640" cy="4348263"/>
          </a:xfrm>
          <a:prstGeom prst="rect">
            <a:avLst/>
          </a:prstGeom>
          <a:noFill/>
        </p:spPr>
      </p:pic>
    </p:spTree>
    <p:extLst>
      <p:ext uri="{BB962C8B-B14F-4D97-AF65-F5344CB8AC3E}">
        <p14:creationId xmlns:p14="http://schemas.microsoft.com/office/powerpoint/2010/main" val="467744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02818-1D96-A75B-C9C6-3EB2DB5ADF8F}"/>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7F9DAF25-FD1A-7EB6-45BF-5AC040953865}"/>
              </a:ext>
            </a:extLst>
          </p:cNvPr>
          <p:cNvSpPr>
            <a:spLocks noGrp="1"/>
          </p:cNvSpPr>
          <p:nvPr>
            <p:ph type="title"/>
          </p:nvPr>
        </p:nvSpPr>
        <p:spPr>
          <a:xfrm>
            <a:off x="1371600" y="685800"/>
            <a:ext cx="9601200" cy="1485900"/>
          </a:xfrm>
        </p:spPr>
        <p:txBody>
          <a:bodyPr anchor="t">
            <a:normAutofit/>
          </a:bodyPr>
          <a:lstStyle/>
          <a:p>
            <a:r>
              <a:rPr lang="en-IN" b="1" dirty="0"/>
              <a:t>Resources</a:t>
            </a:r>
            <a:endParaRPr lang="en-US" dirty="0"/>
          </a:p>
        </p:txBody>
      </p:sp>
      <p:sp>
        <p:nvSpPr>
          <p:cNvPr id="3" name="Content Placeholder 2">
            <a:extLst>
              <a:ext uri="{FF2B5EF4-FFF2-40B4-BE49-F238E27FC236}">
                <a16:creationId xmlns:a16="http://schemas.microsoft.com/office/drawing/2014/main" id="{936D1D0D-E041-4CFE-909E-8AE36020DA6E}"/>
              </a:ext>
            </a:extLst>
          </p:cNvPr>
          <p:cNvSpPr>
            <a:spLocks noGrp="1"/>
          </p:cNvSpPr>
          <p:nvPr>
            <p:ph sz="half" idx="1"/>
          </p:nvPr>
        </p:nvSpPr>
        <p:spPr>
          <a:xfrm>
            <a:off x="809203" y="1679642"/>
            <a:ext cx="5716200" cy="3581401"/>
          </a:xfrm>
        </p:spPr>
        <p:txBody>
          <a:bodyPr>
            <a:normAutofit fontScale="92500" lnSpcReduction="20000"/>
          </a:bodyPr>
          <a:lstStyle/>
          <a:p>
            <a:pPr marL="0" indent="0">
              <a:buNone/>
            </a:pPr>
            <a:endParaRPr lang="en-IN" sz="1900" b="1" dirty="0"/>
          </a:p>
          <a:p>
            <a:r>
              <a:rPr lang="en-IN" sz="1800" dirty="0"/>
              <a:t>Resources expose data that AI clients can read and use as context. Database queries,</a:t>
            </a:r>
            <a:br>
              <a:rPr lang="en-IN" sz="1800" dirty="0"/>
            </a:br>
            <a:r>
              <a:rPr lang="en-IN" sz="1800" dirty="0"/>
              <a:t>ideal for:</a:t>
            </a:r>
          </a:p>
          <a:p>
            <a:pPr lvl="1"/>
            <a:r>
              <a:rPr lang="en-IN" sz="1800" dirty="0"/>
              <a:t> Documentation</a:t>
            </a:r>
          </a:p>
          <a:p>
            <a:pPr lvl="1"/>
            <a:r>
              <a:rPr lang="en-IN" sz="1800" dirty="0"/>
              <a:t>Configuration files</a:t>
            </a:r>
          </a:p>
          <a:p>
            <a:pPr lvl="1"/>
            <a:r>
              <a:rPr lang="en-IN" sz="1800" dirty="0"/>
              <a:t>Database schemas</a:t>
            </a:r>
          </a:p>
          <a:p>
            <a:pPr lvl="1"/>
            <a:r>
              <a:rPr lang="en-IN" sz="1800" dirty="0"/>
              <a:t>Knowledge bases</a:t>
            </a:r>
          </a:p>
          <a:p>
            <a:pPr lvl="1"/>
            <a:r>
              <a:rPr lang="en-IN" sz="1800" dirty="0"/>
              <a:t>Static reference data</a:t>
            </a:r>
          </a:p>
          <a:p>
            <a:pPr marL="0" indent="0">
              <a:buNone/>
            </a:pPr>
            <a:r>
              <a:rPr lang="en-IN" sz="1800" b="1" dirty="0"/>
              <a:t>Example:</a:t>
            </a:r>
            <a:r>
              <a:rPr lang="en-IN" sz="1800" dirty="0"/>
              <a:t> Expose application configuration.</a:t>
            </a:r>
          </a:p>
          <a:p>
            <a:pPr marL="0" indent="0">
              <a:buNone/>
            </a:pPr>
            <a:r>
              <a:rPr lang="en-IN" sz="1800" b="1" dirty="0"/>
              <a:t>AI Usage:</a:t>
            </a:r>
            <a:endParaRPr lang="en-IN" sz="1800" dirty="0"/>
          </a:p>
          <a:p>
            <a:pPr marL="0" indent="0">
              <a:buNone/>
            </a:pPr>
            <a:r>
              <a:rPr lang="en-IN" dirty="0"/>
              <a:t>Read resource: config://app</a:t>
            </a:r>
          </a:p>
          <a:p>
            <a:pPr>
              <a:buNone/>
            </a:pPr>
            <a:endParaRPr lang="en-IN" sz="1800" dirty="0"/>
          </a:p>
          <a:p>
            <a:pPr marL="0" indent="0">
              <a:buNone/>
            </a:pPr>
            <a:endParaRPr lang="en-IN" sz="1900" dirty="0"/>
          </a:p>
        </p:txBody>
      </p:sp>
      <p:pic>
        <p:nvPicPr>
          <p:cNvPr id="9" name="Picture 8">
            <a:extLst>
              <a:ext uri="{FF2B5EF4-FFF2-40B4-BE49-F238E27FC236}">
                <a16:creationId xmlns:a16="http://schemas.microsoft.com/office/drawing/2014/main" id="{05DAC6C4-9301-A073-CAAE-7464D0FD04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5403" y="1806101"/>
            <a:ext cx="5534961" cy="4250987"/>
          </a:xfrm>
          <a:prstGeom prst="rect">
            <a:avLst/>
          </a:prstGeom>
        </p:spPr>
      </p:pic>
    </p:spTree>
    <p:extLst>
      <p:ext uri="{BB962C8B-B14F-4D97-AF65-F5344CB8AC3E}">
        <p14:creationId xmlns:p14="http://schemas.microsoft.com/office/powerpoint/2010/main" val="1667503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0596B-DBAA-FCD5-135D-BEF72F158A88}"/>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DE7C56C5-561B-A454-6F9F-2E5A6E6CE0D3}"/>
              </a:ext>
            </a:extLst>
          </p:cNvPr>
          <p:cNvSpPr>
            <a:spLocks noGrp="1"/>
          </p:cNvSpPr>
          <p:nvPr>
            <p:ph type="title"/>
          </p:nvPr>
        </p:nvSpPr>
        <p:spPr>
          <a:xfrm>
            <a:off x="1371600" y="685800"/>
            <a:ext cx="9601200" cy="1485900"/>
          </a:xfrm>
        </p:spPr>
        <p:txBody>
          <a:bodyPr anchor="t">
            <a:normAutofit/>
          </a:bodyPr>
          <a:lstStyle/>
          <a:p>
            <a:r>
              <a:rPr lang="en-IN" dirty="0"/>
              <a:t>Prompts</a:t>
            </a:r>
            <a:endParaRPr lang="en-US" dirty="0"/>
          </a:p>
        </p:txBody>
      </p:sp>
      <p:sp>
        <p:nvSpPr>
          <p:cNvPr id="3" name="Content Placeholder 2">
            <a:extLst>
              <a:ext uri="{FF2B5EF4-FFF2-40B4-BE49-F238E27FC236}">
                <a16:creationId xmlns:a16="http://schemas.microsoft.com/office/drawing/2014/main" id="{4150C18F-1141-9417-B5B5-C7AA48FFDA64}"/>
              </a:ext>
            </a:extLst>
          </p:cNvPr>
          <p:cNvSpPr>
            <a:spLocks noGrp="1"/>
          </p:cNvSpPr>
          <p:nvPr>
            <p:ph sz="half" idx="1"/>
          </p:nvPr>
        </p:nvSpPr>
        <p:spPr>
          <a:xfrm>
            <a:off x="809203" y="1679642"/>
            <a:ext cx="5716200" cy="3581401"/>
          </a:xfrm>
        </p:spPr>
        <p:txBody>
          <a:bodyPr>
            <a:normAutofit fontScale="77500" lnSpcReduction="20000"/>
          </a:bodyPr>
          <a:lstStyle/>
          <a:p>
            <a:pPr marL="0" indent="0">
              <a:buNone/>
            </a:pPr>
            <a:endParaRPr lang="en-IN" sz="1900" b="1" dirty="0"/>
          </a:p>
          <a:p>
            <a:r>
              <a:rPr lang="en-IN" sz="1800" dirty="0"/>
              <a:t>Prompts provide reusable workflows and instructions. Documentation</a:t>
            </a:r>
            <a:br>
              <a:rPr lang="en-IN" sz="1800" dirty="0"/>
            </a:br>
            <a:endParaRPr lang="en-IN" sz="1800" dirty="0"/>
          </a:p>
          <a:p>
            <a:pPr marL="0" indent="0">
              <a:buNone/>
            </a:pPr>
            <a:r>
              <a:rPr lang="en-IN" dirty="0"/>
              <a:t>Prompts are ideal for:</a:t>
            </a:r>
          </a:p>
          <a:p>
            <a:pPr lvl="1"/>
            <a:r>
              <a:rPr lang="en-IN" dirty="0"/>
              <a:t>Code reviews</a:t>
            </a:r>
          </a:p>
          <a:p>
            <a:pPr lvl="1"/>
            <a:r>
              <a:rPr lang="en-IN" dirty="0"/>
              <a:t>Incident investigations</a:t>
            </a:r>
          </a:p>
          <a:p>
            <a:pPr lvl="1"/>
            <a:r>
              <a:rPr lang="en-IN" dirty="0"/>
              <a:t>Root cause analysis</a:t>
            </a:r>
          </a:p>
          <a:p>
            <a:pPr lvl="1"/>
            <a:r>
              <a:rPr lang="en-IN" dirty="0"/>
              <a:t>Security assessments</a:t>
            </a:r>
          </a:p>
          <a:p>
            <a:pPr lvl="1"/>
            <a:r>
              <a:rPr lang="en-IN" dirty="0"/>
              <a:t>Standardized business workflows</a:t>
            </a:r>
          </a:p>
          <a:p>
            <a:pPr marL="0" indent="0">
              <a:buNone/>
            </a:pPr>
            <a:r>
              <a:rPr lang="en-IN" b="1" dirty="0"/>
              <a:t>Example:</a:t>
            </a:r>
            <a:r>
              <a:rPr lang="en-IN" dirty="0"/>
              <a:t> Create a code review template.</a:t>
            </a:r>
          </a:p>
          <a:p>
            <a:pPr marL="0" indent="0">
              <a:buNone/>
            </a:pPr>
            <a:r>
              <a:rPr lang="en-IN" sz="1800" b="1" dirty="0"/>
              <a:t>AI Usage:</a:t>
            </a:r>
            <a:endParaRPr lang="en-IN" sz="1800" dirty="0"/>
          </a:p>
          <a:p>
            <a:pPr marL="0" indent="0">
              <a:buNone/>
            </a:pPr>
            <a:r>
              <a:rPr lang="en-IN" dirty="0"/>
              <a:t>Use prompt: </a:t>
            </a:r>
            <a:r>
              <a:rPr lang="en-IN" dirty="0" err="1"/>
              <a:t>code_review</a:t>
            </a:r>
            <a:endParaRPr lang="en-IN" dirty="0"/>
          </a:p>
          <a:p>
            <a:pPr>
              <a:buNone/>
            </a:pPr>
            <a:endParaRPr lang="en-IN" sz="1800" dirty="0"/>
          </a:p>
          <a:p>
            <a:pPr marL="0" indent="0">
              <a:buNone/>
            </a:pPr>
            <a:endParaRPr lang="en-IN" sz="1900" dirty="0"/>
          </a:p>
        </p:txBody>
      </p:sp>
      <p:pic>
        <p:nvPicPr>
          <p:cNvPr id="5" name="Picture 4">
            <a:extLst>
              <a:ext uri="{FF2B5EF4-FFF2-40B4-BE49-F238E27FC236}">
                <a16:creationId xmlns:a16="http://schemas.microsoft.com/office/drawing/2014/main" id="{4CD77EA4-7082-5DC9-9B8F-A608084DE6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81045" y="1498465"/>
            <a:ext cx="5407410" cy="4435813"/>
          </a:xfrm>
          <a:prstGeom prst="rect">
            <a:avLst/>
          </a:prstGeom>
        </p:spPr>
      </p:pic>
    </p:spTree>
    <p:extLst>
      <p:ext uri="{BB962C8B-B14F-4D97-AF65-F5344CB8AC3E}">
        <p14:creationId xmlns:p14="http://schemas.microsoft.com/office/powerpoint/2010/main" val="643073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98A4183A-E61C-C4B1-055B-4F2FBE4C5EA9}"/>
              </a:ext>
            </a:extLst>
          </p:cNvPr>
          <p:cNvSpPr>
            <a:spLocks noGrp="1"/>
          </p:cNvSpPr>
          <p:nvPr>
            <p:ph type="title"/>
          </p:nvPr>
        </p:nvSpPr>
        <p:spPr>
          <a:xfrm>
            <a:off x="1371600" y="685800"/>
            <a:ext cx="9601200" cy="1485900"/>
          </a:xfrm>
        </p:spPr>
        <p:txBody>
          <a:bodyPr/>
          <a:lstStyle/>
          <a:p>
            <a:r>
              <a:rPr lang="en-US" dirty="0"/>
              <a:t>Summary of MCP Primitives</a:t>
            </a:r>
          </a:p>
        </p:txBody>
      </p:sp>
      <p:sp>
        <p:nvSpPr>
          <p:cNvPr id="7" name="TextBox 6">
            <a:extLst>
              <a:ext uri="{FF2B5EF4-FFF2-40B4-BE49-F238E27FC236}">
                <a16:creationId xmlns:a16="http://schemas.microsoft.com/office/drawing/2014/main" id="{00208FA4-FE11-0EB8-D0AF-17F50CBA5F9A}"/>
              </a:ext>
            </a:extLst>
          </p:cNvPr>
          <p:cNvSpPr txBox="1"/>
          <p:nvPr/>
        </p:nvSpPr>
        <p:spPr>
          <a:xfrm>
            <a:off x="723900" y="2856344"/>
            <a:ext cx="3855720" cy="3011056"/>
          </a:xfrm>
          <a:prstGeom prst="rect">
            <a:avLst/>
          </a:prstGeom>
        </p:spPr>
        <p:txBody>
          <a:bodyPr vert="horz" lIns="91440" tIns="45720" rIns="91440" bIns="45720" rtlCol="0">
            <a:normAutofit/>
          </a:bodyPr>
          <a:lstStyle/>
          <a:p>
            <a:pPr defTabSz="914400">
              <a:lnSpc>
                <a:spcPct val="113000"/>
              </a:lnSpc>
              <a:spcAft>
                <a:spcPts val="1500"/>
              </a:spcAft>
            </a:pPr>
            <a:endParaRPr lang="en-US" sz="1600" kern="1200" baseline="0" dirty="0">
              <a:solidFill>
                <a:schemeClr val="tx2"/>
              </a:solidFill>
              <a:latin typeface="+mn-lt"/>
              <a:ea typeface="+mn-ea"/>
              <a:cs typeface="+mn-cs"/>
            </a:endParaRPr>
          </a:p>
        </p:txBody>
      </p:sp>
      <p:graphicFrame>
        <p:nvGraphicFramePr>
          <p:cNvPr id="5" name="Table 4">
            <a:extLst>
              <a:ext uri="{FF2B5EF4-FFF2-40B4-BE49-F238E27FC236}">
                <a16:creationId xmlns:a16="http://schemas.microsoft.com/office/drawing/2014/main" id="{436190BE-F1D6-626F-8476-56C999D8E6F3}"/>
              </a:ext>
            </a:extLst>
          </p:cNvPr>
          <p:cNvGraphicFramePr>
            <a:graphicFrameLocks noGrp="1"/>
          </p:cNvGraphicFramePr>
          <p:nvPr>
            <p:extLst>
              <p:ext uri="{D42A27DB-BD31-4B8C-83A1-F6EECF244321}">
                <p14:modId xmlns:p14="http://schemas.microsoft.com/office/powerpoint/2010/main" val="191513042"/>
              </p:ext>
            </p:extLst>
          </p:nvPr>
        </p:nvGraphicFramePr>
        <p:xfrm>
          <a:off x="1371600" y="2671749"/>
          <a:ext cx="9601202" cy="2809904"/>
        </p:xfrm>
        <a:graphic>
          <a:graphicData uri="http://schemas.openxmlformats.org/drawingml/2006/table">
            <a:tbl>
              <a:tblPr>
                <a:tableStyleId>{5C22544A-7EE6-4342-B048-85BDC9FD1C3A}</a:tableStyleId>
              </a:tblPr>
              <a:tblGrid>
                <a:gridCol w="2439583">
                  <a:extLst>
                    <a:ext uri="{9D8B030D-6E8A-4147-A177-3AD203B41FA5}">
                      <a16:colId xmlns:a16="http://schemas.microsoft.com/office/drawing/2014/main" val="3184800751"/>
                    </a:ext>
                  </a:extLst>
                </a:gridCol>
                <a:gridCol w="3695979">
                  <a:extLst>
                    <a:ext uri="{9D8B030D-6E8A-4147-A177-3AD203B41FA5}">
                      <a16:colId xmlns:a16="http://schemas.microsoft.com/office/drawing/2014/main" val="2953441226"/>
                    </a:ext>
                  </a:extLst>
                </a:gridCol>
                <a:gridCol w="3465640">
                  <a:extLst>
                    <a:ext uri="{9D8B030D-6E8A-4147-A177-3AD203B41FA5}">
                      <a16:colId xmlns:a16="http://schemas.microsoft.com/office/drawing/2014/main" val="1575103407"/>
                    </a:ext>
                  </a:extLst>
                </a:gridCol>
              </a:tblGrid>
              <a:tr h="464195">
                <a:tc>
                  <a:txBody>
                    <a:bodyPr/>
                    <a:lstStyle/>
                    <a:p>
                      <a:pPr algn="l" fontAlgn="ctr">
                        <a:buNone/>
                      </a:pPr>
                      <a:r>
                        <a:rPr lang="en-IN" sz="2100" b="0" u="none" strike="noStrike">
                          <a:effectLst/>
                        </a:rPr>
                        <a:t>Primitive</a:t>
                      </a:r>
                      <a:endParaRPr lang="en-IN" sz="2100" b="0" i="0" u="none" strike="noStrike">
                        <a:effectLst/>
                        <a:latin typeface="Arial" panose="020B0604020202020204" pitchFamily="34" charset="0"/>
                      </a:endParaRPr>
                    </a:p>
                  </a:txBody>
                  <a:tcPr marL="104127" marR="104127" marT="52063" marB="52063" anchor="ctr"/>
                </a:tc>
                <a:tc>
                  <a:txBody>
                    <a:bodyPr/>
                    <a:lstStyle/>
                    <a:p>
                      <a:pPr algn="l" fontAlgn="ctr">
                        <a:buNone/>
                      </a:pPr>
                      <a:r>
                        <a:rPr lang="en-IN" sz="2100" b="0" u="none" strike="noStrike">
                          <a:effectLst/>
                        </a:rPr>
                        <a:t>Purpose</a:t>
                      </a:r>
                      <a:endParaRPr lang="en-IN" sz="2100" b="0" i="0" u="none" strike="noStrike">
                        <a:effectLst/>
                        <a:latin typeface="Arial" panose="020B0604020202020204" pitchFamily="34" charset="0"/>
                      </a:endParaRPr>
                    </a:p>
                  </a:txBody>
                  <a:tcPr marL="104127" marR="104127" marT="52063" marB="52063" anchor="ctr"/>
                </a:tc>
                <a:tc>
                  <a:txBody>
                    <a:bodyPr/>
                    <a:lstStyle/>
                    <a:p>
                      <a:pPr algn="l" fontAlgn="ctr">
                        <a:buNone/>
                      </a:pPr>
                      <a:r>
                        <a:rPr lang="en-IN" sz="2100" b="0" u="none" strike="noStrike">
                          <a:effectLst/>
                        </a:rPr>
                        <a:t>Example</a:t>
                      </a:r>
                      <a:endParaRPr lang="en-IN" sz="2100" b="0" i="0" u="none" strike="noStrike">
                        <a:effectLst/>
                        <a:latin typeface="Arial" panose="020B0604020202020204" pitchFamily="34" charset="0"/>
                      </a:endParaRPr>
                    </a:p>
                  </a:txBody>
                  <a:tcPr marL="104127" marR="104127" marT="52063" marB="52063" anchor="ctr"/>
                </a:tc>
                <a:extLst>
                  <a:ext uri="{0D108BD9-81ED-4DB2-BD59-A6C34878D82A}">
                    <a16:rowId xmlns:a16="http://schemas.microsoft.com/office/drawing/2014/main" val="62064653"/>
                  </a:ext>
                </a:extLst>
              </a:tr>
              <a:tr h="781903">
                <a:tc>
                  <a:txBody>
                    <a:bodyPr/>
                    <a:lstStyle/>
                    <a:p>
                      <a:pPr algn="l" fontAlgn="ctr">
                        <a:buNone/>
                      </a:pPr>
                      <a:r>
                        <a:rPr lang="en-IN" sz="2100" b="1" u="none" strike="noStrike">
                          <a:effectLst/>
                        </a:rPr>
                        <a:t>Tool</a:t>
                      </a:r>
                      <a:endParaRPr lang="en-IN" sz="2100" b="0" i="0" u="none" strike="noStrike">
                        <a:effectLst/>
                        <a:latin typeface="Arial" panose="020B0604020202020204" pitchFamily="34" charset="0"/>
                      </a:endParaRPr>
                    </a:p>
                  </a:txBody>
                  <a:tcPr marL="104127" marR="104127" marT="52063" marB="52063" anchor="ctr"/>
                </a:tc>
                <a:tc>
                  <a:txBody>
                    <a:bodyPr/>
                    <a:lstStyle/>
                    <a:p>
                      <a:pPr algn="l" fontAlgn="ctr">
                        <a:buNone/>
                      </a:pPr>
                      <a:r>
                        <a:rPr lang="en-IN" sz="2100" b="0" u="none" strike="noStrike">
                          <a:effectLst/>
                        </a:rPr>
                        <a:t>Perform an action</a:t>
                      </a:r>
                      <a:endParaRPr lang="en-IN" sz="2100" b="0" i="0" u="none" strike="noStrike">
                        <a:effectLst/>
                        <a:latin typeface="Arial" panose="020B0604020202020204" pitchFamily="34" charset="0"/>
                      </a:endParaRPr>
                    </a:p>
                  </a:txBody>
                  <a:tcPr marL="104127" marR="104127" marT="52063" marB="52063" anchor="ctr"/>
                </a:tc>
                <a:tc>
                  <a:txBody>
                    <a:bodyPr/>
                    <a:lstStyle/>
                    <a:p>
                      <a:pPr algn="l" fontAlgn="ctr">
                        <a:buNone/>
                      </a:pPr>
                      <a:r>
                        <a:rPr lang="en-IN" sz="2100" b="0" u="none" strike="noStrike">
                          <a:effectLst/>
                        </a:rPr>
                        <a:t>Query PostgreSQL, create Jira ticket</a:t>
                      </a:r>
                      <a:endParaRPr lang="en-IN" sz="2100" b="0" i="0" u="none" strike="noStrike">
                        <a:effectLst/>
                        <a:latin typeface="Arial" panose="020B0604020202020204" pitchFamily="34" charset="0"/>
                      </a:endParaRPr>
                    </a:p>
                  </a:txBody>
                  <a:tcPr marL="104127" marR="104127" marT="52063" marB="52063" anchor="ctr"/>
                </a:tc>
                <a:extLst>
                  <a:ext uri="{0D108BD9-81ED-4DB2-BD59-A6C34878D82A}">
                    <a16:rowId xmlns:a16="http://schemas.microsoft.com/office/drawing/2014/main" val="1791544248"/>
                  </a:ext>
                </a:extLst>
              </a:tr>
              <a:tr h="781903">
                <a:tc>
                  <a:txBody>
                    <a:bodyPr/>
                    <a:lstStyle/>
                    <a:p>
                      <a:pPr algn="l" fontAlgn="ctr">
                        <a:buNone/>
                      </a:pPr>
                      <a:r>
                        <a:rPr lang="en-IN" sz="2100" b="1" u="none" strike="noStrike">
                          <a:effectLst/>
                        </a:rPr>
                        <a:t>Resource</a:t>
                      </a:r>
                      <a:endParaRPr lang="en-IN" sz="2100" b="0" i="0" u="none" strike="noStrike">
                        <a:effectLst/>
                        <a:latin typeface="Arial" panose="020B0604020202020204" pitchFamily="34" charset="0"/>
                      </a:endParaRPr>
                    </a:p>
                  </a:txBody>
                  <a:tcPr marL="104127" marR="104127" marT="52063" marB="52063" anchor="ctr"/>
                </a:tc>
                <a:tc>
                  <a:txBody>
                    <a:bodyPr/>
                    <a:lstStyle/>
                    <a:p>
                      <a:pPr algn="l" fontAlgn="ctr">
                        <a:buNone/>
                      </a:pPr>
                      <a:r>
                        <a:rPr lang="en-IN" sz="2100" b="0" u="none" strike="noStrike">
                          <a:effectLst/>
                        </a:rPr>
                        <a:t>Provide data/context</a:t>
                      </a:r>
                      <a:endParaRPr lang="en-IN" sz="2100" b="0" i="0" u="none" strike="noStrike">
                        <a:effectLst/>
                        <a:latin typeface="Arial" panose="020B0604020202020204" pitchFamily="34" charset="0"/>
                      </a:endParaRPr>
                    </a:p>
                  </a:txBody>
                  <a:tcPr marL="104127" marR="104127" marT="52063" marB="52063" anchor="ctr"/>
                </a:tc>
                <a:tc>
                  <a:txBody>
                    <a:bodyPr/>
                    <a:lstStyle/>
                    <a:p>
                      <a:pPr algn="l" fontAlgn="ctr">
                        <a:buNone/>
                      </a:pPr>
                      <a:r>
                        <a:rPr lang="en-IN" sz="2100" b="0" u="none" strike="noStrike">
                          <a:effectLst/>
                        </a:rPr>
                        <a:t>Documentation, schemas, config files</a:t>
                      </a:r>
                      <a:endParaRPr lang="en-IN" sz="2100" b="0" i="0" u="none" strike="noStrike">
                        <a:effectLst/>
                        <a:latin typeface="Arial" panose="020B0604020202020204" pitchFamily="34" charset="0"/>
                      </a:endParaRPr>
                    </a:p>
                  </a:txBody>
                  <a:tcPr marL="104127" marR="104127" marT="52063" marB="52063" anchor="ctr"/>
                </a:tc>
                <a:extLst>
                  <a:ext uri="{0D108BD9-81ED-4DB2-BD59-A6C34878D82A}">
                    <a16:rowId xmlns:a16="http://schemas.microsoft.com/office/drawing/2014/main" val="165385551"/>
                  </a:ext>
                </a:extLst>
              </a:tr>
              <a:tr h="781903">
                <a:tc>
                  <a:txBody>
                    <a:bodyPr/>
                    <a:lstStyle/>
                    <a:p>
                      <a:pPr algn="l" fontAlgn="ctr">
                        <a:buNone/>
                      </a:pPr>
                      <a:r>
                        <a:rPr lang="en-IN" sz="2100" b="1" u="none" strike="noStrike">
                          <a:effectLst/>
                        </a:rPr>
                        <a:t>Prompt</a:t>
                      </a:r>
                      <a:endParaRPr lang="en-IN" sz="2100" b="0" i="0" u="none" strike="noStrike">
                        <a:effectLst/>
                        <a:latin typeface="Arial" panose="020B0604020202020204" pitchFamily="34" charset="0"/>
                      </a:endParaRPr>
                    </a:p>
                  </a:txBody>
                  <a:tcPr marL="104127" marR="104127" marT="52063" marB="52063" anchor="ctr"/>
                </a:tc>
                <a:tc>
                  <a:txBody>
                    <a:bodyPr/>
                    <a:lstStyle/>
                    <a:p>
                      <a:pPr algn="l" fontAlgn="ctr">
                        <a:buNone/>
                      </a:pPr>
                      <a:r>
                        <a:rPr lang="en-IN" sz="2100" b="0" u="none" strike="noStrike">
                          <a:effectLst/>
                        </a:rPr>
                        <a:t>Provide reusable instructions</a:t>
                      </a:r>
                      <a:endParaRPr lang="en-IN" sz="2100" b="0" i="0" u="none" strike="noStrike">
                        <a:effectLst/>
                        <a:latin typeface="Arial" panose="020B0604020202020204" pitchFamily="34" charset="0"/>
                      </a:endParaRPr>
                    </a:p>
                  </a:txBody>
                  <a:tcPr marL="104127" marR="104127" marT="52063" marB="52063" anchor="ctr"/>
                </a:tc>
                <a:tc>
                  <a:txBody>
                    <a:bodyPr/>
                    <a:lstStyle/>
                    <a:p>
                      <a:pPr algn="l" fontAlgn="ctr">
                        <a:buNone/>
                      </a:pPr>
                      <a:r>
                        <a:rPr lang="en-IN" sz="2100" b="0" u="none" strike="noStrike">
                          <a:effectLst/>
                        </a:rPr>
                        <a:t>Code review, incident response, security audit</a:t>
                      </a:r>
                      <a:endParaRPr lang="en-IN" sz="2100" b="0" i="0" u="none" strike="noStrike">
                        <a:effectLst/>
                        <a:latin typeface="Arial" panose="020B0604020202020204" pitchFamily="34" charset="0"/>
                      </a:endParaRPr>
                    </a:p>
                  </a:txBody>
                  <a:tcPr marL="104127" marR="104127" marT="52063" marB="52063" anchor="ctr"/>
                </a:tc>
                <a:extLst>
                  <a:ext uri="{0D108BD9-81ED-4DB2-BD59-A6C34878D82A}">
                    <a16:rowId xmlns:a16="http://schemas.microsoft.com/office/drawing/2014/main" val="4262881179"/>
                  </a:ext>
                </a:extLst>
              </a:tr>
            </a:tbl>
          </a:graphicData>
        </a:graphic>
      </p:graphicFrame>
      <p:sp>
        <p:nvSpPr>
          <p:cNvPr id="9" name="TextBox 8">
            <a:extLst>
              <a:ext uri="{FF2B5EF4-FFF2-40B4-BE49-F238E27FC236}">
                <a16:creationId xmlns:a16="http://schemas.microsoft.com/office/drawing/2014/main" id="{B04B3C04-B702-D666-D571-B9CB32D3CE57}"/>
              </a:ext>
            </a:extLst>
          </p:cNvPr>
          <p:cNvSpPr txBox="1"/>
          <p:nvPr/>
        </p:nvSpPr>
        <p:spPr>
          <a:xfrm>
            <a:off x="1266097" y="5657671"/>
            <a:ext cx="6094378" cy="1200329"/>
          </a:xfrm>
          <a:prstGeom prst="rect">
            <a:avLst/>
          </a:prstGeom>
          <a:noFill/>
        </p:spPr>
        <p:txBody>
          <a:bodyPr wrap="square">
            <a:spAutoFit/>
          </a:bodyPr>
          <a:lstStyle/>
          <a:p>
            <a:pPr>
              <a:buNone/>
            </a:pPr>
            <a:r>
              <a:rPr lang="en-IN" b="1" dirty="0"/>
              <a:t>Rule of Thumb:</a:t>
            </a:r>
            <a:endParaRPr lang="en-IN" dirty="0"/>
          </a:p>
          <a:p>
            <a:pPr>
              <a:buFont typeface="Arial" panose="020B0604020202020204" pitchFamily="34" charset="0"/>
              <a:buChar char="•"/>
            </a:pPr>
            <a:r>
              <a:rPr lang="en-IN" b="1" dirty="0"/>
              <a:t>Need the AI to </a:t>
            </a:r>
            <a:r>
              <a:rPr lang="en-IN" b="1" i="1" dirty="0"/>
              <a:t>do</a:t>
            </a:r>
            <a:r>
              <a:rPr lang="en-IN" b="1" dirty="0"/>
              <a:t> something? → Tool</a:t>
            </a:r>
            <a:r>
              <a:rPr lang="en-IN" dirty="0"/>
              <a:t> </a:t>
            </a:r>
          </a:p>
          <a:p>
            <a:pPr>
              <a:buFont typeface="Arial" panose="020B0604020202020204" pitchFamily="34" charset="0"/>
              <a:buChar char="•"/>
            </a:pPr>
            <a:r>
              <a:rPr lang="en-IN" b="1" dirty="0"/>
              <a:t>Need the AI to </a:t>
            </a:r>
            <a:r>
              <a:rPr lang="en-IN" b="1" i="1" dirty="0"/>
              <a:t>read</a:t>
            </a:r>
            <a:r>
              <a:rPr lang="en-IN" b="1" dirty="0"/>
              <a:t> something? → Resource</a:t>
            </a:r>
            <a:r>
              <a:rPr lang="en-IN" dirty="0"/>
              <a:t> </a:t>
            </a:r>
          </a:p>
          <a:p>
            <a:pPr>
              <a:buFont typeface="Arial" panose="020B0604020202020204" pitchFamily="34" charset="0"/>
              <a:buChar char="•"/>
            </a:pPr>
            <a:r>
              <a:rPr lang="en-IN" b="1" dirty="0"/>
              <a:t>Need the AI to </a:t>
            </a:r>
            <a:r>
              <a:rPr lang="en-IN" b="1" i="1" dirty="0"/>
              <a:t>follow a process</a:t>
            </a:r>
            <a:r>
              <a:rPr lang="en-IN" b="1" dirty="0"/>
              <a:t>? → Prompt</a:t>
            </a:r>
            <a:endParaRPr lang="en-IN" dirty="0"/>
          </a:p>
        </p:txBody>
      </p:sp>
    </p:spTree>
    <p:extLst>
      <p:ext uri="{BB962C8B-B14F-4D97-AF65-F5344CB8AC3E}">
        <p14:creationId xmlns:p14="http://schemas.microsoft.com/office/powerpoint/2010/main" val="38735463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9F15A-CAFC-0FEA-2AD7-D0E3FD809CF7}"/>
              </a:ext>
            </a:extLst>
          </p:cNvPr>
          <p:cNvSpPr>
            <a:spLocks noGrp="1"/>
          </p:cNvSpPr>
          <p:nvPr>
            <p:ph type="title"/>
          </p:nvPr>
        </p:nvSpPr>
        <p:spPr>
          <a:xfrm>
            <a:off x="982493" y="145915"/>
            <a:ext cx="5204298" cy="521995"/>
          </a:xfrm>
        </p:spPr>
        <p:txBody>
          <a:bodyPr anchor="t">
            <a:normAutofit/>
          </a:bodyPr>
          <a:lstStyle/>
          <a:p>
            <a:r>
              <a:rPr lang="en-IN" sz="1200" dirty="0"/>
              <a:t>MCP Communication Lifecycle</a:t>
            </a:r>
          </a:p>
        </p:txBody>
      </p:sp>
      <p:pic>
        <p:nvPicPr>
          <p:cNvPr id="9" name="Content Placeholder 8">
            <a:extLst>
              <a:ext uri="{FF2B5EF4-FFF2-40B4-BE49-F238E27FC236}">
                <a16:creationId xmlns:a16="http://schemas.microsoft.com/office/drawing/2014/main" id="{88BF5770-C879-AFC3-A894-C576ED432F8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p:blipFill>
        <p:spPr>
          <a:xfrm>
            <a:off x="5796502" y="145915"/>
            <a:ext cx="6178248" cy="6566170"/>
          </a:xfrm>
          <a:prstGeom prst="rect">
            <a:avLst/>
          </a:prstGeom>
          <a:noFill/>
        </p:spPr>
      </p:pic>
      <p:sp>
        <p:nvSpPr>
          <p:cNvPr id="11" name="TextBox 10">
            <a:extLst>
              <a:ext uri="{FF2B5EF4-FFF2-40B4-BE49-F238E27FC236}">
                <a16:creationId xmlns:a16="http://schemas.microsoft.com/office/drawing/2014/main" id="{FC1A1B8C-739B-DAD6-A85F-A7DF828F3999}"/>
              </a:ext>
            </a:extLst>
          </p:cNvPr>
          <p:cNvSpPr txBox="1"/>
          <p:nvPr/>
        </p:nvSpPr>
        <p:spPr>
          <a:xfrm>
            <a:off x="729532" y="475400"/>
            <a:ext cx="5575852" cy="1754326"/>
          </a:xfrm>
          <a:prstGeom prst="rect">
            <a:avLst/>
          </a:prstGeom>
          <a:noFill/>
        </p:spPr>
        <p:txBody>
          <a:bodyPr wrap="square">
            <a:spAutoFit/>
          </a:bodyPr>
          <a:lstStyle/>
          <a:p>
            <a:r>
              <a:rPr lang="en-IN" sz="1200" b="1" dirty="0"/>
              <a:t>Step 1: Connection &amp; Initialization</a:t>
            </a:r>
            <a:br>
              <a:rPr lang="en-IN" sz="1200" dirty="0"/>
            </a:br>
            <a:r>
              <a:rPr lang="en-IN" sz="1200" dirty="0"/>
              <a:t>Before any tool can be used, the client and server perform a handshake.</a:t>
            </a:r>
          </a:p>
          <a:p>
            <a:r>
              <a:rPr lang="en-IN" sz="1200" dirty="0"/>
              <a:t>The client introduces itself and asks:</a:t>
            </a:r>
          </a:p>
          <a:p>
            <a:r>
              <a:rPr lang="en-IN" sz="1200" dirty="0"/>
              <a:t>"Can we communicate? What do you support?“</a:t>
            </a:r>
            <a:br>
              <a:rPr lang="en-IN" sz="1200" dirty="0"/>
            </a:br>
            <a:r>
              <a:rPr lang="en-IN" sz="1200" dirty="0"/>
              <a:t>The client tells the server:</a:t>
            </a:r>
          </a:p>
          <a:p>
            <a:r>
              <a:rPr lang="en-IN" sz="1200" dirty="0"/>
              <a:t>Who it is</a:t>
            </a:r>
          </a:p>
          <a:p>
            <a:r>
              <a:rPr lang="en-IN" sz="1200" dirty="0"/>
              <a:t>Which MCP version it supports</a:t>
            </a:r>
          </a:p>
          <a:p>
            <a:r>
              <a:rPr lang="en-IN" sz="1200" dirty="0"/>
              <a:t>What capabilities it has</a:t>
            </a:r>
            <a:br>
              <a:rPr lang="en-IN" sz="1200" dirty="0"/>
            </a:br>
            <a:endParaRPr lang="en-IN" sz="1200" dirty="0"/>
          </a:p>
        </p:txBody>
      </p:sp>
      <p:pic>
        <p:nvPicPr>
          <p:cNvPr id="24" name="Picture 23">
            <a:extLst>
              <a:ext uri="{FF2B5EF4-FFF2-40B4-BE49-F238E27FC236}">
                <a16:creationId xmlns:a16="http://schemas.microsoft.com/office/drawing/2014/main" id="{DE554D76-CDE3-3975-6C74-21D7781393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532" y="2616820"/>
            <a:ext cx="3047338" cy="3354610"/>
          </a:xfrm>
          <a:prstGeom prst="rect">
            <a:avLst/>
          </a:prstGeom>
        </p:spPr>
      </p:pic>
      <p:pic>
        <p:nvPicPr>
          <p:cNvPr id="26" name="Picture 25">
            <a:extLst>
              <a:ext uri="{FF2B5EF4-FFF2-40B4-BE49-F238E27FC236}">
                <a16:creationId xmlns:a16="http://schemas.microsoft.com/office/drawing/2014/main" id="{F9340B69-6ECB-3487-0F0D-831EA0822C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02387" y="2616820"/>
            <a:ext cx="2984404" cy="3436717"/>
          </a:xfrm>
          <a:prstGeom prst="rect">
            <a:avLst/>
          </a:prstGeom>
        </p:spPr>
      </p:pic>
    </p:spTree>
    <p:extLst>
      <p:ext uri="{BB962C8B-B14F-4D97-AF65-F5344CB8AC3E}">
        <p14:creationId xmlns:p14="http://schemas.microsoft.com/office/powerpoint/2010/main" val="2595107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716B6-EBAC-5D6B-D227-CA3F8F386D5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6A9AB4C-3045-4063-B3FC-A010DF02D936}"/>
              </a:ext>
            </a:extLst>
          </p:cNvPr>
          <p:cNvSpPr/>
          <p:nvPr/>
        </p:nvSpPr>
        <p:spPr>
          <a:xfrm>
            <a:off x="728980" y="2616200"/>
            <a:ext cx="5461000" cy="3352800"/>
          </a:xfrm>
          <a:prstGeom prst="rect">
            <a:avLst/>
          </a:prstGeom>
          <a:solidFill>
            <a:srgbClr val="AEBBC4"/>
          </a:solidFill>
          <a:ln w="34925" cap="flat" cmpd="sng" algn="in">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 name="Title 1">
            <a:extLst>
              <a:ext uri="{FF2B5EF4-FFF2-40B4-BE49-F238E27FC236}">
                <a16:creationId xmlns:a16="http://schemas.microsoft.com/office/drawing/2014/main" id="{13BE4017-9D98-C8F7-B580-3DA35C739ACD}"/>
              </a:ext>
            </a:extLst>
          </p:cNvPr>
          <p:cNvSpPr>
            <a:spLocks noGrp="1"/>
          </p:cNvSpPr>
          <p:nvPr>
            <p:ph type="title"/>
          </p:nvPr>
        </p:nvSpPr>
        <p:spPr>
          <a:xfrm>
            <a:off x="982493" y="145915"/>
            <a:ext cx="5204298" cy="521995"/>
          </a:xfrm>
        </p:spPr>
        <p:txBody>
          <a:bodyPr anchor="t">
            <a:normAutofit/>
          </a:bodyPr>
          <a:lstStyle/>
          <a:p>
            <a:r>
              <a:rPr lang="en-IN" sz="1200" dirty="0"/>
              <a:t>MCP Communication Lifecycle</a:t>
            </a:r>
          </a:p>
        </p:txBody>
      </p:sp>
      <p:pic>
        <p:nvPicPr>
          <p:cNvPr id="9" name="Content Placeholder 8">
            <a:extLst>
              <a:ext uri="{FF2B5EF4-FFF2-40B4-BE49-F238E27FC236}">
                <a16:creationId xmlns:a16="http://schemas.microsoft.com/office/drawing/2014/main" id="{D90D6199-4E4A-071C-BF3E-9312071A433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p:blipFill>
        <p:spPr>
          <a:xfrm>
            <a:off x="5796502" y="145915"/>
            <a:ext cx="6178248" cy="6566170"/>
          </a:xfrm>
          <a:prstGeom prst="rect">
            <a:avLst/>
          </a:prstGeom>
          <a:noFill/>
        </p:spPr>
      </p:pic>
      <p:sp>
        <p:nvSpPr>
          <p:cNvPr id="11" name="TextBox 10">
            <a:extLst>
              <a:ext uri="{FF2B5EF4-FFF2-40B4-BE49-F238E27FC236}">
                <a16:creationId xmlns:a16="http://schemas.microsoft.com/office/drawing/2014/main" id="{EAC323B4-161A-4707-4FD8-0C55AF828EDB}"/>
              </a:ext>
            </a:extLst>
          </p:cNvPr>
          <p:cNvSpPr txBox="1"/>
          <p:nvPr/>
        </p:nvSpPr>
        <p:spPr>
          <a:xfrm>
            <a:off x="729532" y="475400"/>
            <a:ext cx="5575852" cy="2185214"/>
          </a:xfrm>
          <a:prstGeom prst="rect">
            <a:avLst/>
          </a:prstGeom>
          <a:noFill/>
        </p:spPr>
        <p:txBody>
          <a:bodyPr wrap="square">
            <a:spAutoFit/>
          </a:bodyPr>
          <a:lstStyle/>
          <a:p>
            <a:r>
              <a:rPr lang="en-IN" sz="1200" b="1" dirty="0"/>
              <a:t>Step 2: Capability Discovery</a:t>
            </a:r>
            <a:br>
              <a:rPr lang="en-IN" sz="1200" dirty="0"/>
            </a:br>
            <a:r>
              <a:rPr lang="en-IN" sz="1200" dirty="0"/>
              <a:t>Once connected, the client asks:</a:t>
            </a:r>
          </a:p>
          <a:p>
            <a:r>
              <a:rPr lang="en-IN" sz="1200" dirty="0"/>
              <a:t>"What can you do?"</a:t>
            </a:r>
          </a:p>
          <a:p>
            <a:r>
              <a:rPr lang="en-IN" sz="1200" dirty="0"/>
              <a:t>Example:</a:t>
            </a:r>
          </a:p>
          <a:p>
            <a:r>
              <a:rPr lang="en-IN" sz="1100" dirty="0"/>
              <a:t>Claude Code</a:t>
            </a:r>
          </a:p>
          <a:p>
            <a:r>
              <a:rPr lang="en-IN" sz="1100" dirty="0"/>
              <a:t>      |</a:t>
            </a:r>
          </a:p>
          <a:p>
            <a:r>
              <a:rPr lang="en-IN" sz="1100" dirty="0"/>
              <a:t>      | tools/list</a:t>
            </a:r>
          </a:p>
          <a:p>
            <a:r>
              <a:rPr lang="en-IN" sz="1100" dirty="0"/>
              <a:t>      |</a:t>
            </a:r>
          </a:p>
          <a:p>
            <a:r>
              <a:rPr lang="en-IN" sz="1100" dirty="0"/>
              <a:t>      v</a:t>
            </a:r>
          </a:p>
          <a:p>
            <a:r>
              <a:rPr lang="en-IN" sz="1100" dirty="0"/>
              <a:t>GitHub MCP Server</a:t>
            </a:r>
          </a:p>
          <a:p>
            <a:br>
              <a:rPr lang="en-IN" sz="1100" dirty="0"/>
            </a:br>
            <a:endParaRPr lang="en-IN" sz="1100" dirty="0"/>
          </a:p>
        </p:txBody>
      </p:sp>
      <p:pic>
        <p:nvPicPr>
          <p:cNvPr id="24" name="Picture 23">
            <a:extLst>
              <a:ext uri="{FF2B5EF4-FFF2-40B4-BE49-F238E27FC236}">
                <a16:creationId xmlns:a16="http://schemas.microsoft.com/office/drawing/2014/main" id="{95025D83-9199-53DD-A509-679D45FBC5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532" y="2616820"/>
            <a:ext cx="3047338" cy="3354610"/>
          </a:xfrm>
          <a:prstGeom prst="rect">
            <a:avLst/>
          </a:prstGeom>
        </p:spPr>
      </p:pic>
      <p:pic>
        <p:nvPicPr>
          <p:cNvPr id="26" name="Picture 25">
            <a:extLst>
              <a:ext uri="{FF2B5EF4-FFF2-40B4-BE49-F238E27FC236}">
                <a16:creationId xmlns:a16="http://schemas.microsoft.com/office/drawing/2014/main" id="{6D8809D4-9AA3-2C59-DDB5-0B7BC9CB91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02387" y="2616820"/>
            <a:ext cx="2984404" cy="3436717"/>
          </a:xfrm>
          <a:prstGeom prst="rect">
            <a:avLst/>
          </a:prstGeom>
        </p:spPr>
      </p:pic>
      <p:sp>
        <p:nvSpPr>
          <p:cNvPr id="4" name="Rectangle 3">
            <a:extLst>
              <a:ext uri="{FF2B5EF4-FFF2-40B4-BE49-F238E27FC236}">
                <a16:creationId xmlns:a16="http://schemas.microsoft.com/office/drawing/2014/main" id="{C21CDCD8-1986-4717-A2BC-BAA16269178B}"/>
              </a:ext>
            </a:extLst>
          </p:cNvPr>
          <p:cNvSpPr/>
          <p:nvPr/>
        </p:nvSpPr>
        <p:spPr>
          <a:xfrm>
            <a:off x="1092200" y="2997200"/>
            <a:ext cx="2413000" cy="2819400"/>
          </a:xfrm>
          <a:prstGeom prst="rect">
            <a:avLst/>
          </a:prstGeom>
          <a:solidFill>
            <a:srgbClr val="FFFFFF"/>
          </a:solidFill>
          <a:ln w="9525" cap="flat" cmpd="sng" algn="in">
            <a:solidFill>
              <a:srgbClr val="E4E7E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Rectangle 4">
            <a:extLst>
              <a:ext uri="{FF2B5EF4-FFF2-40B4-BE49-F238E27FC236}">
                <a16:creationId xmlns:a16="http://schemas.microsoft.com/office/drawing/2014/main" id="{252A68A1-D6B8-411A-8DB0-A3A3A63A910B}"/>
              </a:ext>
            </a:extLst>
          </p:cNvPr>
          <p:cNvSpPr/>
          <p:nvPr/>
        </p:nvSpPr>
        <p:spPr>
          <a:xfrm>
            <a:off x="3657600" y="2997200"/>
            <a:ext cx="2540000" cy="2819400"/>
          </a:xfrm>
          <a:prstGeom prst="rect">
            <a:avLst/>
          </a:prstGeom>
          <a:solidFill>
            <a:srgbClr val="FFFFFF"/>
          </a:solidFill>
          <a:ln w="9525" cap="flat" cmpd="sng" algn="in">
            <a:solidFill>
              <a:srgbClr val="E4E7E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 name="TextBox 5">
            <a:extLst>
              <a:ext uri="{FF2B5EF4-FFF2-40B4-BE49-F238E27FC236}">
                <a16:creationId xmlns:a16="http://schemas.microsoft.com/office/drawing/2014/main" id="{A266DE8C-26C5-4EA4-A985-6C5F2ED661BD}"/>
              </a:ext>
            </a:extLst>
          </p:cNvPr>
          <p:cNvSpPr txBox="1"/>
          <p:nvPr/>
        </p:nvSpPr>
        <p:spPr>
          <a:xfrm>
            <a:off x="1193800" y="3073400"/>
            <a:ext cx="685800" cy="152400"/>
          </a:xfrm>
          <a:prstGeom prst="rect">
            <a:avLst/>
          </a:prstGeom>
          <a:noFill/>
        </p:spPr>
        <p:txBody>
          <a:bodyPr vertOverflow="overflow" vert="horz" wrap="square" rtlCol="0" anchor="t">
            <a:noAutofit/>
          </a:bodyPr>
          <a:lstStyle/>
          <a:p>
            <a:pPr algn="l"/>
            <a:r>
              <a:rPr lang="en-IN" sz="800">
                <a:solidFill>
                  <a:srgbClr val="EF4444"/>
                </a:solidFill>
                <a:latin typeface="Arial"/>
                <a:cs typeface="Arial"/>
              </a:rPr>
              <a:t>● ● ●</a:t>
            </a:r>
          </a:p>
        </p:txBody>
      </p:sp>
      <p:sp>
        <p:nvSpPr>
          <p:cNvPr id="7" name="TextBox 6">
            <a:extLst>
              <a:ext uri="{FF2B5EF4-FFF2-40B4-BE49-F238E27FC236}">
                <a16:creationId xmlns:a16="http://schemas.microsoft.com/office/drawing/2014/main" id="{CC6F98C0-CD4A-4DD3-9658-E14F9F86D741}"/>
              </a:ext>
            </a:extLst>
          </p:cNvPr>
          <p:cNvSpPr txBox="1"/>
          <p:nvPr/>
        </p:nvSpPr>
        <p:spPr>
          <a:xfrm>
            <a:off x="3759200" y="3073400"/>
            <a:ext cx="685800" cy="152400"/>
          </a:xfrm>
          <a:prstGeom prst="rect">
            <a:avLst/>
          </a:prstGeom>
          <a:noFill/>
        </p:spPr>
        <p:txBody>
          <a:bodyPr vertOverflow="overflow" vert="horz" wrap="square" rtlCol="0" anchor="t">
            <a:noAutofit/>
          </a:bodyPr>
          <a:lstStyle/>
          <a:p>
            <a:pPr algn="l"/>
            <a:r>
              <a:rPr lang="en-IN" sz="800">
                <a:solidFill>
                  <a:srgbClr val="EF4444"/>
                </a:solidFill>
                <a:latin typeface="Arial"/>
                <a:cs typeface="Arial"/>
              </a:rPr>
              <a:t>● ● ●</a:t>
            </a:r>
          </a:p>
        </p:txBody>
      </p:sp>
      <p:sp>
        <p:nvSpPr>
          <p:cNvPr id="8" name="TextBox 7">
            <a:extLst>
              <a:ext uri="{FF2B5EF4-FFF2-40B4-BE49-F238E27FC236}">
                <a16:creationId xmlns:a16="http://schemas.microsoft.com/office/drawing/2014/main" id="{9CDFD0F7-61FB-48DD-981C-D6C834FD25CA}"/>
              </a:ext>
            </a:extLst>
          </p:cNvPr>
          <p:cNvSpPr txBox="1"/>
          <p:nvPr/>
        </p:nvSpPr>
        <p:spPr>
          <a:xfrm>
            <a:off x="1193800" y="3327400"/>
            <a:ext cx="2209800" cy="2387600"/>
          </a:xfrm>
          <a:prstGeom prst="rect">
            <a:avLst/>
          </a:prstGeom>
          <a:noFill/>
        </p:spPr>
        <p:txBody>
          <a:bodyPr vertOverflow="overflow" vert="horz" wrap="square" rtlCol="0" anchor="t">
            <a:noAutofit/>
          </a:bodyPr>
          <a:lstStyle/>
          <a:p>
            <a:pPr algn="l"/>
            <a:r>
              <a:rPr lang="en-US" sz="720">
                <a:solidFill>
                  <a:srgbClr val="E36B6B"/>
                </a:solidFill>
                <a:latin typeface="Courier New"/>
                <a:cs typeface="Courier New"/>
              </a:rPr>
              <a:t>#tools/list Request
#Client → Server</a:t>
            </a:r>
            <a:r>
              <a:rPr lang="en-US" sz="720">
                <a:solidFill>
                  <a:srgbClr val="3B7A3D"/>
                </a:solidFill>
                <a:latin typeface="Courier New"/>
                <a:cs typeface="Courier New"/>
              </a:rPr>
              <a:t>
{
  "jsonrpc": "2.0",
  "id": 2,
  "method": "tools/list",
  "params": {}
}</a:t>
            </a:r>
            <a:endParaRPr lang="en-IN" sz="720">
              <a:solidFill>
                <a:srgbClr val="3B7A3D"/>
              </a:solidFill>
              <a:latin typeface="Courier New"/>
              <a:cs typeface="Courier New"/>
            </a:endParaRPr>
          </a:p>
        </p:txBody>
      </p:sp>
      <p:sp>
        <p:nvSpPr>
          <p:cNvPr id="10" name="TextBox 9">
            <a:extLst>
              <a:ext uri="{FF2B5EF4-FFF2-40B4-BE49-F238E27FC236}">
                <a16:creationId xmlns:a16="http://schemas.microsoft.com/office/drawing/2014/main" id="{CC7EB875-D705-4D4F-8F32-26A831CF5F88}"/>
              </a:ext>
            </a:extLst>
          </p:cNvPr>
          <p:cNvSpPr txBox="1"/>
          <p:nvPr/>
        </p:nvSpPr>
        <p:spPr>
          <a:xfrm>
            <a:off x="3759200" y="3327400"/>
            <a:ext cx="2336800" cy="2387600"/>
          </a:xfrm>
          <a:prstGeom prst="rect">
            <a:avLst/>
          </a:prstGeom>
          <a:noFill/>
        </p:spPr>
        <p:txBody>
          <a:bodyPr vertOverflow="overflow" vert="horz" wrap="square" rtlCol="0" anchor="t">
            <a:noAutofit/>
          </a:bodyPr>
          <a:lstStyle/>
          <a:p>
            <a:pPr algn="l"/>
            <a:r>
              <a:rPr lang="en-IN" sz="700">
                <a:solidFill>
                  <a:srgbClr val="E36B6B"/>
                </a:solidFill>
                <a:latin typeface="Courier New"/>
                <a:cs typeface="Courier New"/>
              </a:rPr>
              <a:t>tools/list Response
Server → Client</a:t>
            </a:r>
            <a:r>
              <a:rPr lang="en-IN" sz="700">
                <a:solidFill>
                  <a:srgbClr val="3B7A3D"/>
                </a:solidFill>
                <a:latin typeface="Courier New"/>
                <a:cs typeface="Courier New"/>
              </a:rPr>
              <a:t>
{
  "jsonrpc": "2.0",
  "id": 2,
  "result": {
    "tools": [
      { "name": "create_issue" },
      { "name": "list_prs" }
    ]
  }
}</a:t>
            </a:r>
          </a:p>
        </p:txBody>
      </p:sp>
      <p:sp>
        <p:nvSpPr>
          <p:cNvPr id="12" name="TextBox 11">
            <a:extLst>
              <a:ext uri="{FF2B5EF4-FFF2-40B4-BE49-F238E27FC236}">
                <a16:creationId xmlns:a16="http://schemas.microsoft.com/office/drawing/2014/main" id="{9DB809B8-ACAF-472E-8AB5-38B7231A6DEC}"/>
              </a:ext>
            </a:extLst>
          </p:cNvPr>
          <p:cNvSpPr txBox="1"/>
          <p:nvPr/>
        </p:nvSpPr>
        <p:spPr>
          <a:xfrm>
            <a:off x="729488" y="475361"/>
            <a:ext cx="5334000" cy="1841500"/>
          </a:xfrm>
          <a:prstGeom prst="rect">
            <a:avLst/>
          </a:prstGeom>
          <a:noFill/>
        </p:spPr>
        <p:txBody>
          <a:bodyPr vertOverflow="overflow" vert="horz" wrap="square" rtlCol="0" anchor="t">
            <a:noAutofit/>
          </a:bodyPr>
          <a:lstStyle/>
          <a:p>
            <a:pPr algn="l"/>
            <a:r>
              <a:rPr lang="en-US" sz="1050" b="1">
                <a:solidFill>
                  <a:srgbClr val="000000"/>
                </a:solidFill>
                <a:latin typeface="Arial"/>
                <a:cs typeface="Arial"/>
              </a:rPr>
              <a:t>Step 2. Capability Discovery</a:t>
            </a:r>
            <a:r>
              <a:rPr lang="en-US" sz="1050">
                <a:solidFill>
                  <a:srgbClr val="000000"/>
                </a:solidFill>
                <a:latin typeface="Arial"/>
                <a:cs typeface="Arial"/>
              </a:rPr>
              <a:t>
Once connected, the client asks:
“What can you do?”
Claude Code sends tools/list to the GitHub MCP Server.
The server returns a catalog of available tools, including create_issue() and list_prs().</a:t>
            </a:r>
            <a:endParaRPr lang="en-IN" sz="1050">
              <a:solidFill>
                <a:srgbClr val="000000"/>
              </a:solidFill>
              <a:latin typeface="Arial"/>
              <a:cs typeface="Arial"/>
            </a:endParaRPr>
          </a:p>
        </p:txBody>
      </p:sp>
      <p:sp>
        <p:nvSpPr>
          <p:cNvPr id="13" name="Rectangle 12">
            <a:extLst>
              <a:ext uri="{FF2B5EF4-FFF2-40B4-BE49-F238E27FC236}">
                <a16:creationId xmlns:a16="http://schemas.microsoft.com/office/drawing/2014/main" id="{F8AD821A-4495-4593-8C30-3E937B3AA429}"/>
              </a:ext>
            </a:extLst>
          </p:cNvPr>
          <p:cNvSpPr/>
          <p:nvPr/>
        </p:nvSpPr>
        <p:spPr>
          <a:xfrm>
            <a:off x="635000" y="457200"/>
            <a:ext cx="5461000" cy="2108200"/>
          </a:xfrm>
          <a:prstGeom prst="rect">
            <a:avLst/>
          </a:prstGeom>
          <a:solidFill>
            <a:srgbClr val="EEECE1"/>
          </a:solidFill>
          <a:ln w="34925" cap="flat" cmpd="sng" algn="in">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4" name="TextBox 13">
            <a:extLst>
              <a:ext uri="{FF2B5EF4-FFF2-40B4-BE49-F238E27FC236}">
                <a16:creationId xmlns:a16="http://schemas.microsoft.com/office/drawing/2014/main" id="{7C6DA975-BAE8-4C3E-8EBA-E5AE5A7977F3}"/>
              </a:ext>
            </a:extLst>
          </p:cNvPr>
          <p:cNvSpPr txBox="1"/>
          <p:nvPr/>
        </p:nvSpPr>
        <p:spPr>
          <a:xfrm>
            <a:off x="729488" y="546100"/>
            <a:ext cx="5308600" cy="1905000"/>
          </a:xfrm>
          <a:prstGeom prst="rect">
            <a:avLst/>
          </a:prstGeom>
          <a:noFill/>
        </p:spPr>
        <p:txBody>
          <a:bodyPr vertOverflow="overflow" vert="horz" wrap="square" rtlCol="0" anchor="t">
            <a:noAutofit/>
          </a:bodyPr>
          <a:lstStyle/>
          <a:p>
            <a:pPr algn="l"/>
            <a:r>
              <a:rPr lang="en-US" sz="1050" b="1">
                <a:solidFill>
                  <a:srgbClr val="000000"/>
                </a:solidFill>
                <a:latin typeface="Arial"/>
                <a:cs typeface="Arial"/>
              </a:rPr>
              <a:t>Step 2. Capability Discovery</a:t>
            </a:r>
            <a:r>
              <a:rPr lang="en-US" sz="1050">
                <a:solidFill>
                  <a:srgbClr val="000000"/>
                </a:solidFill>
                <a:latin typeface="Arial"/>
                <a:cs typeface="Arial"/>
              </a:rPr>
              <a:t>
Once connected, the client asks:
“What can you do?”
Claude Code sends tools/list to the GitHub MCP Server.
The server returns a catalog of available tools, including create_issue() and list_prs().</a:t>
            </a:r>
            <a:endParaRPr lang="en-IN" sz="1050">
              <a:solidFill>
                <a:srgbClr val="000000"/>
              </a:solidFill>
              <a:latin typeface="Arial"/>
              <a:cs typeface="Arial"/>
            </a:endParaRPr>
          </a:p>
        </p:txBody>
      </p:sp>
      <p:sp>
        <p:nvSpPr>
          <p:cNvPr id="15" name="Rectangle 14">
            <a:extLst>
              <a:ext uri="{FF2B5EF4-FFF2-40B4-BE49-F238E27FC236}">
                <a16:creationId xmlns:a16="http://schemas.microsoft.com/office/drawing/2014/main" id="{372B7E28-A691-4B48-8C84-06124BB5FFC1}"/>
              </a:ext>
            </a:extLst>
          </p:cNvPr>
          <p:cNvSpPr/>
          <p:nvPr/>
        </p:nvSpPr>
        <p:spPr>
          <a:xfrm>
            <a:off x="728980" y="2616200"/>
            <a:ext cx="5461000" cy="3352800"/>
          </a:xfrm>
          <a:prstGeom prst="rect">
            <a:avLst/>
          </a:prstGeom>
          <a:solidFill>
            <a:srgbClr val="AEBBC4"/>
          </a:solidFill>
          <a:ln w="34925" cap="flat" cmpd="sng" algn="in">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6" name="Rectangle 15">
            <a:extLst>
              <a:ext uri="{FF2B5EF4-FFF2-40B4-BE49-F238E27FC236}">
                <a16:creationId xmlns:a16="http://schemas.microsoft.com/office/drawing/2014/main" id="{145B268C-236C-49F8-ADF1-C82DE420467A}"/>
              </a:ext>
            </a:extLst>
          </p:cNvPr>
          <p:cNvSpPr/>
          <p:nvPr/>
        </p:nvSpPr>
        <p:spPr>
          <a:xfrm>
            <a:off x="1092200" y="2997200"/>
            <a:ext cx="2413000" cy="2819400"/>
          </a:xfrm>
          <a:prstGeom prst="rect">
            <a:avLst/>
          </a:prstGeom>
          <a:solidFill>
            <a:srgbClr val="FFFFFF"/>
          </a:solidFill>
          <a:ln w="9525" cap="flat" cmpd="sng" algn="in">
            <a:solidFill>
              <a:srgbClr val="E4E7E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7" name="Rectangle 16">
            <a:extLst>
              <a:ext uri="{FF2B5EF4-FFF2-40B4-BE49-F238E27FC236}">
                <a16:creationId xmlns:a16="http://schemas.microsoft.com/office/drawing/2014/main" id="{78B0856E-BBA0-4952-88EE-52D5455BDB3E}"/>
              </a:ext>
            </a:extLst>
          </p:cNvPr>
          <p:cNvSpPr/>
          <p:nvPr/>
        </p:nvSpPr>
        <p:spPr>
          <a:xfrm>
            <a:off x="3657600" y="2997200"/>
            <a:ext cx="2540000" cy="2819400"/>
          </a:xfrm>
          <a:prstGeom prst="rect">
            <a:avLst/>
          </a:prstGeom>
          <a:solidFill>
            <a:srgbClr val="FFFFFF"/>
          </a:solidFill>
          <a:ln w="9525" cap="flat" cmpd="sng" algn="in">
            <a:solidFill>
              <a:srgbClr val="E4E7E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8" name="TextBox 17">
            <a:extLst>
              <a:ext uri="{FF2B5EF4-FFF2-40B4-BE49-F238E27FC236}">
                <a16:creationId xmlns:a16="http://schemas.microsoft.com/office/drawing/2014/main" id="{3CDB4ACA-3D25-4841-A608-801820204939}"/>
              </a:ext>
            </a:extLst>
          </p:cNvPr>
          <p:cNvSpPr txBox="1"/>
          <p:nvPr/>
        </p:nvSpPr>
        <p:spPr>
          <a:xfrm>
            <a:off x="1193800" y="3073400"/>
            <a:ext cx="685800" cy="152400"/>
          </a:xfrm>
          <a:prstGeom prst="rect">
            <a:avLst/>
          </a:prstGeom>
          <a:noFill/>
        </p:spPr>
        <p:txBody>
          <a:bodyPr vertOverflow="overflow" vert="horz" wrap="square" rtlCol="0" anchor="t">
            <a:noAutofit/>
          </a:bodyPr>
          <a:lstStyle/>
          <a:p>
            <a:pPr algn="l"/>
            <a:r>
              <a:rPr lang="en-IN" sz="800">
                <a:solidFill>
                  <a:srgbClr val="EF4444"/>
                </a:solidFill>
                <a:latin typeface="Arial"/>
                <a:cs typeface="Arial"/>
              </a:rPr>
              <a:t>● ● ●</a:t>
            </a:r>
          </a:p>
        </p:txBody>
      </p:sp>
      <p:sp>
        <p:nvSpPr>
          <p:cNvPr id="19" name="TextBox 18">
            <a:extLst>
              <a:ext uri="{FF2B5EF4-FFF2-40B4-BE49-F238E27FC236}">
                <a16:creationId xmlns:a16="http://schemas.microsoft.com/office/drawing/2014/main" id="{AFCFC5FD-0B3F-4B59-AE65-F21202FDB7CD}"/>
              </a:ext>
            </a:extLst>
          </p:cNvPr>
          <p:cNvSpPr txBox="1"/>
          <p:nvPr/>
        </p:nvSpPr>
        <p:spPr>
          <a:xfrm>
            <a:off x="3759200" y="3073400"/>
            <a:ext cx="685800" cy="152400"/>
          </a:xfrm>
          <a:prstGeom prst="rect">
            <a:avLst/>
          </a:prstGeom>
          <a:noFill/>
        </p:spPr>
        <p:txBody>
          <a:bodyPr vertOverflow="overflow" vert="horz" wrap="square" rtlCol="0" anchor="t">
            <a:noAutofit/>
          </a:bodyPr>
          <a:lstStyle/>
          <a:p>
            <a:pPr algn="l"/>
            <a:r>
              <a:rPr lang="en-IN" sz="800">
                <a:solidFill>
                  <a:srgbClr val="EF4444"/>
                </a:solidFill>
                <a:latin typeface="Arial"/>
                <a:cs typeface="Arial"/>
              </a:rPr>
              <a:t>● ● ●</a:t>
            </a:r>
          </a:p>
        </p:txBody>
      </p:sp>
      <p:sp>
        <p:nvSpPr>
          <p:cNvPr id="20" name="TextBox 19">
            <a:extLst>
              <a:ext uri="{FF2B5EF4-FFF2-40B4-BE49-F238E27FC236}">
                <a16:creationId xmlns:a16="http://schemas.microsoft.com/office/drawing/2014/main" id="{FF21B801-E1A2-4330-8422-17C3B6BE4E46}"/>
              </a:ext>
            </a:extLst>
          </p:cNvPr>
          <p:cNvSpPr txBox="1"/>
          <p:nvPr/>
        </p:nvSpPr>
        <p:spPr>
          <a:xfrm>
            <a:off x="1193800" y="3327400"/>
            <a:ext cx="2209800" cy="2387600"/>
          </a:xfrm>
          <a:prstGeom prst="rect">
            <a:avLst/>
          </a:prstGeom>
          <a:noFill/>
        </p:spPr>
        <p:txBody>
          <a:bodyPr vertOverflow="overflow" vert="horz" wrap="square" rtlCol="0" anchor="t">
            <a:noAutofit/>
          </a:bodyPr>
          <a:lstStyle/>
          <a:p>
            <a:pPr algn="l"/>
            <a:r>
              <a:rPr lang="en-US" sz="710">
                <a:solidFill>
                  <a:srgbClr val="E36B6B"/>
                </a:solidFill>
                <a:latin typeface="Courier New"/>
                <a:cs typeface="Courier New"/>
              </a:rPr>
              <a:t>#tools/list Request
#Client → Server</a:t>
            </a:r>
            <a:r>
              <a:rPr lang="en-US" sz="710">
                <a:solidFill>
                  <a:srgbClr val="2F6B39"/>
                </a:solidFill>
                <a:latin typeface="Courier New"/>
                <a:cs typeface="Courier New"/>
              </a:rPr>
              <a:t>
{
  "jsonrpc": "2.0",
  "id": 2,
  "method": "tools/list",
  "params": {}
}</a:t>
            </a:r>
            <a:endParaRPr lang="en-IN" sz="710">
              <a:solidFill>
                <a:srgbClr val="2F6B39"/>
              </a:solidFill>
              <a:latin typeface="Courier New"/>
              <a:cs typeface="Courier New"/>
            </a:endParaRPr>
          </a:p>
        </p:txBody>
      </p:sp>
      <p:sp>
        <p:nvSpPr>
          <p:cNvPr id="21" name="TextBox 20">
            <a:extLst>
              <a:ext uri="{FF2B5EF4-FFF2-40B4-BE49-F238E27FC236}">
                <a16:creationId xmlns:a16="http://schemas.microsoft.com/office/drawing/2014/main" id="{20B79791-CDE6-433B-A769-B47964D7A226}"/>
              </a:ext>
            </a:extLst>
          </p:cNvPr>
          <p:cNvSpPr txBox="1"/>
          <p:nvPr/>
        </p:nvSpPr>
        <p:spPr>
          <a:xfrm>
            <a:off x="3759200" y="3327400"/>
            <a:ext cx="2336800" cy="2387600"/>
          </a:xfrm>
          <a:prstGeom prst="rect">
            <a:avLst/>
          </a:prstGeom>
          <a:noFill/>
        </p:spPr>
        <p:txBody>
          <a:bodyPr vertOverflow="overflow" vert="horz" wrap="square" rtlCol="0" anchor="t">
            <a:noAutofit/>
          </a:bodyPr>
          <a:lstStyle/>
          <a:p>
            <a:pPr algn="l"/>
            <a:r>
              <a:rPr lang="en-IN" sz="690">
                <a:solidFill>
                  <a:srgbClr val="E36B6B"/>
                </a:solidFill>
                <a:latin typeface="Courier New"/>
                <a:cs typeface="Courier New"/>
              </a:rPr>
              <a:t>tools/list Response
Server → Client</a:t>
            </a:r>
            <a:r>
              <a:rPr lang="en-IN" sz="690">
                <a:solidFill>
                  <a:srgbClr val="2F6B39"/>
                </a:solidFill>
                <a:latin typeface="Courier New"/>
                <a:cs typeface="Courier New"/>
              </a:rPr>
              <a:t>
{
  "jsonrpc": "2.0",
  "id": 2,
  "result": {
    "tools": [
      { "name": "create_issue" },
      { "name": "list_prs" }
    ]
  }
}</a:t>
            </a:r>
          </a:p>
        </p:txBody>
      </p:sp>
    </p:spTree>
    <p:extLst>
      <p:ext uri="{BB962C8B-B14F-4D97-AF65-F5344CB8AC3E}">
        <p14:creationId xmlns:p14="http://schemas.microsoft.com/office/powerpoint/2010/main" val="1111234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CEDC476-AC82-499C-806A-EC8714CBD574}"/>
              </a:ext>
            </a:extLst>
          </p:cNvPr>
          <p:cNvSpPr/>
          <p:nvPr/>
        </p:nvSpPr>
        <p:spPr>
          <a:xfrm>
            <a:off x="728980" y="2616200"/>
            <a:ext cx="5461000" cy="3352800"/>
          </a:xfrm>
          <a:prstGeom prst="rect">
            <a:avLst/>
          </a:prstGeom>
          <a:solidFill>
            <a:srgbClr val="AEBBC4"/>
          </a:solidFill>
          <a:ln w="34925" cap="flat" cmpd="sng" algn="in">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 name="Title 1">
            <a:extLst>
              <a:ext uri="{FF2B5EF4-FFF2-40B4-BE49-F238E27FC236}">
                <a16:creationId xmlns:a16="http://schemas.microsoft.com/office/drawing/2014/main" id="{EAB9F15A-CAFC-0FEA-2AD7-D0E3FD809CF7}"/>
              </a:ext>
            </a:extLst>
          </p:cNvPr>
          <p:cNvSpPr>
            <a:spLocks noGrp="1"/>
          </p:cNvSpPr>
          <p:nvPr>
            <p:ph type="title"/>
          </p:nvPr>
        </p:nvSpPr>
        <p:spPr>
          <a:xfrm>
            <a:off x="982493" y="145915"/>
            <a:ext cx="5204298" cy="521995"/>
          </a:xfrm>
        </p:spPr>
        <p:txBody>
          <a:bodyPr anchor="t">
            <a:normAutofit/>
          </a:bodyPr>
          <a:lstStyle/>
          <a:p>
            <a:r>
              <a:rPr lang="en-IN" sz="1200" dirty="0"/>
              <a:t>MCP Communication Lifecycle</a:t>
            </a:r>
          </a:p>
        </p:txBody>
      </p:sp>
      <p:pic>
        <p:nvPicPr>
          <p:cNvPr id="9" name="Content Placeholder 8">
            <a:extLst>
              <a:ext uri="{FF2B5EF4-FFF2-40B4-BE49-F238E27FC236}">
                <a16:creationId xmlns:a16="http://schemas.microsoft.com/office/drawing/2014/main" id="{88BF5770-C879-AFC3-A894-C576ED432F8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p:blipFill>
        <p:spPr>
          <a:xfrm>
            <a:off x="5796502" y="145915"/>
            <a:ext cx="6178248" cy="6566170"/>
          </a:xfrm>
          <a:prstGeom prst="rect">
            <a:avLst/>
          </a:prstGeom>
          <a:noFill/>
        </p:spPr>
      </p:pic>
      <p:sp>
        <p:nvSpPr>
          <p:cNvPr id="11" name="TextBox 10">
            <a:extLst>
              <a:ext uri="{FF2B5EF4-FFF2-40B4-BE49-F238E27FC236}">
                <a16:creationId xmlns:a16="http://schemas.microsoft.com/office/drawing/2014/main" id="{FC1A1B8C-739B-DAD6-A85F-A7DF828F3999}"/>
              </a:ext>
            </a:extLst>
          </p:cNvPr>
          <p:cNvSpPr txBox="1"/>
          <p:nvPr/>
        </p:nvSpPr>
        <p:spPr>
          <a:xfrm>
            <a:off x="729532" y="475400"/>
            <a:ext cx="5575852" cy="1754326"/>
          </a:xfrm>
          <a:prstGeom prst="rect">
            <a:avLst/>
          </a:prstGeom>
          <a:noFill/>
        </p:spPr>
        <p:txBody>
          <a:bodyPr wrap="square">
            <a:spAutoFit/>
          </a:bodyPr>
          <a:lstStyle/>
          <a:p>
            <a:r>
              <a:rPr lang="en-IN" sz="1200" b="1" dirty="0"/>
              <a:t>Step 1: Connection &amp; Initialization</a:t>
            </a:r>
            <a:br>
              <a:rPr lang="en-IN" sz="1200" dirty="0"/>
            </a:br>
            <a:r>
              <a:rPr lang="en-IN" sz="1200" dirty="0"/>
              <a:t>Before any tool can be used, the client and server perform a handshake.</a:t>
            </a:r>
          </a:p>
          <a:p>
            <a:r>
              <a:rPr lang="en-IN" sz="1200" dirty="0"/>
              <a:t>The client introduces itself and asks:</a:t>
            </a:r>
          </a:p>
          <a:p>
            <a:r>
              <a:rPr lang="en-IN" sz="1200" dirty="0"/>
              <a:t>"Can we communicate? What do you support?“</a:t>
            </a:r>
            <a:br>
              <a:rPr lang="en-IN" sz="1200" dirty="0"/>
            </a:br>
            <a:r>
              <a:rPr lang="en-IN" sz="1200" dirty="0"/>
              <a:t>The client tells the server:</a:t>
            </a:r>
          </a:p>
          <a:p>
            <a:r>
              <a:rPr lang="en-IN" sz="1200" dirty="0"/>
              <a:t>Who it is</a:t>
            </a:r>
          </a:p>
          <a:p>
            <a:r>
              <a:rPr lang="en-IN" sz="1200" dirty="0"/>
              <a:t>Which MCP version it supports</a:t>
            </a:r>
          </a:p>
          <a:p>
            <a:r>
              <a:rPr lang="en-IN" sz="1200" dirty="0"/>
              <a:t>What capabilities it has</a:t>
            </a:r>
            <a:br>
              <a:rPr lang="en-IN" sz="1200" dirty="0"/>
            </a:br>
            <a:endParaRPr lang="en-IN" sz="1200" dirty="0"/>
          </a:p>
        </p:txBody>
      </p:sp>
      <p:pic>
        <p:nvPicPr>
          <p:cNvPr id="24" name="Picture 23">
            <a:extLst>
              <a:ext uri="{FF2B5EF4-FFF2-40B4-BE49-F238E27FC236}">
                <a16:creationId xmlns:a16="http://schemas.microsoft.com/office/drawing/2014/main" id="{DE554D76-CDE3-3975-6C74-21D7781393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532" y="2616820"/>
            <a:ext cx="3047338" cy="3354610"/>
          </a:xfrm>
          <a:prstGeom prst="rect">
            <a:avLst/>
          </a:prstGeom>
        </p:spPr>
      </p:pic>
      <p:pic>
        <p:nvPicPr>
          <p:cNvPr id="26" name="Picture 25">
            <a:extLst>
              <a:ext uri="{FF2B5EF4-FFF2-40B4-BE49-F238E27FC236}">
                <a16:creationId xmlns:a16="http://schemas.microsoft.com/office/drawing/2014/main" id="{F9340B69-6ECB-3487-0F0D-831EA0822C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02387" y="2616820"/>
            <a:ext cx="2984404" cy="3436717"/>
          </a:xfrm>
          <a:prstGeom prst="rect">
            <a:avLst/>
          </a:prstGeom>
        </p:spPr>
      </p:pic>
      <p:sp>
        <p:nvSpPr>
          <p:cNvPr id="4" name="Rectangle 3">
            <a:extLst>
              <a:ext uri="{FF2B5EF4-FFF2-40B4-BE49-F238E27FC236}">
                <a16:creationId xmlns:a16="http://schemas.microsoft.com/office/drawing/2014/main" id="{44B37F22-F5C9-4B90-B015-17EFD6CDB281}"/>
              </a:ext>
            </a:extLst>
          </p:cNvPr>
          <p:cNvSpPr/>
          <p:nvPr/>
        </p:nvSpPr>
        <p:spPr>
          <a:xfrm>
            <a:off x="1092200" y="2997200"/>
            <a:ext cx="2413000" cy="2819400"/>
          </a:xfrm>
          <a:prstGeom prst="rect">
            <a:avLst/>
          </a:prstGeom>
          <a:solidFill>
            <a:srgbClr val="FFFFFF"/>
          </a:solidFill>
          <a:ln w="9525" cap="flat" cmpd="sng" algn="in">
            <a:solidFill>
              <a:srgbClr val="E4E7E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Rectangle 4">
            <a:extLst>
              <a:ext uri="{FF2B5EF4-FFF2-40B4-BE49-F238E27FC236}">
                <a16:creationId xmlns:a16="http://schemas.microsoft.com/office/drawing/2014/main" id="{65364CD8-FA29-4043-9F31-F938C9802E8C}"/>
              </a:ext>
            </a:extLst>
          </p:cNvPr>
          <p:cNvSpPr/>
          <p:nvPr/>
        </p:nvSpPr>
        <p:spPr>
          <a:xfrm>
            <a:off x="3657600" y="2997200"/>
            <a:ext cx="2540000" cy="2819400"/>
          </a:xfrm>
          <a:prstGeom prst="rect">
            <a:avLst/>
          </a:prstGeom>
          <a:solidFill>
            <a:srgbClr val="FFFFFF"/>
          </a:solidFill>
          <a:ln w="9525" cap="flat" cmpd="sng" algn="in">
            <a:solidFill>
              <a:srgbClr val="E4E7E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 name="TextBox 5">
            <a:extLst>
              <a:ext uri="{FF2B5EF4-FFF2-40B4-BE49-F238E27FC236}">
                <a16:creationId xmlns:a16="http://schemas.microsoft.com/office/drawing/2014/main" id="{0EFEF293-2A7D-4120-AEFC-76CBB08EDE8A}"/>
              </a:ext>
            </a:extLst>
          </p:cNvPr>
          <p:cNvSpPr txBox="1"/>
          <p:nvPr/>
        </p:nvSpPr>
        <p:spPr>
          <a:xfrm>
            <a:off x="1193800" y="3073400"/>
            <a:ext cx="685800" cy="152400"/>
          </a:xfrm>
          <a:prstGeom prst="rect">
            <a:avLst/>
          </a:prstGeom>
          <a:noFill/>
        </p:spPr>
        <p:txBody>
          <a:bodyPr vertOverflow="overflow" vert="horz" wrap="square" rtlCol="0" anchor="t">
            <a:noAutofit/>
          </a:bodyPr>
          <a:lstStyle/>
          <a:p>
            <a:pPr algn="l"/>
            <a:r>
              <a:rPr lang="en-IN" sz="800">
                <a:solidFill>
                  <a:srgbClr val="EF4444"/>
                </a:solidFill>
                <a:latin typeface="Arial"/>
                <a:cs typeface="Arial"/>
              </a:rPr>
              <a:t>● ● ●</a:t>
            </a:r>
          </a:p>
        </p:txBody>
      </p:sp>
      <p:sp>
        <p:nvSpPr>
          <p:cNvPr id="7" name="TextBox 6">
            <a:extLst>
              <a:ext uri="{FF2B5EF4-FFF2-40B4-BE49-F238E27FC236}">
                <a16:creationId xmlns:a16="http://schemas.microsoft.com/office/drawing/2014/main" id="{462FDD94-A5F3-40CF-A0CB-3D6DBE1FCF74}"/>
              </a:ext>
            </a:extLst>
          </p:cNvPr>
          <p:cNvSpPr txBox="1"/>
          <p:nvPr/>
        </p:nvSpPr>
        <p:spPr>
          <a:xfrm>
            <a:off x="3759200" y="3073400"/>
            <a:ext cx="685800" cy="152400"/>
          </a:xfrm>
          <a:prstGeom prst="rect">
            <a:avLst/>
          </a:prstGeom>
          <a:noFill/>
        </p:spPr>
        <p:txBody>
          <a:bodyPr vertOverflow="overflow" vert="horz" wrap="square" rtlCol="0" anchor="t">
            <a:noAutofit/>
          </a:bodyPr>
          <a:lstStyle/>
          <a:p>
            <a:pPr algn="l"/>
            <a:r>
              <a:rPr lang="en-IN" sz="800">
                <a:solidFill>
                  <a:srgbClr val="EF4444"/>
                </a:solidFill>
                <a:latin typeface="Arial"/>
                <a:cs typeface="Arial"/>
              </a:rPr>
              <a:t>● ● ●</a:t>
            </a:r>
          </a:p>
        </p:txBody>
      </p:sp>
      <p:sp>
        <p:nvSpPr>
          <p:cNvPr id="8" name="TextBox 7">
            <a:extLst>
              <a:ext uri="{FF2B5EF4-FFF2-40B4-BE49-F238E27FC236}">
                <a16:creationId xmlns:a16="http://schemas.microsoft.com/office/drawing/2014/main" id="{936A29C5-DDB0-4C1A-8B3F-4F29079DAFD7}"/>
              </a:ext>
            </a:extLst>
          </p:cNvPr>
          <p:cNvSpPr txBox="1"/>
          <p:nvPr/>
        </p:nvSpPr>
        <p:spPr>
          <a:xfrm>
            <a:off x="1193800" y="3327400"/>
            <a:ext cx="2209800" cy="2387600"/>
          </a:xfrm>
          <a:prstGeom prst="rect">
            <a:avLst/>
          </a:prstGeom>
          <a:noFill/>
        </p:spPr>
        <p:txBody>
          <a:bodyPr vertOverflow="overflow" vert="horz" wrap="square" rtlCol="0" anchor="t">
            <a:noAutofit/>
          </a:bodyPr>
          <a:lstStyle/>
          <a:p>
            <a:pPr algn="l"/>
            <a:r>
              <a:rPr lang="en-IN" sz="720">
                <a:solidFill>
                  <a:srgbClr val="E36B6B"/>
                </a:solidFill>
                <a:latin typeface="Courier New"/>
                <a:cs typeface="Courier New"/>
              </a:rPr>
              <a:t>#User Intent
#Host → MCP Client</a:t>
            </a:r>
            <a:r>
              <a:rPr lang="en-IN" sz="720">
                <a:solidFill>
                  <a:srgbClr val="3B7A3D"/>
                </a:solidFill>
                <a:latin typeface="Courier New"/>
                <a:cs typeface="Courier New"/>
              </a:rPr>
              <a:t>
{
  "intent": "create issue",
  "selectedTool": "create_issue",
  "arguments": {
    "title": "Login bug",
    "body": "Users cannot sign in",
    "labels": ["bug"]
  }
}</a:t>
            </a:r>
          </a:p>
        </p:txBody>
      </p:sp>
      <p:sp>
        <p:nvSpPr>
          <p:cNvPr id="10" name="TextBox 9">
            <a:extLst>
              <a:ext uri="{FF2B5EF4-FFF2-40B4-BE49-F238E27FC236}">
                <a16:creationId xmlns:a16="http://schemas.microsoft.com/office/drawing/2014/main" id="{1FF74E0E-299A-40D0-9C15-E5D859DEDACC}"/>
              </a:ext>
            </a:extLst>
          </p:cNvPr>
          <p:cNvSpPr txBox="1"/>
          <p:nvPr/>
        </p:nvSpPr>
        <p:spPr>
          <a:xfrm>
            <a:off x="3759200" y="3327400"/>
            <a:ext cx="2336800" cy="2387600"/>
          </a:xfrm>
          <a:prstGeom prst="rect">
            <a:avLst/>
          </a:prstGeom>
          <a:noFill/>
        </p:spPr>
        <p:txBody>
          <a:bodyPr vertOverflow="overflow" vert="horz" wrap="square" rtlCol="0" anchor="t">
            <a:noAutofit/>
          </a:bodyPr>
          <a:lstStyle/>
          <a:p>
            <a:pPr algn="l"/>
            <a:r>
              <a:rPr lang="en-US" sz="700">
                <a:solidFill>
                  <a:srgbClr val="E36B6B"/>
                </a:solidFill>
                <a:latin typeface="Courier New"/>
                <a:cs typeface="Courier New"/>
              </a:rPr>
              <a:t>Decision Result
MCP Client Ready</a:t>
            </a:r>
            <a:r>
              <a:rPr lang="en-US" sz="700">
                <a:solidFill>
                  <a:srgbClr val="3B7A3D"/>
                </a:solidFill>
                <a:latin typeface="Courier New"/>
                <a:cs typeface="Courier New"/>
              </a:rPr>
              <a:t>
{
  "readyToCall": true,
  "method": "tools/call",
  "name": "create_issue",
  "nextStep": "invoke server"
}</a:t>
            </a:r>
            <a:endParaRPr lang="en-IN" sz="700">
              <a:solidFill>
                <a:srgbClr val="3B7A3D"/>
              </a:solidFill>
              <a:latin typeface="Courier New"/>
              <a:cs typeface="Courier New"/>
            </a:endParaRPr>
          </a:p>
        </p:txBody>
      </p:sp>
      <p:sp>
        <p:nvSpPr>
          <p:cNvPr id="12" name="TextBox 11">
            <a:extLst>
              <a:ext uri="{FF2B5EF4-FFF2-40B4-BE49-F238E27FC236}">
                <a16:creationId xmlns:a16="http://schemas.microsoft.com/office/drawing/2014/main" id="{584DA832-5826-4B1C-B4FC-11BE59CC4518}"/>
              </a:ext>
            </a:extLst>
          </p:cNvPr>
          <p:cNvSpPr txBox="1"/>
          <p:nvPr/>
        </p:nvSpPr>
        <p:spPr>
          <a:xfrm>
            <a:off x="729488" y="475361"/>
            <a:ext cx="5334000" cy="1841500"/>
          </a:xfrm>
          <a:prstGeom prst="rect">
            <a:avLst/>
          </a:prstGeom>
          <a:noFill/>
        </p:spPr>
        <p:txBody>
          <a:bodyPr vertOverflow="overflow" vert="horz" wrap="square" rtlCol="0" anchor="t">
            <a:noAutofit/>
          </a:bodyPr>
          <a:lstStyle/>
          <a:p>
            <a:pPr algn="l"/>
            <a:r>
              <a:rPr lang="en-US" sz="1050" b="1">
                <a:solidFill>
                  <a:srgbClr val="000000"/>
                </a:solidFill>
                <a:latin typeface="Arial"/>
                <a:cs typeface="Arial"/>
              </a:rPr>
              <a:t>Step 3. User Request</a:t>
            </a:r>
            <a:r>
              <a:rPr lang="en-US" sz="1050">
                <a:solidFill>
                  <a:srgbClr val="000000"/>
                </a:solidFill>
                <a:latin typeface="Arial"/>
                <a:cs typeface="Arial"/>
              </a:rPr>
              <a:t>
User:
“Create a GitHub issue for the login bug.”
The LLM decides:
“I should call create_issue.”
Important:
The MCP server does not decide this. The LLM chooses which tool to call and what parameters to send.</a:t>
            </a:r>
            <a:endParaRPr lang="en-IN" sz="1050">
              <a:solidFill>
                <a:srgbClr val="000000"/>
              </a:solidFill>
              <a:latin typeface="Arial"/>
              <a:cs typeface="Arial"/>
            </a:endParaRPr>
          </a:p>
        </p:txBody>
      </p:sp>
      <p:sp>
        <p:nvSpPr>
          <p:cNvPr id="13" name="Rectangle 12">
            <a:extLst>
              <a:ext uri="{FF2B5EF4-FFF2-40B4-BE49-F238E27FC236}">
                <a16:creationId xmlns:a16="http://schemas.microsoft.com/office/drawing/2014/main" id="{3C1677DB-5FDB-48F8-9F41-B1CB0304B1B8}"/>
              </a:ext>
            </a:extLst>
          </p:cNvPr>
          <p:cNvSpPr/>
          <p:nvPr/>
        </p:nvSpPr>
        <p:spPr>
          <a:xfrm>
            <a:off x="635000" y="457200"/>
            <a:ext cx="5461000" cy="2108200"/>
          </a:xfrm>
          <a:prstGeom prst="rect">
            <a:avLst/>
          </a:prstGeom>
          <a:solidFill>
            <a:srgbClr val="EEECE1"/>
          </a:solidFill>
          <a:ln w="34925" cap="flat" cmpd="sng" algn="in">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4" name="TextBox 13">
            <a:extLst>
              <a:ext uri="{FF2B5EF4-FFF2-40B4-BE49-F238E27FC236}">
                <a16:creationId xmlns:a16="http://schemas.microsoft.com/office/drawing/2014/main" id="{B2F10ABC-4E7D-478F-AF56-C131828919CF}"/>
              </a:ext>
            </a:extLst>
          </p:cNvPr>
          <p:cNvSpPr txBox="1"/>
          <p:nvPr/>
        </p:nvSpPr>
        <p:spPr>
          <a:xfrm>
            <a:off x="729488" y="546100"/>
            <a:ext cx="5308600" cy="1905000"/>
          </a:xfrm>
          <a:prstGeom prst="rect">
            <a:avLst/>
          </a:prstGeom>
          <a:noFill/>
        </p:spPr>
        <p:txBody>
          <a:bodyPr vertOverflow="overflow" vert="horz" wrap="square" rtlCol="0" anchor="t">
            <a:noAutofit/>
          </a:bodyPr>
          <a:lstStyle/>
          <a:p>
            <a:pPr algn="l"/>
            <a:r>
              <a:rPr lang="en-US" sz="1050" b="1">
                <a:solidFill>
                  <a:srgbClr val="000000"/>
                </a:solidFill>
                <a:latin typeface="Arial"/>
                <a:cs typeface="Arial"/>
              </a:rPr>
              <a:t>Step 3. User Request</a:t>
            </a:r>
            <a:r>
              <a:rPr lang="en-US" sz="1050">
                <a:solidFill>
                  <a:srgbClr val="000000"/>
                </a:solidFill>
                <a:latin typeface="Arial"/>
                <a:cs typeface="Arial"/>
              </a:rPr>
              <a:t>
User:
“Create a GitHub issue for the login bug.”
The LLM decides:
“I should call create_issue.”
Important:
The MCP server does not decide this. The LLM chooses which tool to call and what parameters to send.</a:t>
            </a:r>
            <a:endParaRPr lang="en-IN" sz="1050">
              <a:solidFill>
                <a:srgbClr val="000000"/>
              </a:solidFill>
              <a:latin typeface="Arial"/>
              <a:cs typeface="Arial"/>
            </a:endParaRPr>
          </a:p>
        </p:txBody>
      </p:sp>
      <p:sp>
        <p:nvSpPr>
          <p:cNvPr id="15" name="Rectangle 14">
            <a:extLst>
              <a:ext uri="{FF2B5EF4-FFF2-40B4-BE49-F238E27FC236}">
                <a16:creationId xmlns:a16="http://schemas.microsoft.com/office/drawing/2014/main" id="{CC293D0B-FC53-440B-B194-BCADAA0384A5}"/>
              </a:ext>
            </a:extLst>
          </p:cNvPr>
          <p:cNvSpPr/>
          <p:nvPr/>
        </p:nvSpPr>
        <p:spPr>
          <a:xfrm>
            <a:off x="728980" y="2616200"/>
            <a:ext cx="5461000" cy="3352800"/>
          </a:xfrm>
          <a:prstGeom prst="rect">
            <a:avLst/>
          </a:prstGeom>
          <a:solidFill>
            <a:srgbClr val="AEBBC4"/>
          </a:solidFill>
          <a:ln w="34925" cap="flat" cmpd="sng" algn="in">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6" name="Rectangle 15">
            <a:extLst>
              <a:ext uri="{FF2B5EF4-FFF2-40B4-BE49-F238E27FC236}">
                <a16:creationId xmlns:a16="http://schemas.microsoft.com/office/drawing/2014/main" id="{3C45AC72-9F59-41A6-AEFE-4E95A7884DA0}"/>
              </a:ext>
            </a:extLst>
          </p:cNvPr>
          <p:cNvSpPr/>
          <p:nvPr/>
        </p:nvSpPr>
        <p:spPr>
          <a:xfrm>
            <a:off x="1092200" y="2997200"/>
            <a:ext cx="2413000" cy="2819400"/>
          </a:xfrm>
          <a:prstGeom prst="rect">
            <a:avLst/>
          </a:prstGeom>
          <a:solidFill>
            <a:srgbClr val="FFFFFF"/>
          </a:solidFill>
          <a:ln w="9525" cap="flat" cmpd="sng" algn="in">
            <a:solidFill>
              <a:srgbClr val="E4E7E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7" name="Rectangle 16">
            <a:extLst>
              <a:ext uri="{FF2B5EF4-FFF2-40B4-BE49-F238E27FC236}">
                <a16:creationId xmlns:a16="http://schemas.microsoft.com/office/drawing/2014/main" id="{0F3D2340-3B7B-4B09-8395-4661B8CC40AE}"/>
              </a:ext>
            </a:extLst>
          </p:cNvPr>
          <p:cNvSpPr/>
          <p:nvPr/>
        </p:nvSpPr>
        <p:spPr>
          <a:xfrm>
            <a:off x="3657600" y="2997200"/>
            <a:ext cx="2540000" cy="2819400"/>
          </a:xfrm>
          <a:prstGeom prst="rect">
            <a:avLst/>
          </a:prstGeom>
          <a:solidFill>
            <a:srgbClr val="FFFFFF"/>
          </a:solidFill>
          <a:ln w="9525" cap="flat" cmpd="sng" algn="in">
            <a:solidFill>
              <a:srgbClr val="E4E7E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8" name="TextBox 17">
            <a:extLst>
              <a:ext uri="{FF2B5EF4-FFF2-40B4-BE49-F238E27FC236}">
                <a16:creationId xmlns:a16="http://schemas.microsoft.com/office/drawing/2014/main" id="{159EEF87-E6B4-4BA8-BCB5-836CD66E4895}"/>
              </a:ext>
            </a:extLst>
          </p:cNvPr>
          <p:cNvSpPr txBox="1"/>
          <p:nvPr/>
        </p:nvSpPr>
        <p:spPr>
          <a:xfrm>
            <a:off x="1193800" y="3073400"/>
            <a:ext cx="685800" cy="152400"/>
          </a:xfrm>
          <a:prstGeom prst="rect">
            <a:avLst/>
          </a:prstGeom>
          <a:noFill/>
        </p:spPr>
        <p:txBody>
          <a:bodyPr vertOverflow="overflow" vert="horz" wrap="square" rtlCol="0" anchor="t">
            <a:noAutofit/>
          </a:bodyPr>
          <a:lstStyle/>
          <a:p>
            <a:pPr algn="l"/>
            <a:r>
              <a:rPr lang="en-IN" sz="800">
                <a:solidFill>
                  <a:srgbClr val="EF4444"/>
                </a:solidFill>
                <a:latin typeface="Arial"/>
                <a:cs typeface="Arial"/>
              </a:rPr>
              <a:t>● ● ●</a:t>
            </a:r>
          </a:p>
        </p:txBody>
      </p:sp>
      <p:sp>
        <p:nvSpPr>
          <p:cNvPr id="19" name="TextBox 18">
            <a:extLst>
              <a:ext uri="{FF2B5EF4-FFF2-40B4-BE49-F238E27FC236}">
                <a16:creationId xmlns:a16="http://schemas.microsoft.com/office/drawing/2014/main" id="{3185ED4A-4AA5-40E9-83B3-2C3BD2FA6049}"/>
              </a:ext>
            </a:extLst>
          </p:cNvPr>
          <p:cNvSpPr txBox="1"/>
          <p:nvPr/>
        </p:nvSpPr>
        <p:spPr>
          <a:xfrm>
            <a:off x="3759200" y="3073400"/>
            <a:ext cx="685800" cy="152400"/>
          </a:xfrm>
          <a:prstGeom prst="rect">
            <a:avLst/>
          </a:prstGeom>
          <a:noFill/>
        </p:spPr>
        <p:txBody>
          <a:bodyPr vertOverflow="overflow" vert="horz" wrap="square" rtlCol="0" anchor="t">
            <a:noAutofit/>
          </a:bodyPr>
          <a:lstStyle/>
          <a:p>
            <a:pPr algn="l"/>
            <a:r>
              <a:rPr lang="en-IN" sz="800">
                <a:solidFill>
                  <a:srgbClr val="EF4444"/>
                </a:solidFill>
                <a:latin typeface="Arial"/>
                <a:cs typeface="Arial"/>
              </a:rPr>
              <a:t>● ● ●</a:t>
            </a:r>
          </a:p>
        </p:txBody>
      </p:sp>
      <p:sp>
        <p:nvSpPr>
          <p:cNvPr id="20" name="TextBox 19">
            <a:extLst>
              <a:ext uri="{FF2B5EF4-FFF2-40B4-BE49-F238E27FC236}">
                <a16:creationId xmlns:a16="http://schemas.microsoft.com/office/drawing/2014/main" id="{96859D60-64B5-4AD7-89E3-74CFBE4F0FCE}"/>
              </a:ext>
            </a:extLst>
          </p:cNvPr>
          <p:cNvSpPr txBox="1"/>
          <p:nvPr/>
        </p:nvSpPr>
        <p:spPr>
          <a:xfrm>
            <a:off x="1193800" y="3327400"/>
            <a:ext cx="2209800" cy="2387600"/>
          </a:xfrm>
          <a:prstGeom prst="rect">
            <a:avLst/>
          </a:prstGeom>
          <a:noFill/>
        </p:spPr>
        <p:txBody>
          <a:bodyPr vertOverflow="overflow" vert="horz" wrap="square" rtlCol="0" anchor="t">
            <a:noAutofit/>
          </a:bodyPr>
          <a:lstStyle/>
          <a:p>
            <a:pPr algn="l"/>
            <a:r>
              <a:rPr lang="en-IN" sz="710">
                <a:solidFill>
                  <a:srgbClr val="E36B6B"/>
                </a:solidFill>
                <a:latin typeface="Courier New"/>
                <a:cs typeface="Courier New"/>
              </a:rPr>
              <a:t>#User Intent
#Host → MCP Client</a:t>
            </a:r>
            <a:r>
              <a:rPr lang="en-IN" sz="710">
                <a:solidFill>
                  <a:srgbClr val="2F6B39"/>
                </a:solidFill>
                <a:latin typeface="Courier New"/>
                <a:cs typeface="Courier New"/>
              </a:rPr>
              <a:t>
{
  "intent": "create issue",
  "selectedTool": "create_issue",
  "arguments": {
    "title": "Login bug",
    "body": "Users cannot sign in",
    "labels": ["bug"]
  }
}</a:t>
            </a:r>
          </a:p>
        </p:txBody>
      </p:sp>
      <p:sp>
        <p:nvSpPr>
          <p:cNvPr id="21" name="TextBox 20">
            <a:extLst>
              <a:ext uri="{FF2B5EF4-FFF2-40B4-BE49-F238E27FC236}">
                <a16:creationId xmlns:a16="http://schemas.microsoft.com/office/drawing/2014/main" id="{700BAB1C-05CE-49F0-9A79-ED7D1C9353A2}"/>
              </a:ext>
            </a:extLst>
          </p:cNvPr>
          <p:cNvSpPr txBox="1"/>
          <p:nvPr/>
        </p:nvSpPr>
        <p:spPr>
          <a:xfrm>
            <a:off x="3759200" y="3327400"/>
            <a:ext cx="2336800" cy="2387600"/>
          </a:xfrm>
          <a:prstGeom prst="rect">
            <a:avLst/>
          </a:prstGeom>
          <a:noFill/>
        </p:spPr>
        <p:txBody>
          <a:bodyPr vertOverflow="overflow" vert="horz" wrap="square" rtlCol="0" anchor="t">
            <a:noAutofit/>
          </a:bodyPr>
          <a:lstStyle/>
          <a:p>
            <a:pPr algn="l"/>
            <a:r>
              <a:rPr lang="en-US" sz="690">
                <a:solidFill>
                  <a:srgbClr val="E36B6B"/>
                </a:solidFill>
                <a:latin typeface="Courier New"/>
                <a:cs typeface="Courier New"/>
              </a:rPr>
              <a:t>Decision Result
MCP Client Ready</a:t>
            </a:r>
            <a:r>
              <a:rPr lang="en-US" sz="690">
                <a:solidFill>
                  <a:srgbClr val="2F6B39"/>
                </a:solidFill>
                <a:latin typeface="Courier New"/>
                <a:cs typeface="Courier New"/>
              </a:rPr>
              <a:t>
{
  "readyToCall": true,
  "method": "tools/call",
  "name": "create_issue",
  "nextStep": "invoke server"
}</a:t>
            </a:r>
            <a:endParaRPr lang="en-IN" sz="690">
              <a:solidFill>
                <a:srgbClr val="2F6B39"/>
              </a:solidFill>
              <a:latin typeface="Courier New"/>
              <a:cs typeface="Courier New"/>
            </a:endParaRPr>
          </a:p>
        </p:txBody>
      </p:sp>
    </p:spTree>
    <p:extLst>
      <p:ext uri="{BB962C8B-B14F-4D97-AF65-F5344CB8AC3E}">
        <p14:creationId xmlns:p14="http://schemas.microsoft.com/office/powerpoint/2010/main" val="3534383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CB58AC5-AD96-4E52-8739-F80623584113}"/>
              </a:ext>
            </a:extLst>
          </p:cNvPr>
          <p:cNvSpPr/>
          <p:nvPr/>
        </p:nvSpPr>
        <p:spPr>
          <a:xfrm>
            <a:off x="728980" y="2616200"/>
            <a:ext cx="5461000" cy="3352800"/>
          </a:xfrm>
          <a:prstGeom prst="rect">
            <a:avLst/>
          </a:prstGeom>
          <a:solidFill>
            <a:srgbClr val="AEBBC4"/>
          </a:solidFill>
          <a:ln w="34925" cap="flat" cmpd="sng" algn="in">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 name="Title 1">
            <a:extLst>
              <a:ext uri="{FF2B5EF4-FFF2-40B4-BE49-F238E27FC236}">
                <a16:creationId xmlns:a16="http://schemas.microsoft.com/office/drawing/2014/main" id="{EAB9F15A-CAFC-0FEA-2AD7-D0E3FD809CF7}"/>
              </a:ext>
            </a:extLst>
          </p:cNvPr>
          <p:cNvSpPr>
            <a:spLocks noGrp="1"/>
          </p:cNvSpPr>
          <p:nvPr>
            <p:ph type="title"/>
          </p:nvPr>
        </p:nvSpPr>
        <p:spPr>
          <a:xfrm>
            <a:off x="982493" y="145915"/>
            <a:ext cx="5204298" cy="521995"/>
          </a:xfrm>
        </p:spPr>
        <p:txBody>
          <a:bodyPr anchor="t">
            <a:normAutofit/>
          </a:bodyPr>
          <a:lstStyle/>
          <a:p>
            <a:r>
              <a:rPr lang="en-IN" sz="1200" dirty="0"/>
              <a:t>MCP Communication Lifecycle</a:t>
            </a:r>
          </a:p>
        </p:txBody>
      </p:sp>
      <p:pic>
        <p:nvPicPr>
          <p:cNvPr id="9" name="Content Placeholder 8">
            <a:extLst>
              <a:ext uri="{FF2B5EF4-FFF2-40B4-BE49-F238E27FC236}">
                <a16:creationId xmlns:a16="http://schemas.microsoft.com/office/drawing/2014/main" id="{88BF5770-C879-AFC3-A894-C576ED432F8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p:blipFill>
        <p:spPr>
          <a:xfrm>
            <a:off x="5796502" y="145915"/>
            <a:ext cx="6178248" cy="6566170"/>
          </a:xfrm>
          <a:prstGeom prst="rect">
            <a:avLst/>
          </a:prstGeom>
          <a:noFill/>
        </p:spPr>
      </p:pic>
      <p:sp>
        <p:nvSpPr>
          <p:cNvPr id="11" name="TextBox 10">
            <a:extLst>
              <a:ext uri="{FF2B5EF4-FFF2-40B4-BE49-F238E27FC236}">
                <a16:creationId xmlns:a16="http://schemas.microsoft.com/office/drawing/2014/main" id="{FC1A1B8C-739B-DAD6-A85F-A7DF828F3999}"/>
              </a:ext>
            </a:extLst>
          </p:cNvPr>
          <p:cNvSpPr txBox="1"/>
          <p:nvPr/>
        </p:nvSpPr>
        <p:spPr>
          <a:xfrm>
            <a:off x="729532" y="475400"/>
            <a:ext cx="5575852" cy="1754326"/>
          </a:xfrm>
          <a:prstGeom prst="rect">
            <a:avLst/>
          </a:prstGeom>
          <a:noFill/>
        </p:spPr>
        <p:txBody>
          <a:bodyPr wrap="square">
            <a:spAutoFit/>
          </a:bodyPr>
          <a:lstStyle/>
          <a:p>
            <a:r>
              <a:rPr lang="en-IN" sz="1200" b="1" dirty="0"/>
              <a:t>Step 1: Connection &amp; Initialization</a:t>
            </a:r>
            <a:br>
              <a:rPr lang="en-IN" sz="1200" dirty="0"/>
            </a:br>
            <a:r>
              <a:rPr lang="en-IN" sz="1200" dirty="0"/>
              <a:t>Before any tool can be used, the client and server perform a handshake.</a:t>
            </a:r>
          </a:p>
          <a:p>
            <a:r>
              <a:rPr lang="en-IN" sz="1200" dirty="0"/>
              <a:t>The client introduces itself and asks:</a:t>
            </a:r>
          </a:p>
          <a:p>
            <a:r>
              <a:rPr lang="en-IN" sz="1200" dirty="0"/>
              <a:t>"Can we communicate? What do you support?“</a:t>
            </a:r>
            <a:br>
              <a:rPr lang="en-IN" sz="1200" dirty="0"/>
            </a:br>
            <a:r>
              <a:rPr lang="en-IN" sz="1200" dirty="0"/>
              <a:t>The client tells the server:</a:t>
            </a:r>
          </a:p>
          <a:p>
            <a:r>
              <a:rPr lang="en-IN" sz="1200" dirty="0"/>
              <a:t>Who it is</a:t>
            </a:r>
          </a:p>
          <a:p>
            <a:r>
              <a:rPr lang="en-IN" sz="1200" dirty="0"/>
              <a:t>Which MCP version it supports</a:t>
            </a:r>
          </a:p>
          <a:p>
            <a:r>
              <a:rPr lang="en-IN" sz="1200" dirty="0"/>
              <a:t>What capabilities it has</a:t>
            </a:r>
            <a:br>
              <a:rPr lang="en-IN" sz="1200" dirty="0"/>
            </a:br>
            <a:endParaRPr lang="en-IN" sz="1200" dirty="0"/>
          </a:p>
        </p:txBody>
      </p:sp>
      <p:pic>
        <p:nvPicPr>
          <p:cNvPr id="24" name="Picture 23">
            <a:extLst>
              <a:ext uri="{FF2B5EF4-FFF2-40B4-BE49-F238E27FC236}">
                <a16:creationId xmlns:a16="http://schemas.microsoft.com/office/drawing/2014/main" id="{DE554D76-CDE3-3975-6C74-21D7781393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532" y="2616820"/>
            <a:ext cx="3047338" cy="3354610"/>
          </a:xfrm>
          <a:prstGeom prst="rect">
            <a:avLst/>
          </a:prstGeom>
        </p:spPr>
      </p:pic>
      <p:pic>
        <p:nvPicPr>
          <p:cNvPr id="26" name="Picture 25">
            <a:extLst>
              <a:ext uri="{FF2B5EF4-FFF2-40B4-BE49-F238E27FC236}">
                <a16:creationId xmlns:a16="http://schemas.microsoft.com/office/drawing/2014/main" id="{F9340B69-6ECB-3487-0F0D-831EA0822C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02387" y="2616820"/>
            <a:ext cx="2984404" cy="3436717"/>
          </a:xfrm>
          <a:prstGeom prst="rect">
            <a:avLst/>
          </a:prstGeom>
        </p:spPr>
      </p:pic>
      <p:sp>
        <p:nvSpPr>
          <p:cNvPr id="4" name="Rectangle 3">
            <a:extLst>
              <a:ext uri="{FF2B5EF4-FFF2-40B4-BE49-F238E27FC236}">
                <a16:creationId xmlns:a16="http://schemas.microsoft.com/office/drawing/2014/main" id="{9838929A-A361-47DF-AAA7-6E203A7AA61D}"/>
              </a:ext>
            </a:extLst>
          </p:cNvPr>
          <p:cNvSpPr/>
          <p:nvPr/>
        </p:nvSpPr>
        <p:spPr>
          <a:xfrm>
            <a:off x="1092200" y="2997200"/>
            <a:ext cx="2413000" cy="2819400"/>
          </a:xfrm>
          <a:prstGeom prst="rect">
            <a:avLst/>
          </a:prstGeom>
          <a:solidFill>
            <a:srgbClr val="FFFFFF"/>
          </a:solidFill>
          <a:ln w="9525" cap="flat" cmpd="sng" algn="in">
            <a:solidFill>
              <a:srgbClr val="E4E7E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Rectangle 4">
            <a:extLst>
              <a:ext uri="{FF2B5EF4-FFF2-40B4-BE49-F238E27FC236}">
                <a16:creationId xmlns:a16="http://schemas.microsoft.com/office/drawing/2014/main" id="{F83CE47C-447A-4981-B10F-EDFC112B25D7}"/>
              </a:ext>
            </a:extLst>
          </p:cNvPr>
          <p:cNvSpPr/>
          <p:nvPr/>
        </p:nvSpPr>
        <p:spPr>
          <a:xfrm>
            <a:off x="3657600" y="2997200"/>
            <a:ext cx="2540000" cy="2819400"/>
          </a:xfrm>
          <a:prstGeom prst="rect">
            <a:avLst/>
          </a:prstGeom>
          <a:solidFill>
            <a:srgbClr val="FFFFFF"/>
          </a:solidFill>
          <a:ln w="9525" cap="flat" cmpd="sng" algn="in">
            <a:solidFill>
              <a:srgbClr val="E4E7E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 name="TextBox 5">
            <a:extLst>
              <a:ext uri="{FF2B5EF4-FFF2-40B4-BE49-F238E27FC236}">
                <a16:creationId xmlns:a16="http://schemas.microsoft.com/office/drawing/2014/main" id="{0A69DD94-B71E-4248-AEC7-86574EEA90C9}"/>
              </a:ext>
            </a:extLst>
          </p:cNvPr>
          <p:cNvSpPr txBox="1"/>
          <p:nvPr/>
        </p:nvSpPr>
        <p:spPr>
          <a:xfrm>
            <a:off x="1193800" y="3073400"/>
            <a:ext cx="685800" cy="152400"/>
          </a:xfrm>
          <a:prstGeom prst="rect">
            <a:avLst/>
          </a:prstGeom>
          <a:noFill/>
        </p:spPr>
        <p:txBody>
          <a:bodyPr vertOverflow="overflow" vert="horz" wrap="square" rtlCol="0" anchor="t">
            <a:noAutofit/>
          </a:bodyPr>
          <a:lstStyle/>
          <a:p>
            <a:pPr algn="l"/>
            <a:r>
              <a:rPr lang="en-IN" sz="800">
                <a:solidFill>
                  <a:srgbClr val="EF4444"/>
                </a:solidFill>
                <a:latin typeface="Arial"/>
                <a:cs typeface="Arial"/>
              </a:rPr>
              <a:t>● ● ●</a:t>
            </a:r>
          </a:p>
        </p:txBody>
      </p:sp>
      <p:sp>
        <p:nvSpPr>
          <p:cNvPr id="7" name="TextBox 6">
            <a:extLst>
              <a:ext uri="{FF2B5EF4-FFF2-40B4-BE49-F238E27FC236}">
                <a16:creationId xmlns:a16="http://schemas.microsoft.com/office/drawing/2014/main" id="{F0F29881-4E68-43B8-8624-C0AFBA7F11FD}"/>
              </a:ext>
            </a:extLst>
          </p:cNvPr>
          <p:cNvSpPr txBox="1"/>
          <p:nvPr/>
        </p:nvSpPr>
        <p:spPr>
          <a:xfrm>
            <a:off x="3759200" y="3073400"/>
            <a:ext cx="685800" cy="152400"/>
          </a:xfrm>
          <a:prstGeom prst="rect">
            <a:avLst/>
          </a:prstGeom>
          <a:noFill/>
        </p:spPr>
        <p:txBody>
          <a:bodyPr vertOverflow="overflow" vert="horz" wrap="square" rtlCol="0" anchor="t">
            <a:noAutofit/>
          </a:bodyPr>
          <a:lstStyle/>
          <a:p>
            <a:pPr algn="l"/>
            <a:r>
              <a:rPr lang="en-IN" sz="800">
                <a:solidFill>
                  <a:srgbClr val="EF4444"/>
                </a:solidFill>
                <a:latin typeface="Arial"/>
                <a:cs typeface="Arial"/>
              </a:rPr>
              <a:t>● ● ●</a:t>
            </a:r>
          </a:p>
        </p:txBody>
      </p:sp>
      <p:sp>
        <p:nvSpPr>
          <p:cNvPr id="8" name="TextBox 7">
            <a:extLst>
              <a:ext uri="{FF2B5EF4-FFF2-40B4-BE49-F238E27FC236}">
                <a16:creationId xmlns:a16="http://schemas.microsoft.com/office/drawing/2014/main" id="{1AF150CD-02DE-480E-B2BA-22C285011297}"/>
              </a:ext>
            </a:extLst>
          </p:cNvPr>
          <p:cNvSpPr txBox="1"/>
          <p:nvPr/>
        </p:nvSpPr>
        <p:spPr>
          <a:xfrm>
            <a:off x="1193800" y="3327400"/>
            <a:ext cx="2209800" cy="2387600"/>
          </a:xfrm>
          <a:prstGeom prst="rect">
            <a:avLst/>
          </a:prstGeom>
          <a:noFill/>
        </p:spPr>
        <p:txBody>
          <a:bodyPr vertOverflow="overflow" vert="horz" wrap="square" rtlCol="0" anchor="t">
            <a:noAutofit/>
          </a:bodyPr>
          <a:lstStyle/>
          <a:p>
            <a:pPr algn="l"/>
            <a:r>
              <a:rPr lang="en-US" sz="720">
                <a:solidFill>
                  <a:srgbClr val="E36B6B"/>
                </a:solidFill>
                <a:latin typeface="Courier New"/>
                <a:cs typeface="Courier New"/>
              </a:rPr>
              <a:t>#tools/call Request
#Client → Server</a:t>
            </a:r>
            <a:r>
              <a:rPr lang="en-US" sz="720">
                <a:solidFill>
                  <a:srgbClr val="3B7A3D"/>
                </a:solidFill>
                <a:latin typeface="Courier New"/>
                <a:cs typeface="Courier New"/>
              </a:rPr>
              <a:t>
{
  "jsonrpc": "2.0",
  "id": 3,
  "method": "tools/call",
  "params": {
    "name": "create_issue",
    "arguments": {
      "title": "Login bug",
      "body": "Users cannot sign in"
    }
  }
}</a:t>
            </a:r>
            <a:endParaRPr lang="en-IN" sz="720">
              <a:solidFill>
                <a:srgbClr val="3B7A3D"/>
              </a:solidFill>
              <a:latin typeface="Courier New"/>
              <a:cs typeface="Courier New"/>
            </a:endParaRPr>
          </a:p>
        </p:txBody>
      </p:sp>
      <p:sp>
        <p:nvSpPr>
          <p:cNvPr id="10" name="TextBox 9">
            <a:extLst>
              <a:ext uri="{FF2B5EF4-FFF2-40B4-BE49-F238E27FC236}">
                <a16:creationId xmlns:a16="http://schemas.microsoft.com/office/drawing/2014/main" id="{CDFB0163-7F6C-4820-8E0A-92F8E5328F79}"/>
              </a:ext>
            </a:extLst>
          </p:cNvPr>
          <p:cNvSpPr txBox="1"/>
          <p:nvPr/>
        </p:nvSpPr>
        <p:spPr>
          <a:xfrm>
            <a:off x="3759200" y="3327400"/>
            <a:ext cx="2336800" cy="2387600"/>
          </a:xfrm>
          <a:prstGeom prst="rect">
            <a:avLst/>
          </a:prstGeom>
          <a:noFill/>
        </p:spPr>
        <p:txBody>
          <a:bodyPr vertOverflow="overflow" vert="horz" wrap="square" rtlCol="0" anchor="t">
            <a:noAutofit/>
          </a:bodyPr>
          <a:lstStyle/>
          <a:p>
            <a:pPr algn="l"/>
            <a:r>
              <a:rPr lang="en-IN" sz="700">
                <a:solidFill>
                  <a:srgbClr val="E36B6B"/>
                </a:solidFill>
                <a:latin typeface="Courier New"/>
                <a:cs typeface="Courier New"/>
              </a:rPr>
              <a:t>tools/call Response
Server → Client</a:t>
            </a:r>
            <a:r>
              <a:rPr lang="en-IN" sz="700">
                <a:solidFill>
                  <a:srgbClr val="3B7A3D"/>
                </a:solidFill>
                <a:latin typeface="Courier New"/>
                <a:cs typeface="Courier New"/>
              </a:rPr>
              <a:t>
{
  "jsonrpc": "2.0",
  "id": 3,
  "result": {
    "content": [{
      "type": "text",
      "text": "Created issue #123"
    }],
    "isError": false
  }
}</a:t>
            </a:r>
          </a:p>
        </p:txBody>
      </p:sp>
      <p:sp>
        <p:nvSpPr>
          <p:cNvPr id="12" name="TextBox 11">
            <a:extLst>
              <a:ext uri="{FF2B5EF4-FFF2-40B4-BE49-F238E27FC236}">
                <a16:creationId xmlns:a16="http://schemas.microsoft.com/office/drawing/2014/main" id="{9BA5D94A-89FA-4278-A841-B986B9226274}"/>
              </a:ext>
            </a:extLst>
          </p:cNvPr>
          <p:cNvSpPr txBox="1"/>
          <p:nvPr/>
        </p:nvSpPr>
        <p:spPr>
          <a:xfrm>
            <a:off x="729488" y="475361"/>
            <a:ext cx="5334000" cy="1841500"/>
          </a:xfrm>
          <a:prstGeom prst="rect">
            <a:avLst/>
          </a:prstGeom>
          <a:noFill/>
        </p:spPr>
        <p:txBody>
          <a:bodyPr vertOverflow="overflow" vert="horz" wrap="square" rtlCol="0" anchor="t">
            <a:noAutofit/>
          </a:bodyPr>
          <a:lstStyle/>
          <a:p>
            <a:pPr algn="l"/>
            <a:r>
              <a:rPr lang="en-US" sz="1050" b="1">
                <a:solidFill>
                  <a:srgbClr val="000000"/>
                </a:solidFill>
                <a:latin typeface="Arial"/>
                <a:cs typeface="Arial"/>
              </a:rPr>
              <a:t>Step 4. Tool Invocation</a:t>
            </a:r>
            <a:r>
              <a:rPr lang="en-US" sz="1050">
                <a:solidFill>
                  <a:srgbClr val="000000"/>
                </a:solidFill>
                <a:latin typeface="Arial"/>
                <a:cs typeface="Arial"/>
              </a:rPr>
              <a:t>
The server:
• Receives request
• Validates input
• Executes logic
• Calls external API/database
• Returns result</a:t>
            </a:r>
            <a:endParaRPr lang="en-IN" sz="1050">
              <a:solidFill>
                <a:srgbClr val="000000"/>
              </a:solidFill>
              <a:latin typeface="Arial"/>
              <a:cs typeface="Arial"/>
            </a:endParaRPr>
          </a:p>
        </p:txBody>
      </p:sp>
      <p:sp>
        <p:nvSpPr>
          <p:cNvPr id="13" name="Rectangle 12">
            <a:extLst>
              <a:ext uri="{FF2B5EF4-FFF2-40B4-BE49-F238E27FC236}">
                <a16:creationId xmlns:a16="http://schemas.microsoft.com/office/drawing/2014/main" id="{4F3A8161-20EF-48CF-BD16-B5BC0EC3BE9A}"/>
              </a:ext>
            </a:extLst>
          </p:cNvPr>
          <p:cNvSpPr/>
          <p:nvPr/>
        </p:nvSpPr>
        <p:spPr>
          <a:xfrm>
            <a:off x="635000" y="457200"/>
            <a:ext cx="5461000" cy="2108200"/>
          </a:xfrm>
          <a:prstGeom prst="rect">
            <a:avLst/>
          </a:prstGeom>
          <a:solidFill>
            <a:srgbClr val="EEECE1"/>
          </a:solidFill>
          <a:ln w="34925" cap="flat" cmpd="sng" algn="in">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4" name="TextBox 13">
            <a:extLst>
              <a:ext uri="{FF2B5EF4-FFF2-40B4-BE49-F238E27FC236}">
                <a16:creationId xmlns:a16="http://schemas.microsoft.com/office/drawing/2014/main" id="{DE4326E5-5507-48B7-96D0-9FA6165925E2}"/>
              </a:ext>
            </a:extLst>
          </p:cNvPr>
          <p:cNvSpPr txBox="1"/>
          <p:nvPr/>
        </p:nvSpPr>
        <p:spPr>
          <a:xfrm>
            <a:off x="729488" y="546100"/>
            <a:ext cx="5308600" cy="1905000"/>
          </a:xfrm>
          <a:prstGeom prst="rect">
            <a:avLst/>
          </a:prstGeom>
          <a:noFill/>
        </p:spPr>
        <p:txBody>
          <a:bodyPr vertOverflow="overflow" vert="horz" wrap="square" rtlCol="0" anchor="t">
            <a:noAutofit/>
          </a:bodyPr>
          <a:lstStyle/>
          <a:p>
            <a:pPr algn="l"/>
            <a:r>
              <a:rPr lang="en-US" sz="1050" b="1">
                <a:solidFill>
                  <a:srgbClr val="000000"/>
                </a:solidFill>
                <a:latin typeface="Arial"/>
                <a:cs typeface="Arial"/>
              </a:rPr>
              <a:t>Step 4. Tool Invocation</a:t>
            </a:r>
            <a:r>
              <a:rPr lang="en-US" sz="1050">
                <a:solidFill>
                  <a:srgbClr val="000000"/>
                </a:solidFill>
                <a:latin typeface="Arial"/>
                <a:cs typeface="Arial"/>
              </a:rPr>
              <a:t>
The server:
• Receives request
• Validates input
• Executes logic
• Calls external API/database
• Returns result</a:t>
            </a:r>
            <a:endParaRPr lang="en-IN" sz="1050">
              <a:solidFill>
                <a:srgbClr val="000000"/>
              </a:solidFill>
              <a:latin typeface="Arial"/>
              <a:cs typeface="Arial"/>
            </a:endParaRPr>
          </a:p>
        </p:txBody>
      </p:sp>
      <p:sp>
        <p:nvSpPr>
          <p:cNvPr id="15" name="Rectangle 14">
            <a:extLst>
              <a:ext uri="{FF2B5EF4-FFF2-40B4-BE49-F238E27FC236}">
                <a16:creationId xmlns:a16="http://schemas.microsoft.com/office/drawing/2014/main" id="{601ECB9E-7D21-42D6-A194-C49629604B49}"/>
              </a:ext>
            </a:extLst>
          </p:cNvPr>
          <p:cNvSpPr/>
          <p:nvPr/>
        </p:nvSpPr>
        <p:spPr>
          <a:xfrm>
            <a:off x="728980" y="2616200"/>
            <a:ext cx="5461000" cy="3352800"/>
          </a:xfrm>
          <a:prstGeom prst="rect">
            <a:avLst/>
          </a:prstGeom>
          <a:solidFill>
            <a:srgbClr val="AEBBC4"/>
          </a:solidFill>
          <a:ln w="34925" cap="flat" cmpd="sng" algn="in">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6" name="Rectangle 15">
            <a:extLst>
              <a:ext uri="{FF2B5EF4-FFF2-40B4-BE49-F238E27FC236}">
                <a16:creationId xmlns:a16="http://schemas.microsoft.com/office/drawing/2014/main" id="{9B1BF129-28FC-4CD0-A02A-7C6AE29F75FE}"/>
              </a:ext>
            </a:extLst>
          </p:cNvPr>
          <p:cNvSpPr/>
          <p:nvPr/>
        </p:nvSpPr>
        <p:spPr>
          <a:xfrm>
            <a:off x="1092200" y="2997200"/>
            <a:ext cx="2413000" cy="2819400"/>
          </a:xfrm>
          <a:prstGeom prst="rect">
            <a:avLst/>
          </a:prstGeom>
          <a:solidFill>
            <a:srgbClr val="FFFFFF"/>
          </a:solidFill>
          <a:ln w="9525" cap="flat" cmpd="sng" algn="in">
            <a:solidFill>
              <a:srgbClr val="E4E7E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7" name="Rectangle 16">
            <a:extLst>
              <a:ext uri="{FF2B5EF4-FFF2-40B4-BE49-F238E27FC236}">
                <a16:creationId xmlns:a16="http://schemas.microsoft.com/office/drawing/2014/main" id="{54A7E69B-C814-4CE4-86EA-9E81E8EA8CF6}"/>
              </a:ext>
            </a:extLst>
          </p:cNvPr>
          <p:cNvSpPr/>
          <p:nvPr/>
        </p:nvSpPr>
        <p:spPr>
          <a:xfrm>
            <a:off x="3657600" y="2997200"/>
            <a:ext cx="2540000" cy="2819400"/>
          </a:xfrm>
          <a:prstGeom prst="rect">
            <a:avLst/>
          </a:prstGeom>
          <a:solidFill>
            <a:srgbClr val="FFFFFF"/>
          </a:solidFill>
          <a:ln w="9525" cap="flat" cmpd="sng" algn="in">
            <a:solidFill>
              <a:srgbClr val="E4E7E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8" name="TextBox 17">
            <a:extLst>
              <a:ext uri="{FF2B5EF4-FFF2-40B4-BE49-F238E27FC236}">
                <a16:creationId xmlns:a16="http://schemas.microsoft.com/office/drawing/2014/main" id="{D73CC2B3-C42E-4AC3-8DFB-AE9697C23D29}"/>
              </a:ext>
            </a:extLst>
          </p:cNvPr>
          <p:cNvSpPr txBox="1"/>
          <p:nvPr/>
        </p:nvSpPr>
        <p:spPr>
          <a:xfrm>
            <a:off x="1193800" y="3073400"/>
            <a:ext cx="685800" cy="152400"/>
          </a:xfrm>
          <a:prstGeom prst="rect">
            <a:avLst/>
          </a:prstGeom>
          <a:noFill/>
        </p:spPr>
        <p:txBody>
          <a:bodyPr vertOverflow="overflow" vert="horz" wrap="square" rtlCol="0" anchor="t">
            <a:noAutofit/>
          </a:bodyPr>
          <a:lstStyle/>
          <a:p>
            <a:pPr algn="l"/>
            <a:r>
              <a:rPr lang="en-IN" sz="800">
                <a:solidFill>
                  <a:srgbClr val="EF4444"/>
                </a:solidFill>
                <a:latin typeface="Arial"/>
                <a:cs typeface="Arial"/>
              </a:rPr>
              <a:t>● ● ●</a:t>
            </a:r>
          </a:p>
        </p:txBody>
      </p:sp>
      <p:sp>
        <p:nvSpPr>
          <p:cNvPr id="19" name="TextBox 18">
            <a:extLst>
              <a:ext uri="{FF2B5EF4-FFF2-40B4-BE49-F238E27FC236}">
                <a16:creationId xmlns:a16="http://schemas.microsoft.com/office/drawing/2014/main" id="{5DB963B9-1905-44A4-85C9-A2408957D346}"/>
              </a:ext>
            </a:extLst>
          </p:cNvPr>
          <p:cNvSpPr txBox="1"/>
          <p:nvPr/>
        </p:nvSpPr>
        <p:spPr>
          <a:xfrm>
            <a:off x="3759200" y="3073400"/>
            <a:ext cx="685800" cy="152400"/>
          </a:xfrm>
          <a:prstGeom prst="rect">
            <a:avLst/>
          </a:prstGeom>
          <a:noFill/>
        </p:spPr>
        <p:txBody>
          <a:bodyPr vertOverflow="overflow" vert="horz" wrap="square" rtlCol="0" anchor="t">
            <a:noAutofit/>
          </a:bodyPr>
          <a:lstStyle/>
          <a:p>
            <a:pPr algn="l"/>
            <a:r>
              <a:rPr lang="en-IN" sz="800">
                <a:solidFill>
                  <a:srgbClr val="EF4444"/>
                </a:solidFill>
                <a:latin typeface="Arial"/>
                <a:cs typeface="Arial"/>
              </a:rPr>
              <a:t>● ● ●</a:t>
            </a:r>
          </a:p>
        </p:txBody>
      </p:sp>
      <p:sp>
        <p:nvSpPr>
          <p:cNvPr id="20" name="TextBox 19">
            <a:extLst>
              <a:ext uri="{FF2B5EF4-FFF2-40B4-BE49-F238E27FC236}">
                <a16:creationId xmlns:a16="http://schemas.microsoft.com/office/drawing/2014/main" id="{82501BC5-E833-4276-B608-B735D5CA84B5}"/>
              </a:ext>
            </a:extLst>
          </p:cNvPr>
          <p:cNvSpPr txBox="1"/>
          <p:nvPr/>
        </p:nvSpPr>
        <p:spPr>
          <a:xfrm>
            <a:off x="1193800" y="3327400"/>
            <a:ext cx="2209800" cy="2387600"/>
          </a:xfrm>
          <a:prstGeom prst="rect">
            <a:avLst/>
          </a:prstGeom>
          <a:noFill/>
        </p:spPr>
        <p:txBody>
          <a:bodyPr vertOverflow="overflow" vert="horz" wrap="square" rtlCol="0" anchor="t">
            <a:noAutofit/>
          </a:bodyPr>
          <a:lstStyle/>
          <a:p>
            <a:pPr algn="l"/>
            <a:r>
              <a:rPr lang="en-US" sz="710" dirty="0">
                <a:solidFill>
                  <a:srgbClr val="E36B6B"/>
                </a:solidFill>
                <a:latin typeface="Courier New"/>
                <a:cs typeface="Courier New"/>
              </a:rPr>
              <a:t>#tools/call Request
#Client → Server</a:t>
            </a:r>
            <a:r>
              <a:rPr lang="en-US" sz="710" dirty="0">
                <a:solidFill>
                  <a:srgbClr val="2F6B39"/>
                </a:solidFill>
                <a:latin typeface="Courier New"/>
                <a:cs typeface="Courier New"/>
              </a:rPr>
              <a:t>
{
  "</a:t>
            </a:r>
            <a:r>
              <a:rPr lang="en-US" sz="710" dirty="0" err="1">
                <a:solidFill>
                  <a:srgbClr val="2F6B39"/>
                </a:solidFill>
                <a:latin typeface="Courier New"/>
                <a:cs typeface="Courier New"/>
              </a:rPr>
              <a:t>jsonrpc</a:t>
            </a:r>
            <a:r>
              <a:rPr lang="en-US" sz="710" dirty="0">
                <a:solidFill>
                  <a:srgbClr val="2F6B39"/>
                </a:solidFill>
                <a:latin typeface="Courier New"/>
                <a:cs typeface="Courier New"/>
              </a:rPr>
              <a:t>": "2.0",
  "id": 3,
  "method": "tools/call",
  "params": {
    "name": "</a:t>
            </a:r>
            <a:r>
              <a:rPr lang="en-US" sz="710" dirty="0" err="1">
                <a:solidFill>
                  <a:srgbClr val="2F6B39"/>
                </a:solidFill>
                <a:latin typeface="Courier New"/>
                <a:cs typeface="Courier New"/>
              </a:rPr>
              <a:t>create_issue</a:t>
            </a:r>
            <a:r>
              <a:rPr lang="en-US" sz="710" dirty="0">
                <a:solidFill>
                  <a:srgbClr val="2F6B39"/>
                </a:solidFill>
                <a:latin typeface="Courier New"/>
                <a:cs typeface="Courier New"/>
              </a:rPr>
              <a:t>",
    "arguments": {
      "title": "Login bug",
      "body": "Users cannot sign in"
    }
  }
}</a:t>
            </a:r>
            <a:endParaRPr lang="en-IN" sz="710" dirty="0">
              <a:solidFill>
                <a:srgbClr val="2F6B39"/>
              </a:solidFill>
              <a:latin typeface="Courier New"/>
              <a:cs typeface="Courier New"/>
            </a:endParaRPr>
          </a:p>
        </p:txBody>
      </p:sp>
      <p:sp>
        <p:nvSpPr>
          <p:cNvPr id="21" name="TextBox 20">
            <a:extLst>
              <a:ext uri="{FF2B5EF4-FFF2-40B4-BE49-F238E27FC236}">
                <a16:creationId xmlns:a16="http://schemas.microsoft.com/office/drawing/2014/main" id="{4A24961F-ED07-47F6-A399-D77D7E14C645}"/>
              </a:ext>
            </a:extLst>
          </p:cNvPr>
          <p:cNvSpPr txBox="1"/>
          <p:nvPr/>
        </p:nvSpPr>
        <p:spPr>
          <a:xfrm>
            <a:off x="3759200" y="3327400"/>
            <a:ext cx="2336800" cy="2387600"/>
          </a:xfrm>
          <a:prstGeom prst="rect">
            <a:avLst/>
          </a:prstGeom>
          <a:noFill/>
        </p:spPr>
        <p:txBody>
          <a:bodyPr vertOverflow="overflow" vert="horz" wrap="square" rtlCol="0" anchor="t">
            <a:noAutofit/>
          </a:bodyPr>
          <a:lstStyle/>
          <a:p>
            <a:pPr algn="l"/>
            <a:r>
              <a:rPr lang="en-IN" sz="690">
                <a:solidFill>
                  <a:srgbClr val="E36B6B"/>
                </a:solidFill>
                <a:latin typeface="Courier New"/>
                <a:cs typeface="Courier New"/>
              </a:rPr>
              <a:t>tools/call Response
Server → Client</a:t>
            </a:r>
            <a:r>
              <a:rPr lang="en-IN" sz="690">
                <a:solidFill>
                  <a:srgbClr val="2F6B39"/>
                </a:solidFill>
                <a:latin typeface="Courier New"/>
                <a:cs typeface="Courier New"/>
              </a:rPr>
              <a:t>
{
  "jsonrpc": "2.0",
  "id": 3,
  "result": {
    "content": [{
      "type": "text",
      "text": "Created issue #123"
    }],
    "isError": false
  }
}</a:t>
            </a:r>
          </a:p>
        </p:txBody>
      </p:sp>
    </p:spTree>
    <p:extLst>
      <p:ext uri="{BB962C8B-B14F-4D97-AF65-F5344CB8AC3E}">
        <p14:creationId xmlns:p14="http://schemas.microsoft.com/office/powerpoint/2010/main" val="31171791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E07C003-33EC-412A-A80B-ECB855B5BF30}"/>
              </a:ext>
            </a:extLst>
          </p:cNvPr>
          <p:cNvSpPr/>
          <p:nvPr/>
        </p:nvSpPr>
        <p:spPr>
          <a:xfrm>
            <a:off x="728980" y="2616200"/>
            <a:ext cx="5461000" cy="3352800"/>
          </a:xfrm>
          <a:prstGeom prst="rect">
            <a:avLst/>
          </a:prstGeom>
          <a:solidFill>
            <a:srgbClr val="AEBBC4"/>
          </a:solidFill>
          <a:ln w="34925" cap="flat" cmpd="sng" algn="in">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 name="Title 1">
            <a:extLst>
              <a:ext uri="{FF2B5EF4-FFF2-40B4-BE49-F238E27FC236}">
                <a16:creationId xmlns:a16="http://schemas.microsoft.com/office/drawing/2014/main" id="{EAB9F15A-CAFC-0FEA-2AD7-D0E3FD809CF7}"/>
              </a:ext>
            </a:extLst>
          </p:cNvPr>
          <p:cNvSpPr>
            <a:spLocks noGrp="1"/>
          </p:cNvSpPr>
          <p:nvPr>
            <p:ph type="title"/>
          </p:nvPr>
        </p:nvSpPr>
        <p:spPr>
          <a:xfrm>
            <a:off x="982493" y="145915"/>
            <a:ext cx="5204298" cy="521995"/>
          </a:xfrm>
        </p:spPr>
        <p:txBody>
          <a:bodyPr anchor="t">
            <a:normAutofit/>
          </a:bodyPr>
          <a:lstStyle/>
          <a:p>
            <a:r>
              <a:rPr lang="en-IN" sz="1200" dirty="0"/>
              <a:t>MCP Communication Lifecycle</a:t>
            </a:r>
          </a:p>
        </p:txBody>
      </p:sp>
      <p:pic>
        <p:nvPicPr>
          <p:cNvPr id="9" name="Content Placeholder 8">
            <a:extLst>
              <a:ext uri="{FF2B5EF4-FFF2-40B4-BE49-F238E27FC236}">
                <a16:creationId xmlns:a16="http://schemas.microsoft.com/office/drawing/2014/main" id="{88BF5770-C879-AFC3-A894-C576ED432F8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p:blipFill>
        <p:spPr>
          <a:xfrm>
            <a:off x="5796502" y="145915"/>
            <a:ext cx="6178248" cy="6566170"/>
          </a:xfrm>
          <a:prstGeom prst="rect">
            <a:avLst/>
          </a:prstGeom>
          <a:noFill/>
        </p:spPr>
      </p:pic>
      <p:sp>
        <p:nvSpPr>
          <p:cNvPr id="11" name="TextBox 10">
            <a:extLst>
              <a:ext uri="{FF2B5EF4-FFF2-40B4-BE49-F238E27FC236}">
                <a16:creationId xmlns:a16="http://schemas.microsoft.com/office/drawing/2014/main" id="{FC1A1B8C-739B-DAD6-A85F-A7DF828F3999}"/>
              </a:ext>
            </a:extLst>
          </p:cNvPr>
          <p:cNvSpPr txBox="1"/>
          <p:nvPr/>
        </p:nvSpPr>
        <p:spPr>
          <a:xfrm>
            <a:off x="729532" y="475400"/>
            <a:ext cx="5575852" cy="1754326"/>
          </a:xfrm>
          <a:prstGeom prst="rect">
            <a:avLst/>
          </a:prstGeom>
          <a:noFill/>
        </p:spPr>
        <p:txBody>
          <a:bodyPr wrap="square">
            <a:spAutoFit/>
          </a:bodyPr>
          <a:lstStyle/>
          <a:p>
            <a:r>
              <a:rPr lang="en-IN" sz="1200" b="1" dirty="0"/>
              <a:t>Step 1: Connection &amp; Initialization</a:t>
            </a:r>
            <a:br>
              <a:rPr lang="en-IN" sz="1200" dirty="0"/>
            </a:br>
            <a:r>
              <a:rPr lang="en-IN" sz="1200" dirty="0"/>
              <a:t>Before any tool can be used, the client and server perform a handshake.</a:t>
            </a:r>
          </a:p>
          <a:p>
            <a:r>
              <a:rPr lang="en-IN" sz="1200" dirty="0"/>
              <a:t>The client introduces itself and asks:</a:t>
            </a:r>
          </a:p>
          <a:p>
            <a:r>
              <a:rPr lang="en-IN" sz="1200" dirty="0"/>
              <a:t>"Can we communicate? What do you support?“</a:t>
            </a:r>
            <a:br>
              <a:rPr lang="en-IN" sz="1200" dirty="0"/>
            </a:br>
            <a:r>
              <a:rPr lang="en-IN" sz="1200" dirty="0"/>
              <a:t>The client tells the server:</a:t>
            </a:r>
          </a:p>
          <a:p>
            <a:r>
              <a:rPr lang="en-IN" sz="1200" dirty="0"/>
              <a:t>Who it is</a:t>
            </a:r>
          </a:p>
          <a:p>
            <a:r>
              <a:rPr lang="en-IN" sz="1200" dirty="0"/>
              <a:t>Which MCP version it supports</a:t>
            </a:r>
          </a:p>
          <a:p>
            <a:r>
              <a:rPr lang="en-IN" sz="1200" dirty="0"/>
              <a:t>What capabilities it has</a:t>
            </a:r>
            <a:br>
              <a:rPr lang="en-IN" sz="1200" dirty="0"/>
            </a:br>
            <a:endParaRPr lang="en-IN" sz="1200" dirty="0"/>
          </a:p>
        </p:txBody>
      </p:sp>
      <p:pic>
        <p:nvPicPr>
          <p:cNvPr id="24" name="Picture 23">
            <a:extLst>
              <a:ext uri="{FF2B5EF4-FFF2-40B4-BE49-F238E27FC236}">
                <a16:creationId xmlns:a16="http://schemas.microsoft.com/office/drawing/2014/main" id="{DE554D76-CDE3-3975-6C74-21D7781393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532" y="2616820"/>
            <a:ext cx="3047338" cy="3354610"/>
          </a:xfrm>
          <a:prstGeom prst="rect">
            <a:avLst/>
          </a:prstGeom>
        </p:spPr>
      </p:pic>
      <p:pic>
        <p:nvPicPr>
          <p:cNvPr id="26" name="Picture 25">
            <a:extLst>
              <a:ext uri="{FF2B5EF4-FFF2-40B4-BE49-F238E27FC236}">
                <a16:creationId xmlns:a16="http://schemas.microsoft.com/office/drawing/2014/main" id="{F9340B69-6ECB-3487-0F0D-831EA0822C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02387" y="2616820"/>
            <a:ext cx="2984404" cy="3436717"/>
          </a:xfrm>
          <a:prstGeom prst="rect">
            <a:avLst/>
          </a:prstGeom>
        </p:spPr>
      </p:pic>
      <p:sp>
        <p:nvSpPr>
          <p:cNvPr id="4" name="Rectangle 3">
            <a:extLst>
              <a:ext uri="{FF2B5EF4-FFF2-40B4-BE49-F238E27FC236}">
                <a16:creationId xmlns:a16="http://schemas.microsoft.com/office/drawing/2014/main" id="{500CAC0A-531C-4EFF-97F9-147C383F7E59}"/>
              </a:ext>
            </a:extLst>
          </p:cNvPr>
          <p:cNvSpPr/>
          <p:nvPr/>
        </p:nvSpPr>
        <p:spPr>
          <a:xfrm>
            <a:off x="1092200" y="2997200"/>
            <a:ext cx="2413000" cy="2819400"/>
          </a:xfrm>
          <a:prstGeom prst="rect">
            <a:avLst/>
          </a:prstGeom>
          <a:solidFill>
            <a:srgbClr val="FFFFFF"/>
          </a:solidFill>
          <a:ln w="9525" cap="flat" cmpd="sng" algn="in">
            <a:solidFill>
              <a:srgbClr val="E4E7E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Rectangle 4">
            <a:extLst>
              <a:ext uri="{FF2B5EF4-FFF2-40B4-BE49-F238E27FC236}">
                <a16:creationId xmlns:a16="http://schemas.microsoft.com/office/drawing/2014/main" id="{22354AB0-8665-45CC-A8F2-12FAB881F7B4}"/>
              </a:ext>
            </a:extLst>
          </p:cNvPr>
          <p:cNvSpPr/>
          <p:nvPr/>
        </p:nvSpPr>
        <p:spPr>
          <a:xfrm>
            <a:off x="3657600" y="2997200"/>
            <a:ext cx="2540000" cy="2819400"/>
          </a:xfrm>
          <a:prstGeom prst="rect">
            <a:avLst/>
          </a:prstGeom>
          <a:solidFill>
            <a:srgbClr val="FFFFFF"/>
          </a:solidFill>
          <a:ln w="9525" cap="flat" cmpd="sng" algn="in">
            <a:solidFill>
              <a:srgbClr val="E4E7E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 name="TextBox 5">
            <a:extLst>
              <a:ext uri="{FF2B5EF4-FFF2-40B4-BE49-F238E27FC236}">
                <a16:creationId xmlns:a16="http://schemas.microsoft.com/office/drawing/2014/main" id="{A385EDC8-1741-423F-9969-5A906DA2D921}"/>
              </a:ext>
            </a:extLst>
          </p:cNvPr>
          <p:cNvSpPr txBox="1"/>
          <p:nvPr/>
        </p:nvSpPr>
        <p:spPr>
          <a:xfrm>
            <a:off x="1193800" y="3073400"/>
            <a:ext cx="685800" cy="152400"/>
          </a:xfrm>
          <a:prstGeom prst="rect">
            <a:avLst/>
          </a:prstGeom>
          <a:noFill/>
        </p:spPr>
        <p:txBody>
          <a:bodyPr vertOverflow="overflow" vert="horz" wrap="square" rtlCol="0" anchor="t">
            <a:noAutofit/>
          </a:bodyPr>
          <a:lstStyle/>
          <a:p>
            <a:pPr algn="l"/>
            <a:r>
              <a:rPr lang="en-IN" sz="800">
                <a:solidFill>
                  <a:srgbClr val="EF4444"/>
                </a:solidFill>
                <a:latin typeface="Arial"/>
                <a:cs typeface="Arial"/>
              </a:rPr>
              <a:t>● ● ●</a:t>
            </a:r>
          </a:p>
        </p:txBody>
      </p:sp>
      <p:sp>
        <p:nvSpPr>
          <p:cNvPr id="7" name="TextBox 6">
            <a:extLst>
              <a:ext uri="{FF2B5EF4-FFF2-40B4-BE49-F238E27FC236}">
                <a16:creationId xmlns:a16="http://schemas.microsoft.com/office/drawing/2014/main" id="{28BDCFFE-329F-40BA-B734-613863C930FC}"/>
              </a:ext>
            </a:extLst>
          </p:cNvPr>
          <p:cNvSpPr txBox="1"/>
          <p:nvPr/>
        </p:nvSpPr>
        <p:spPr>
          <a:xfrm>
            <a:off x="3759200" y="3073400"/>
            <a:ext cx="685800" cy="152400"/>
          </a:xfrm>
          <a:prstGeom prst="rect">
            <a:avLst/>
          </a:prstGeom>
          <a:noFill/>
        </p:spPr>
        <p:txBody>
          <a:bodyPr vertOverflow="overflow" vert="horz" wrap="square" rtlCol="0" anchor="t">
            <a:noAutofit/>
          </a:bodyPr>
          <a:lstStyle/>
          <a:p>
            <a:pPr algn="l"/>
            <a:r>
              <a:rPr lang="en-IN" sz="800">
                <a:solidFill>
                  <a:srgbClr val="EF4444"/>
                </a:solidFill>
                <a:latin typeface="Arial"/>
                <a:cs typeface="Arial"/>
              </a:rPr>
              <a:t>● ● ●</a:t>
            </a:r>
          </a:p>
        </p:txBody>
      </p:sp>
      <p:sp>
        <p:nvSpPr>
          <p:cNvPr id="8" name="TextBox 7">
            <a:extLst>
              <a:ext uri="{FF2B5EF4-FFF2-40B4-BE49-F238E27FC236}">
                <a16:creationId xmlns:a16="http://schemas.microsoft.com/office/drawing/2014/main" id="{54DEF32F-390A-45AF-9A0C-9BB22243F251}"/>
              </a:ext>
            </a:extLst>
          </p:cNvPr>
          <p:cNvSpPr txBox="1"/>
          <p:nvPr/>
        </p:nvSpPr>
        <p:spPr>
          <a:xfrm>
            <a:off x="1193800" y="3327400"/>
            <a:ext cx="2209800" cy="2387600"/>
          </a:xfrm>
          <a:prstGeom prst="rect">
            <a:avLst/>
          </a:prstGeom>
          <a:noFill/>
        </p:spPr>
        <p:txBody>
          <a:bodyPr vertOverflow="overflow" vert="horz" wrap="square" rtlCol="0" anchor="t">
            <a:noAutofit/>
          </a:bodyPr>
          <a:lstStyle/>
          <a:p>
            <a:pPr algn="l"/>
            <a:r>
              <a:rPr lang="en-US" sz="720">
                <a:solidFill>
                  <a:srgbClr val="E36B6B"/>
                </a:solidFill>
                <a:latin typeface="Courier New"/>
                <a:cs typeface="Courier New"/>
              </a:rPr>
              <a:t>#Result Propagation
#MCP Client → LLM</a:t>
            </a:r>
            <a:r>
              <a:rPr lang="en-US" sz="720">
                <a:solidFill>
                  <a:srgbClr val="3B7A3D"/>
                </a:solidFill>
                <a:latin typeface="Courier New"/>
                <a:cs typeface="Courier New"/>
              </a:rPr>
              <a:t>
{
  "role": "tool",
  "toolName": "create_issue",
  "toolCallId": 3,
  "content": "Created issue #123"
}</a:t>
            </a:r>
            <a:endParaRPr lang="en-IN" sz="720">
              <a:solidFill>
                <a:srgbClr val="3B7A3D"/>
              </a:solidFill>
              <a:latin typeface="Courier New"/>
              <a:cs typeface="Courier New"/>
            </a:endParaRPr>
          </a:p>
        </p:txBody>
      </p:sp>
      <p:sp>
        <p:nvSpPr>
          <p:cNvPr id="10" name="TextBox 9">
            <a:extLst>
              <a:ext uri="{FF2B5EF4-FFF2-40B4-BE49-F238E27FC236}">
                <a16:creationId xmlns:a16="http://schemas.microsoft.com/office/drawing/2014/main" id="{0315E711-21DE-4ED4-83D5-280453541EBF}"/>
              </a:ext>
            </a:extLst>
          </p:cNvPr>
          <p:cNvSpPr txBox="1"/>
          <p:nvPr/>
        </p:nvSpPr>
        <p:spPr>
          <a:xfrm>
            <a:off x="3759200" y="3327400"/>
            <a:ext cx="2336800" cy="2387600"/>
          </a:xfrm>
          <a:prstGeom prst="rect">
            <a:avLst/>
          </a:prstGeom>
          <a:noFill/>
        </p:spPr>
        <p:txBody>
          <a:bodyPr vertOverflow="overflow" vert="horz" wrap="square" rtlCol="0" anchor="t">
            <a:noAutofit/>
          </a:bodyPr>
          <a:lstStyle/>
          <a:p>
            <a:pPr algn="l"/>
            <a:r>
              <a:rPr lang="en-US" sz="700">
                <a:solidFill>
                  <a:srgbClr val="E36B6B"/>
                </a:solidFill>
                <a:latin typeface="Courier New"/>
                <a:cs typeface="Courier New"/>
              </a:rPr>
              <a:t>LLM Acknowledges
Ready to Answer User</a:t>
            </a:r>
            <a:r>
              <a:rPr lang="en-US" sz="700">
                <a:solidFill>
                  <a:srgbClr val="3B7A3D"/>
                </a:solidFill>
                <a:latin typeface="Courier New"/>
                <a:cs typeface="Courier New"/>
              </a:rPr>
              <a:t>
{
  "observed": {
    "issueNumber": 123,
    "title": "Login bug",
    "status": "created"
  },
  "nextStep": "final response"
}</a:t>
            </a:r>
            <a:endParaRPr lang="en-IN" sz="700">
              <a:solidFill>
                <a:srgbClr val="3B7A3D"/>
              </a:solidFill>
              <a:latin typeface="Courier New"/>
              <a:cs typeface="Courier New"/>
            </a:endParaRPr>
          </a:p>
        </p:txBody>
      </p:sp>
      <p:sp>
        <p:nvSpPr>
          <p:cNvPr id="12" name="TextBox 11">
            <a:extLst>
              <a:ext uri="{FF2B5EF4-FFF2-40B4-BE49-F238E27FC236}">
                <a16:creationId xmlns:a16="http://schemas.microsoft.com/office/drawing/2014/main" id="{752F8607-2928-4858-9B5F-9D01970AC4A3}"/>
              </a:ext>
            </a:extLst>
          </p:cNvPr>
          <p:cNvSpPr txBox="1"/>
          <p:nvPr/>
        </p:nvSpPr>
        <p:spPr>
          <a:xfrm>
            <a:off x="729488" y="475361"/>
            <a:ext cx="5334000" cy="1841500"/>
          </a:xfrm>
          <a:prstGeom prst="rect">
            <a:avLst/>
          </a:prstGeom>
          <a:noFill/>
        </p:spPr>
        <p:txBody>
          <a:bodyPr vertOverflow="overflow" vert="horz" wrap="square" rtlCol="0" anchor="t">
            <a:noAutofit/>
          </a:bodyPr>
          <a:lstStyle/>
          <a:p>
            <a:pPr algn="l"/>
            <a:r>
              <a:rPr lang="en-US" sz="1050" b="1">
                <a:solidFill>
                  <a:srgbClr val="000000"/>
                </a:solidFill>
                <a:latin typeface="Arial"/>
                <a:cs typeface="Arial"/>
              </a:rPr>
              <a:t>Step 5. Tool Response</a:t>
            </a:r>
            <a:r>
              <a:rPr lang="en-US" sz="1050">
                <a:solidFill>
                  <a:srgbClr val="000000"/>
                </a:solidFill>
                <a:latin typeface="Arial"/>
                <a:cs typeface="Arial"/>
              </a:rPr>
              <a:t>
The MCP client gives the result back to the LLM.
The response is structured tool output, so the model can reference the actual issue number and status in the next turn.</a:t>
            </a:r>
            <a:endParaRPr lang="en-IN" sz="1050">
              <a:solidFill>
                <a:srgbClr val="000000"/>
              </a:solidFill>
              <a:latin typeface="Arial"/>
              <a:cs typeface="Arial"/>
            </a:endParaRPr>
          </a:p>
        </p:txBody>
      </p:sp>
      <p:sp>
        <p:nvSpPr>
          <p:cNvPr id="13" name="Rectangle 12">
            <a:extLst>
              <a:ext uri="{FF2B5EF4-FFF2-40B4-BE49-F238E27FC236}">
                <a16:creationId xmlns:a16="http://schemas.microsoft.com/office/drawing/2014/main" id="{BDB912EA-1B67-4F5D-9E42-EE1790CB4740}"/>
              </a:ext>
            </a:extLst>
          </p:cNvPr>
          <p:cNvSpPr/>
          <p:nvPr/>
        </p:nvSpPr>
        <p:spPr>
          <a:xfrm>
            <a:off x="635000" y="457200"/>
            <a:ext cx="5461000" cy="2108200"/>
          </a:xfrm>
          <a:prstGeom prst="rect">
            <a:avLst/>
          </a:prstGeom>
          <a:solidFill>
            <a:srgbClr val="EEECE1"/>
          </a:solidFill>
          <a:ln w="34925" cap="flat" cmpd="sng" algn="in">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4" name="TextBox 13">
            <a:extLst>
              <a:ext uri="{FF2B5EF4-FFF2-40B4-BE49-F238E27FC236}">
                <a16:creationId xmlns:a16="http://schemas.microsoft.com/office/drawing/2014/main" id="{CBB4DDA4-FCB5-46F2-BF3D-DEFE2A719A79}"/>
              </a:ext>
            </a:extLst>
          </p:cNvPr>
          <p:cNvSpPr txBox="1"/>
          <p:nvPr/>
        </p:nvSpPr>
        <p:spPr>
          <a:xfrm>
            <a:off x="729488" y="546100"/>
            <a:ext cx="5308600" cy="1905000"/>
          </a:xfrm>
          <a:prstGeom prst="rect">
            <a:avLst/>
          </a:prstGeom>
          <a:noFill/>
        </p:spPr>
        <p:txBody>
          <a:bodyPr vertOverflow="overflow" vert="horz" wrap="square" rtlCol="0" anchor="t">
            <a:noAutofit/>
          </a:bodyPr>
          <a:lstStyle/>
          <a:p>
            <a:pPr algn="l"/>
            <a:r>
              <a:rPr lang="en-US" sz="1050" b="1">
                <a:solidFill>
                  <a:srgbClr val="000000"/>
                </a:solidFill>
                <a:latin typeface="Arial"/>
                <a:cs typeface="Arial"/>
              </a:rPr>
              <a:t>Step 5. Tool Response</a:t>
            </a:r>
            <a:r>
              <a:rPr lang="en-US" sz="1050">
                <a:solidFill>
                  <a:srgbClr val="000000"/>
                </a:solidFill>
                <a:latin typeface="Arial"/>
                <a:cs typeface="Arial"/>
              </a:rPr>
              <a:t>
The MCP client gives the result back to the LLM.
The response is structured tool output, so the model can reference the actual issue number and status in the next turn.</a:t>
            </a:r>
            <a:endParaRPr lang="en-IN" sz="1050">
              <a:solidFill>
                <a:srgbClr val="000000"/>
              </a:solidFill>
              <a:latin typeface="Arial"/>
              <a:cs typeface="Arial"/>
            </a:endParaRPr>
          </a:p>
        </p:txBody>
      </p:sp>
      <p:sp>
        <p:nvSpPr>
          <p:cNvPr id="15" name="Rectangle 14">
            <a:extLst>
              <a:ext uri="{FF2B5EF4-FFF2-40B4-BE49-F238E27FC236}">
                <a16:creationId xmlns:a16="http://schemas.microsoft.com/office/drawing/2014/main" id="{2C351D70-290B-45C0-B1F7-1B6DE096EDB8}"/>
              </a:ext>
            </a:extLst>
          </p:cNvPr>
          <p:cNvSpPr/>
          <p:nvPr/>
        </p:nvSpPr>
        <p:spPr>
          <a:xfrm>
            <a:off x="728980" y="2616200"/>
            <a:ext cx="5461000" cy="3352800"/>
          </a:xfrm>
          <a:prstGeom prst="rect">
            <a:avLst/>
          </a:prstGeom>
          <a:solidFill>
            <a:srgbClr val="AEBBC4"/>
          </a:solidFill>
          <a:ln w="34925" cap="flat" cmpd="sng" algn="in">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6" name="Rectangle 15">
            <a:extLst>
              <a:ext uri="{FF2B5EF4-FFF2-40B4-BE49-F238E27FC236}">
                <a16:creationId xmlns:a16="http://schemas.microsoft.com/office/drawing/2014/main" id="{2FF8E1F6-D7BC-4865-ACCC-0F63FA166077}"/>
              </a:ext>
            </a:extLst>
          </p:cNvPr>
          <p:cNvSpPr/>
          <p:nvPr/>
        </p:nvSpPr>
        <p:spPr>
          <a:xfrm>
            <a:off x="1092200" y="2997200"/>
            <a:ext cx="2413000" cy="2819400"/>
          </a:xfrm>
          <a:prstGeom prst="rect">
            <a:avLst/>
          </a:prstGeom>
          <a:solidFill>
            <a:srgbClr val="FFFFFF"/>
          </a:solidFill>
          <a:ln w="9525" cap="flat" cmpd="sng" algn="in">
            <a:solidFill>
              <a:srgbClr val="E4E7E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7" name="Rectangle 16">
            <a:extLst>
              <a:ext uri="{FF2B5EF4-FFF2-40B4-BE49-F238E27FC236}">
                <a16:creationId xmlns:a16="http://schemas.microsoft.com/office/drawing/2014/main" id="{D8C2D334-B528-4ADA-935E-35857AE203E6}"/>
              </a:ext>
            </a:extLst>
          </p:cNvPr>
          <p:cNvSpPr/>
          <p:nvPr/>
        </p:nvSpPr>
        <p:spPr>
          <a:xfrm>
            <a:off x="3657600" y="2997200"/>
            <a:ext cx="2540000" cy="2819400"/>
          </a:xfrm>
          <a:prstGeom prst="rect">
            <a:avLst/>
          </a:prstGeom>
          <a:solidFill>
            <a:srgbClr val="FFFFFF"/>
          </a:solidFill>
          <a:ln w="9525" cap="flat" cmpd="sng" algn="in">
            <a:solidFill>
              <a:srgbClr val="E4E7E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8" name="TextBox 17">
            <a:extLst>
              <a:ext uri="{FF2B5EF4-FFF2-40B4-BE49-F238E27FC236}">
                <a16:creationId xmlns:a16="http://schemas.microsoft.com/office/drawing/2014/main" id="{49BFA4AE-9DE7-454F-9F71-F926F181BA23}"/>
              </a:ext>
            </a:extLst>
          </p:cNvPr>
          <p:cNvSpPr txBox="1"/>
          <p:nvPr/>
        </p:nvSpPr>
        <p:spPr>
          <a:xfrm>
            <a:off x="1193800" y="3073400"/>
            <a:ext cx="685800" cy="152400"/>
          </a:xfrm>
          <a:prstGeom prst="rect">
            <a:avLst/>
          </a:prstGeom>
          <a:noFill/>
        </p:spPr>
        <p:txBody>
          <a:bodyPr vertOverflow="overflow" vert="horz" wrap="square" rtlCol="0" anchor="t">
            <a:noAutofit/>
          </a:bodyPr>
          <a:lstStyle/>
          <a:p>
            <a:pPr algn="l"/>
            <a:r>
              <a:rPr lang="en-IN" sz="800">
                <a:solidFill>
                  <a:srgbClr val="EF4444"/>
                </a:solidFill>
                <a:latin typeface="Arial"/>
                <a:cs typeface="Arial"/>
              </a:rPr>
              <a:t>● ● ●</a:t>
            </a:r>
          </a:p>
        </p:txBody>
      </p:sp>
      <p:sp>
        <p:nvSpPr>
          <p:cNvPr id="19" name="TextBox 18">
            <a:extLst>
              <a:ext uri="{FF2B5EF4-FFF2-40B4-BE49-F238E27FC236}">
                <a16:creationId xmlns:a16="http://schemas.microsoft.com/office/drawing/2014/main" id="{4137468E-4E69-43C0-B53B-D8DE5045876F}"/>
              </a:ext>
            </a:extLst>
          </p:cNvPr>
          <p:cNvSpPr txBox="1"/>
          <p:nvPr/>
        </p:nvSpPr>
        <p:spPr>
          <a:xfrm>
            <a:off x="3759200" y="3073400"/>
            <a:ext cx="685800" cy="152400"/>
          </a:xfrm>
          <a:prstGeom prst="rect">
            <a:avLst/>
          </a:prstGeom>
          <a:noFill/>
        </p:spPr>
        <p:txBody>
          <a:bodyPr vertOverflow="overflow" vert="horz" wrap="square" rtlCol="0" anchor="t">
            <a:noAutofit/>
          </a:bodyPr>
          <a:lstStyle/>
          <a:p>
            <a:pPr algn="l"/>
            <a:r>
              <a:rPr lang="en-IN" sz="800">
                <a:solidFill>
                  <a:srgbClr val="EF4444"/>
                </a:solidFill>
                <a:latin typeface="Arial"/>
                <a:cs typeface="Arial"/>
              </a:rPr>
              <a:t>● ● ●</a:t>
            </a:r>
          </a:p>
        </p:txBody>
      </p:sp>
      <p:sp>
        <p:nvSpPr>
          <p:cNvPr id="20" name="TextBox 19">
            <a:extLst>
              <a:ext uri="{FF2B5EF4-FFF2-40B4-BE49-F238E27FC236}">
                <a16:creationId xmlns:a16="http://schemas.microsoft.com/office/drawing/2014/main" id="{C036DEDB-B9CE-45F0-9FD5-C17ACC1087CA}"/>
              </a:ext>
            </a:extLst>
          </p:cNvPr>
          <p:cNvSpPr txBox="1"/>
          <p:nvPr/>
        </p:nvSpPr>
        <p:spPr>
          <a:xfrm>
            <a:off x="1193800" y="3327400"/>
            <a:ext cx="2209800" cy="2387600"/>
          </a:xfrm>
          <a:prstGeom prst="rect">
            <a:avLst/>
          </a:prstGeom>
          <a:noFill/>
        </p:spPr>
        <p:txBody>
          <a:bodyPr vertOverflow="overflow" vert="horz" wrap="square" rtlCol="0" anchor="t">
            <a:noAutofit/>
          </a:bodyPr>
          <a:lstStyle/>
          <a:p>
            <a:pPr algn="l"/>
            <a:r>
              <a:rPr lang="en-US" sz="710">
                <a:solidFill>
                  <a:srgbClr val="E36B6B"/>
                </a:solidFill>
                <a:latin typeface="Courier New"/>
                <a:cs typeface="Courier New"/>
              </a:rPr>
              <a:t>#Result Propagation
#MCP Client → LLM</a:t>
            </a:r>
            <a:r>
              <a:rPr lang="en-US" sz="710">
                <a:solidFill>
                  <a:srgbClr val="2F6B39"/>
                </a:solidFill>
                <a:latin typeface="Courier New"/>
                <a:cs typeface="Courier New"/>
              </a:rPr>
              <a:t>
{
  "role": "tool",
  "toolName": "create_issue",
  "toolCallId": 3,
  "content": "Created issue #123"
}</a:t>
            </a:r>
            <a:endParaRPr lang="en-IN" sz="710">
              <a:solidFill>
                <a:srgbClr val="2F6B39"/>
              </a:solidFill>
              <a:latin typeface="Courier New"/>
              <a:cs typeface="Courier New"/>
            </a:endParaRPr>
          </a:p>
        </p:txBody>
      </p:sp>
      <p:sp>
        <p:nvSpPr>
          <p:cNvPr id="21" name="TextBox 20">
            <a:extLst>
              <a:ext uri="{FF2B5EF4-FFF2-40B4-BE49-F238E27FC236}">
                <a16:creationId xmlns:a16="http://schemas.microsoft.com/office/drawing/2014/main" id="{8BF1E1CA-B002-4E2D-AB24-653DE6B54728}"/>
              </a:ext>
            </a:extLst>
          </p:cNvPr>
          <p:cNvSpPr txBox="1"/>
          <p:nvPr/>
        </p:nvSpPr>
        <p:spPr>
          <a:xfrm>
            <a:off x="3759200" y="3327400"/>
            <a:ext cx="2336800" cy="2387600"/>
          </a:xfrm>
          <a:prstGeom prst="rect">
            <a:avLst/>
          </a:prstGeom>
          <a:noFill/>
        </p:spPr>
        <p:txBody>
          <a:bodyPr vertOverflow="overflow" vert="horz" wrap="square" rtlCol="0" anchor="t">
            <a:noAutofit/>
          </a:bodyPr>
          <a:lstStyle/>
          <a:p>
            <a:pPr algn="l"/>
            <a:r>
              <a:rPr lang="en-US" sz="690">
                <a:solidFill>
                  <a:srgbClr val="E36B6B"/>
                </a:solidFill>
                <a:latin typeface="Courier New"/>
                <a:cs typeface="Courier New"/>
              </a:rPr>
              <a:t>LLM Acknowledges
Ready to Answer User</a:t>
            </a:r>
            <a:r>
              <a:rPr lang="en-US" sz="690">
                <a:solidFill>
                  <a:srgbClr val="2F6B39"/>
                </a:solidFill>
                <a:latin typeface="Courier New"/>
                <a:cs typeface="Courier New"/>
              </a:rPr>
              <a:t>
{
  "observed": {
    "issueNumber": 123,
    "title": "Login bug",
    "status": "created"
  },
  "nextStep": "final response"
}</a:t>
            </a:r>
            <a:endParaRPr lang="en-IN" sz="690">
              <a:solidFill>
                <a:srgbClr val="2F6B39"/>
              </a:solidFill>
              <a:latin typeface="Courier New"/>
              <a:cs typeface="Courier New"/>
            </a:endParaRPr>
          </a:p>
        </p:txBody>
      </p:sp>
    </p:spTree>
    <p:extLst>
      <p:ext uri="{BB962C8B-B14F-4D97-AF65-F5344CB8AC3E}">
        <p14:creationId xmlns:p14="http://schemas.microsoft.com/office/powerpoint/2010/main" val="17823527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4CEFC7-A87D-4538-8959-565A1D855C05}"/>
              </a:ext>
            </a:extLst>
          </p:cNvPr>
          <p:cNvSpPr/>
          <p:nvPr/>
        </p:nvSpPr>
        <p:spPr>
          <a:xfrm>
            <a:off x="728980" y="2616200"/>
            <a:ext cx="5461000" cy="3352800"/>
          </a:xfrm>
          <a:prstGeom prst="rect">
            <a:avLst/>
          </a:prstGeom>
          <a:solidFill>
            <a:srgbClr val="AEBBC4"/>
          </a:solidFill>
          <a:ln w="34925" cap="flat" cmpd="sng" algn="in">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 name="Title 1">
            <a:extLst>
              <a:ext uri="{FF2B5EF4-FFF2-40B4-BE49-F238E27FC236}">
                <a16:creationId xmlns:a16="http://schemas.microsoft.com/office/drawing/2014/main" id="{EAB9F15A-CAFC-0FEA-2AD7-D0E3FD809CF7}"/>
              </a:ext>
            </a:extLst>
          </p:cNvPr>
          <p:cNvSpPr>
            <a:spLocks noGrp="1"/>
          </p:cNvSpPr>
          <p:nvPr>
            <p:ph type="title"/>
          </p:nvPr>
        </p:nvSpPr>
        <p:spPr>
          <a:xfrm>
            <a:off x="982493" y="145915"/>
            <a:ext cx="5204298" cy="521995"/>
          </a:xfrm>
        </p:spPr>
        <p:txBody>
          <a:bodyPr anchor="t">
            <a:normAutofit/>
          </a:bodyPr>
          <a:lstStyle/>
          <a:p>
            <a:r>
              <a:rPr lang="en-IN" sz="1200" dirty="0"/>
              <a:t>MCP Communication Lifecycle</a:t>
            </a:r>
          </a:p>
        </p:txBody>
      </p:sp>
      <p:pic>
        <p:nvPicPr>
          <p:cNvPr id="9" name="Content Placeholder 8">
            <a:extLst>
              <a:ext uri="{FF2B5EF4-FFF2-40B4-BE49-F238E27FC236}">
                <a16:creationId xmlns:a16="http://schemas.microsoft.com/office/drawing/2014/main" id="{88BF5770-C879-AFC3-A894-C576ED432F8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p:blipFill>
        <p:spPr>
          <a:xfrm>
            <a:off x="5796502" y="145915"/>
            <a:ext cx="6178248" cy="6566170"/>
          </a:xfrm>
          <a:prstGeom prst="rect">
            <a:avLst/>
          </a:prstGeom>
          <a:noFill/>
        </p:spPr>
      </p:pic>
      <p:sp>
        <p:nvSpPr>
          <p:cNvPr id="11" name="TextBox 10">
            <a:extLst>
              <a:ext uri="{FF2B5EF4-FFF2-40B4-BE49-F238E27FC236}">
                <a16:creationId xmlns:a16="http://schemas.microsoft.com/office/drawing/2014/main" id="{FC1A1B8C-739B-DAD6-A85F-A7DF828F3999}"/>
              </a:ext>
            </a:extLst>
          </p:cNvPr>
          <p:cNvSpPr txBox="1"/>
          <p:nvPr/>
        </p:nvSpPr>
        <p:spPr>
          <a:xfrm>
            <a:off x="729532" y="475400"/>
            <a:ext cx="5575852" cy="1754326"/>
          </a:xfrm>
          <a:prstGeom prst="rect">
            <a:avLst/>
          </a:prstGeom>
          <a:noFill/>
        </p:spPr>
        <p:txBody>
          <a:bodyPr wrap="square">
            <a:spAutoFit/>
          </a:bodyPr>
          <a:lstStyle/>
          <a:p>
            <a:r>
              <a:rPr lang="en-IN" sz="1200" b="1" dirty="0"/>
              <a:t>Step 1: Connection &amp; Initialization</a:t>
            </a:r>
            <a:br>
              <a:rPr lang="en-IN" sz="1200" dirty="0"/>
            </a:br>
            <a:r>
              <a:rPr lang="en-IN" sz="1200" dirty="0"/>
              <a:t>Before any tool can be used, the client and server perform a handshake.</a:t>
            </a:r>
          </a:p>
          <a:p>
            <a:r>
              <a:rPr lang="en-IN" sz="1200" dirty="0"/>
              <a:t>The client introduces itself and asks:</a:t>
            </a:r>
          </a:p>
          <a:p>
            <a:r>
              <a:rPr lang="en-IN" sz="1200" dirty="0"/>
              <a:t>"Can we communicate? What do you support?“</a:t>
            </a:r>
            <a:br>
              <a:rPr lang="en-IN" sz="1200" dirty="0"/>
            </a:br>
            <a:r>
              <a:rPr lang="en-IN" sz="1200" dirty="0"/>
              <a:t>The client tells the server:</a:t>
            </a:r>
          </a:p>
          <a:p>
            <a:r>
              <a:rPr lang="en-IN" sz="1200" dirty="0"/>
              <a:t>Who it is</a:t>
            </a:r>
          </a:p>
          <a:p>
            <a:r>
              <a:rPr lang="en-IN" sz="1200" dirty="0"/>
              <a:t>Which MCP version it supports</a:t>
            </a:r>
          </a:p>
          <a:p>
            <a:r>
              <a:rPr lang="en-IN" sz="1200" dirty="0"/>
              <a:t>What capabilities it has</a:t>
            </a:r>
            <a:br>
              <a:rPr lang="en-IN" sz="1200" dirty="0"/>
            </a:br>
            <a:endParaRPr lang="en-IN" sz="1200" dirty="0"/>
          </a:p>
        </p:txBody>
      </p:sp>
      <p:pic>
        <p:nvPicPr>
          <p:cNvPr id="24" name="Picture 23">
            <a:extLst>
              <a:ext uri="{FF2B5EF4-FFF2-40B4-BE49-F238E27FC236}">
                <a16:creationId xmlns:a16="http://schemas.microsoft.com/office/drawing/2014/main" id="{DE554D76-CDE3-3975-6C74-21D7781393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532" y="2616820"/>
            <a:ext cx="3047338" cy="3354610"/>
          </a:xfrm>
          <a:prstGeom prst="rect">
            <a:avLst/>
          </a:prstGeom>
        </p:spPr>
      </p:pic>
      <p:pic>
        <p:nvPicPr>
          <p:cNvPr id="26" name="Picture 25">
            <a:extLst>
              <a:ext uri="{FF2B5EF4-FFF2-40B4-BE49-F238E27FC236}">
                <a16:creationId xmlns:a16="http://schemas.microsoft.com/office/drawing/2014/main" id="{F9340B69-6ECB-3487-0F0D-831EA0822C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02387" y="2616820"/>
            <a:ext cx="2984404" cy="3436717"/>
          </a:xfrm>
          <a:prstGeom prst="rect">
            <a:avLst/>
          </a:prstGeom>
        </p:spPr>
      </p:pic>
      <p:sp>
        <p:nvSpPr>
          <p:cNvPr id="4" name="Rectangle 3">
            <a:extLst>
              <a:ext uri="{FF2B5EF4-FFF2-40B4-BE49-F238E27FC236}">
                <a16:creationId xmlns:a16="http://schemas.microsoft.com/office/drawing/2014/main" id="{E9F03700-53E0-467C-A48E-37B26DD55BC7}"/>
              </a:ext>
            </a:extLst>
          </p:cNvPr>
          <p:cNvSpPr/>
          <p:nvPr/>
        </p:nvSpPr>
        <p:spPr>
          <a:xfrm>
            <a:off x="1092200" y="2997200"/>
            <a:ext cx="2413000" cy="2819400"/>
          </a:xfrm>
          <a:prstGeom prst="rect">
            <a:avLst/>
          </a:prstGeom>
          <a:solidFill>
            <a:srgbClr val="FFFFFF"/>
          </a:solidFill>
          <a:ln w="9525" cap="flat" cmpd="sng" algn="in">
            <a:solidFill>
              <a:srgbClr val="E4E7E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Rectangle 4">
            <a:extLst>
              <a:ext uri="{FF2B5EF4-FFF2-40B4-BE49-F238E27FC236}">
                <a16:creationId xmlns:a16="http://schemas.microsoft.com/office/drawing/2014/main" id="{434BBE48-6C2E-4F2B-A72E-950403BF760F}"/>
              </a:ext>
            </a:extLst>
          </p:cNvPr>
          <p:cNvSpPr/>
          <p:nvPr/>
        </p:nvSpPr>
        <p:spPr>
          <a:xfrm>
            <a:off x="3657600" y="2997200"/>
            <a:ext cx="2540000" cy="2819400"/>
          </a:xfrm>
          <a:prstGeom prst="rect">
            <a:avLst/>
          </a:prstGeom>
          <a:solidFill>
            <a:srgbClr val="FFFFFF"/>
          </a:solidFill>
          <a:ln w="9525" cap="flat" cmpd="sng" algn="in">
            <a:solidFill>
              <a:srgbClr val="E4E7E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 name="TextBox 5">
            <a:extLst>
              <a:ext uri="{FF2B5EF4-FFF2-40B4-BE49-F238E27FC236}">
                <a16:creationId xmlns:a16="http://schemas.microsoft.com/office/drawing/2014/main" id="{7DC860B6-A274-4744-A711-9414B75B325C}"/>
              </a:ext>
            </a:extLst>
          </p:cNvPr>
          <p:cNvSpPr txBox="1"/>
          <p:nvPr/>
        </p:nvSpPr>
        <p:spPr>
          <a:xfrm>
            <a:off x="1193800" y="3073400"/>
            <a:ext cx="685800" cy="152400"/>
          </a:xfrm>
          <a:prstGeom prst="rect">
            <a:avLst/>
          </a:prstGeom>
          <a:noFill/>
        </p:spPr>
        <p:txBody>
          <a:bodyPr vertOverflow="overflow" vert="horz" wrap="square" rtlCol="0" anchor="t">
            <a:noAutofit/>
          </a:bodyPr>
          <a:lstStyle/>
          <a:p>
            <a:pPr algn="l"/>
            <a:r>
              <a:rPr lang="en-IN" sz="800">
                <a:solidFill>
                  <a:srgbClr val="EF4444"/>
                </a:solidFill>
                <a:latin typeface="Arial"/>
                <a:cs typeface="Arial"/>
              </a:rPr>
              <a:t>● ● ●</a:t>
            </a:r>
          </a:p>
        </p:txBody>
      </p:sp>
      <p:sp>
        <p:nvSpPr>
          <p:cNvPr id="7" name="TextBox 6">
            <a:extLst>
              <a:ext uri="{FF2B5EF4-FFF2-40B4-BE49-F238E27FC236}">
                <a16:creationId xmlns:a16="http://schemas.microsoft.com/office/drawing/2014/main" id="{1091C7F7-C421-4CD0-97F1-342AB79FC624}"/>
              </a:ext>
            </a:extLst>
          </p:cNvPr>
          <p:cNvSpPr txBox="1"/>
          <p:nvPr/>
        </p:nvSpPr>
        <p:spPr>
          <a:xfrm>
            <a:off x="3759200" y="3073400"/>
            <a:ext cx="685800" cy="152400"/>
          </a:xfrm>
          <a:prstGeom prst="rect">
            <a:avLst/>
          </a:prstGeom>
          <a:noFill/>
        </p:spPr>
        <p:txBody>
          <a:bodyPr vertOverflow="overflow" vert="horz" wrap="square" rtlCol="0" anchor="t">
            <a:noAutofit/>
          </a:bodyPr>
          <a:lstStyle/>
          <a:p>
            <a:pPr algn="l"/>
            <a:r>
              <a:rPr lang="en-IN" sz="800">
                <a:solidFill>
                  <a:srgbClr val="EF4444"/>
                </a:solidFill>
                <a:latin typeface="Arial"/>
                <a:cs typeface="Arial"/>
              </a:rPr>
              <a:t>● ● ●</a:t>
            </a:r>
          </a:p>
        </p:txBody>
      </p:sp>
      <p:sp>
        <p:nvSpPr>
          <p:cNvPr id="8" name="TextBox 7">
            <a:extLst>
              <a:ext uri="{FF2B5EF4-FFF2-40B4-BE49-F238E27FC236}">
                <a16:creationId xmlns:a16="http://schemas.microsoft.com/office/drawing/2014/main" id="{45C0ED01-83F9-4337-AA59-E308C8092231}"/>
              </a:ext>
            </a:extLst>
          </p:cNvPr>
          <p:cNvSpPr txBox="1"/>
          <p:nvPr/>
        </p:nvSpPr>
        <p:spPr>
          <a:xfrm>
            <a:off x="1193800" y="3327400"/>
            <a:ext cx="2209800" cy="2387600"/>
          </a:xfrm>
          <a:prstGeom prst="rect">
            <a:avLst/>
          </a:prstGeom>
          <a:noFill/>
        </p:spPr>
        <p:txBody>
          <a:bodyPr vertOverflow="overflow" vert="horz" wrap="square" rtlCol="0" anchor="t">
            <a:noAutofit/>
          </a:bodyPr>
          <a:lstStyle/>
          <a:p>
            <a:pPr algn="l"/>
            <a:r>
              <a:rPr lang="en-IN" sz="720">
                <a:solidFill>
                  <a:srgbClr val="E36B6B"/>
                </a:solidFill>
                <a:latin typeface="Courier New"/>
                <a:cs typeface="Courier New"/>
              </a:rPr>
              <a:t>#LLM Response Draft
#AI Host</a:t>
            </a:r>
            <a:r>
              <a:rPr lang="en-IN" sz="720">
                <a:solidFill>
                  <a:srgbClr val="3B7A3D"/>
                </a:solidFill>
                <a:latin typeface="Courier New"/>
                <a:cs typeface="Courier New"/>
              </a:rPr>
              <a:t>
{
  "source": "tool result",
  "issue": {
    "number": 123,
    "title": "Login bug"
  },
  "userMessage": "Created GitHub issue #123"
}</a:t>
            </a:r>
          </a:p>
        </p:txBody>
      </p:sp>
      <p:sp>
        <p:nvSpPr>
          <p:cNvPr id="10" name="TextBox 9">
            <a:extLst>
              <a:ext uri="{FF2B5EF4-FFF2-40B4-BE49-F238E27FC236}">
                <a16:creationId xmlns:a16="http://schemas.microsoft.com/office/drawing/2014/main" id="{4EED9C65-5CF2-4F1B-B331-B6AD62132649}"/>
              </a:ext>
            </a:extLst>
          </p:cNvPr>
          <p:cNvSpPr txBox="1"/>
          <p:nvPr/>
        </p:nvSpPr>
        <p:spPr>
          <a:xfrm>
            <a:off x="3759200" y="3327400"/>
            <a:ext cx="2336800" cy="2387600"/>
          </a:xfrm>
          <a:prstGeom prst="rect">
            <a:avLst/>
          </a:prstGeom>
          <a:noFill/>
        </p:spPr>
        <p:txBody>
          <a:bodyPr vertOverflow="overflow" vert="horz" wrap="square" rtlCol="0" anchor="t">
            <a:noAutofit/>
          </a:bodyPr>
          <a:lstStyle/>
          <a:p>
            <a:pPr algn="l"/>
            <a:r>
              <a:rPr lang="en-US" sz="700">
                <a:solidFill>
                  <a:srgbClr val="E36B6B"/>
                </a:solidFill>
                <a:latin typeface="Courier New"/>
                <a:cs typeface="Courier New"/>
              </a:rPr>
              <a:t>Final User Message
AI Host → User</a:t>
            </a:r>
            <a:r>
              <a:rPr lang="en-US" sz="700">
                <a:solidFill>
                  <a:srgbClr val="3B7A3D"/>
                </a:solidFill>
                <a:latin typeface="Courier New"/>
                <a:cs typeface="Courier New"/>
              </a:rPr>
              <a:t>
{
  "message": "Created GitHub issue #123 for the login bug.",
  "complete": true
}</a:t>
            </a:r>
            <a:endParaRPr lang="en-IN" sz="700">
              <a:solidFill>
                <a:srgbClr val="3B7A3D"/>
              </a:solidFill>
              <a:latin typeface="Courier New"/>
              <a:cs typeface="Courier New"/>
            </a:endParaRPr>
          </a:p>
        </p:txBody>
      </p:sp>
      <p:sp>
        <p:nvSpPr>
          <p:cNvPr id="12" name="TextBox 11">
            <a:extLst>
              <a:ext uri="{FF2B5EF4-FFF2-40B4-BE49-F238E27FC236}">
                <a16:creationId xmlns:a16="http://schemas.microsoft.com/office/drawing/2014/main" id="{4397E3F3-8589-4C44-B096-1C251A9286CF}"/>
              </a:ext>
            </a:extLst>
          </p:cNvPr>
          <p:cNvSpPr txBox="1"/>
          <p:nvPr/>
        </p:nvSpPr>
        <p:spPr>
          <a:xfrm>
            <a:off x="729488" y="475361"/>
            <a:ext cx="5334000" cy="1841500"/>
          </a:xfrm>
          <a:prstGeom prst="rect">
            <a:avLst/>
          </a:prstGeom>
          <a:noFill/>
        </p:spPr>
        <p:txBody>
          <a:bodyPr vertOverflow="overflow" vert="horz" wrap="square" rtlCol="0" anchor="t">
            <a:noAutofit/>
          </a:bodyPr>
          <a:lstStyle/>
          <a:p>
            <a:pPr algn="l"/>
            <a:r>
              <a:rPr lang="en-US" sz="1050" b="1">
                <a:solidFill>
                  <a:srgbClr val="000000"/>
                </a:solidFill>
                <a:latin typeface="Arial"/>
                <a:cs typeface="Arial"/>
              </a:rPr>
              <a:t>Step 6. Final AI Response</a:t>
            </a:r>
            <a:r>
              <a:rPr lang="en-US" sz="1050">
                <a:solidFill>
                  <a:srgbClr val="000000"/>
                </a:solidFill>
                <a:latin typeface="Arial"/>
                <a:cs typeface="Arial"/>
              </a:rPr>
              <a:t>
The LLM responds to the user in plain language:
“Created GitHub issue #123 for the login bug.”
The final response summarizes the tool outcome without exposing the full JSON-RPC exchange.</a:t>
            </a:r>
            <a:endParaRPr lang="en-IN" sz="1050">
              <a:solidFill>
                <a:srgbClr val="000000"/>
              </a:solidFill>
              <a:latin typeface="Arial"/>
              <a:cs typeface="Arial"/>
            </a:endParaRPr>
          </a:p>
        </p:txBody>
      </p:sp>
      <p:sp>
        <p:nvSpPr>
          <p:cNvPr id="13" name="Rectangle 12">
            <a:extLst>
              <a:ext uri="{FF2B5EF4-FFF2-40B4-BE49-F238E27FC236}">
                <a16:creationId xmlns:a16="http://schemas.microsoft.com/office/drawing/2014/main" id="{2E6F4F60-DB8B-4DE8-95F2-02B733749D1E}"/>
              </a:ext>
            </a:extLst>
          </p:cNvPr>
          <p:cNvSpPr/>
          <p:nvPr/>
        </p:nvSpPr>
        <p:spPr>
          <a:xfrm>
            <a:off x="635000" y="457200"/>
            <a:ext cx="5461000" cy="2108200"/>
          </a:xfrm>
          <a:prstGeom prst="rect">
            <a:avLst/>
          </a:prstGeom>
          <a:solidFill>
            <a:srgbClr val="EEECE1"/>
          </a:solidFill>
          <a:ln w="34925" cap="flat" cmpd="sng" algn="in">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4" name="TextBox 13">
            <a:extLst>
              <a:ext uri="{FF2B5EF4-FFF2-40B4-BE49-F238E27FC236}">
                <a16:creationId xmlns:a16="http://schemas.microsoft.com/office/drawing/2014/main" id="{8CA295CD-9781-4718-97C9-38670CD96C5D}"/>
              </a:ext>
            </a:extLst>
          </p:cNvPr>
          <p:cNvSpPr txBox="1"/>
          <p:nvPr/>
        </p:nvSpPr>
        <p:spPr>
          <a:xfrm>
            <a:off x="729488" y="546100"/>
            <a:ext cx="5308600" cy="1905000"/>
          </a:xfrm>
          <a:prstGeom prst="rect">
            <a:avLst/>
          </a:prstGeom>
          <a:noFill/>
        </p:spPr>
        <p:txBody>
          <a:bodyPr vertOverflow="overflow" vert="horz" wrap="square" rtlCol="0" anchor="t">
            <a:noAutofit/>
          </a:bodyPr>
          <a:lstStyle/>
          <a:p>
            <a:pPr algn="l"/>
            <a:r>
              <a:rPr lang="en-US" sz="1050" b="1">
                <a:solidFill>
                  <a:srgbClr val="000000"/>
                </a:solidFill>
                <a:latin typeface="Arial"/>
                <a:cs typeface="Arial"/>
              </a:rPr>
              <a:t>Step 6. Final AI Response</a:t>
            </a:r>
            <a:r>
              <a:rPr lang="en-US" sz="1050">
                <a:solidFill>
                  <a:srgbClr val="000000"/>
                </a:solidFill>
                <a:latin typeface="Arial"/>
                <a:cs typeface="Arial"/>
              </a:rPr>
              <a:t>
The LLM responds to the user in plain language:
“Created GitHub issue #123 for the login bug.”
The final response summarizes the tool outcome without exposing the full JSON-RPC exchange.</a:t>
            </a:r>
            <a:endParaRPr lang="en-IN" sz="1050">
              <a:solidFill>
                <a:srgbClr val="000000"/>
              </a:solidFill>
              <a:latin typeface="Arial"/>
              <a:cs typeface="Arial"/>
            </a:endParaRPr>
          </a:p>
        </p:txBody>
      </p:sp>
      <p:sp>
        <p:nvSpPr>
          <p:cNvPr id="15" name="Rectangle 14">
            <a:extLst>
              <a:ext uri="{FF2B5EF4-FFF2-40B4-BE49-F238E27FC236}">
                <a16:creationId xmlns:a16="http://schemas.microsoft.com/office/drawing/2014/main" id="{45957DE3-FFAF-4187-B2E0-2FD87AC78F0E}"/>
              </a:ext>
            </a:extLst>
          </p:cNvPr>
          <p:cNvSpPr/>
          <p:nvPr/>
        </p:nvSpPr>
        <p:spPr>
          <a:xfrm>
            <a:off x="728980" y="2616200"/>
            <a:ext cx="5461000" cy="3352800"/>
          </a:xfrm>
          <a:prstGeom prst="rect">
            <a:avLst/>
          </a:prstGeom>
          <a:solidFill>
            <a:srgbClr val="AEBBC4"/>
          </a:solidFill>
          <a:ln w="34925" cap="flat" cmpd="sng" algn="in">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6" name="Rectangle 15">
            <a:extLst>
              <a:ext uri="{FF2B5EF4-FFF2-40B4-BE49-F238E27FC236}">
                <a16:creationId xmlns:a16="http://schemas.microsoft.com/office/drawing/2014/main" id="{24C6B1AE-E1A8-4DBE-ABD6-1EB9A640B03E}"/>
              </a:ext>
            </a:extLst>
          </p:cNvPr>
          <p:cNvSpPr/>
          <p:nvPr/>
        </p:nvSpPr>
        <p:spPr>
          <a:xfrm>
            <a:off x="1092200" y="2997200"/>
            <a:ext cx="2413000" cy="2819400"/>
          </a:xfrm>
          <a:prstGeom prst="rect">
            <a:avLst/>
          </a:prstGeom>
          <a:solidFill>
            <a:srgbClr val="FFFFFF"/>
          </a:solidFill>
          <a:ln w="9525" cap="flat" cmpd="sng" algn="in">
            <a:solidFill>
              <a:srgbClr val="E4E7E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7" name="Rectangle 16">
            <a:extLst>
              <a:ext uri="{FF2B5EF4-FFF2-40B4-BE49-F238E27FC236}">
                <a16:creationId xmlns:a16="http://schemas.microsoft.com/office/drawing/2014/main" id="{F94E1BC4-C471-478F-8061-E572D19FE2C2}"/>
              </a:ext>
            </a:extLst>
          </p:cNvPr>
          <p:cNvSpPr/>
          <p:nvPr/>
        </p:nvSpPr>
        <p:spPr>
          <a:xfrm>
            <a:off x="3657600" y="2997200"/>
            <a:ext cx="2540000" cy="2819400"/>
          </a:xfrm>
          <a:prstGeom prst="rect">
            <a:avLst/>
          </a:prstGeom>
          <a:solidFill>
            <a:srgbClr val="FFFFFF"/>
          </a:solidFill>
          <a:ln w="9525" cap="flat" cmpd="sng" algn="in">
            <a:solidFill>
              <a:srgbClr val="E4E7EB"/>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8" name="TextBox 17">
            <a:extLst>
              <a:ext uri="{FF2B5EF4-FFF2-40B4-BE49-F238E27FC236}">
                <a16:creationId xmlns:a16="http://schemas.microsoft.com/office/drawing/2014/main" id="{B1F1BADC-ED37-4C4A-B8AD-1C6D3F5E9C72}"/>
              </a:ext>
            </a:extLst>
          </p:cNvPr>
          <p:cNvSpPr txBox="1"/>
          <p:nvPr/>
        </p:nvSpPr>
        <p:spPr>
          <a:xfrm>
            <a:off x="1193800" y="3073400"/>
            <a:ext cx="685800" cy="152400"/>
          </a:xfrm>
          <a:prstGeom prst="rect">
            <a:avLst/>
          </a:prstGeom>
          <a:noFill/>
        </p:spPr>
        <p:txBody>
          <a:bodyPr vertOverflow="overflow" vert="horz" wrap="square" rtlCol="0" anchor="t">
            <a:noAutofit/>
          </a:bodyPr>
          <a:lstStyle/>
          <a:p>
            <a:pPr algn="l"/>
            <a:r>
              <a:rPr lang="en-IN" sz="800">
                <a:solidFill>
                  <a:srgbClr val="EF4444"/>
                </a:solidFill>
                <a:latin typeface="Arial"/>
                <a:cs typeface="Arial"/>
              </a:rPr>
              <a:t>● ● ●</a:t>
            </a:r>
          </a:p>
        </p:txBody>
      </p:sp>
      <p:sp>
        <p:nvSpPr>
          <p:cNvPr id="19" name="TextBox 18">
            <a:extLst>
              <a:ext uri="{FF2B5EF4-FFF2-40B4-BE49-F238E27FC236}">
                <a16:creationId xmlns:a16="http://schemas.microsoft.com/office/drawing/2014/main" id="{3B2DFE7E-6520-4D3C-87FA-691D0582BDFB}"/>
              </a:ext>
            </a:extLst>
          </p:cNvPr>
          <p:cNvSpPr txBox="1"/>
          <p:nvPr/>
        </p:nvSpPr>
        <p:spPr>
          <a:xfrm>
            <a:off x="3759200" y="3073400"/>
            <a:ext cx="685800" cy="152400"/>
          </a:xfrm>
          <a:prstGeom prst="rect">
            <a:avLst/>
          </a:prstGeom>
          <a:noFill/>
        </p:spPr>
        <p:txBody>
          <a:bodyPr vertOverflow="overflow" vert="horz" wrap="square" rtlCol="0" anchor="t">
            <a:noAutofit/>
          </a:bodyPr>
          <a:lstStyle/>
          <a:p>
            <a:pPr algn="l"/>
            <a:r>
              <a:rPr lang="en-IN" sz="800">
                <a:solidFill>
                  <a:srgbClr val="EF4444"/>
                </a:solidFill>
                <a:latin typeface="Arial"/>
                <a:cs typeface="Arial"/>
              </a:rPr>
              <a:t>● ● ●</a:t>
            </a:r>
          </a:p>
        </p:txBody>
      </p:sp>
      <p:sp>
        <p:nvSpPr>
          <p:cNvPr id="20" name="TextBox 19">
            <a:extLst>
              <a:ext uri="{FF2B5EF4-FFF2-40B4-BE49-F238E27FC236}">
                <a16:creationId xmlns:a16="http://schemas.microsoft.com/office/drawing/2014/main" id="{AF5DA483-EAAF-4386-B90D-294FF76EF787}"/>
              </a:ext>
            </a:extLst>
          </p:cNvPr>
          <p:cNvSpPr txBox="1"/>
          <p:nvPr/>
        </p:nvSpPr>
        <p:spPr>
          <a:xfrm>
            <a:off x="1193800" y="3327400"/>
            <a:ext cx="2209800" cy="2387600"/>
          </a:xfrm>
          <a:prstGeom prst="rect">
            <a:avLst/>
          </a:prstGeom>
          <a:noFill/>
        </p:spPr>
        <p:txBody>
          <a:bodyPr vertOverflow="overflow" vert="horz" wrap="square" rtlCol="0" anchor="t">
            <a:noAutofit/>
          </a:bodyPr>
          <a:lstStyle/>
          <a:p>
            <a:pPr algn="l"/>
            <a:r>
              <a:rPr lang="en-IN" sz="710">
                <a:solidFill>
                  <a:srgbClr val="E36B6B"/>
                </a:solidFill>
                <a:latin typeface="Courier New"/>
                <a:cs typeface="Courier New"/>
              </a:rPr>
              <a:t>#LLM Response Draft
#AI Host</a:t>
            </a:r>
            <a:r>
              <a:rPr lang="en-IN" sz="710">
                <a:solidFill>
                  <a:srgbClr val="2F6B39"/>
                </a:solidFill>
                <a:latin typeface="Courier New"/>
                <a:cs typeface="Courier New"/>
              </a:rPr>
              <a:t>
{
  "source": "tool result",
  "issue": {
    "number": 123,
    "title": "Login bug"
  },
  "userMessage": "Created GitHub issue #123"
}</a:t>
            </a:r>
          </a:p>
        </p:txBody>
      </p:sp>
      <p:sp>
        <p:nvSpPr>
          <p:cNvPr id="21" name="TextBox 20">
            <a:extLst>
              <a:ext uri="{FF2B5EF4-FFF2-40B4-BE49-F238E27FC236}">
                <a16:creationId xmlns:a16="http://schemas.microsoft.com/office/drawing/2014/main" id="{ECBCB8A8-2B4D-4BFB-BFB0-3B3E2D345BC0}"/>
              </a:ext>
            </a:extLst>
          </p:cNvPr>
          <p:cNvSpPr txBox="1"/>
          <p:nvPr/>
        </p:nvSpPr>
        <p:spPr>
          <a:xfrm>
            <a:off x="3759200" y="3327400"/>
            <a:ext cx="2336800" cy="2387600"/>
          </a:xfrm>
          <a:prstGeom prst="rect">
            <a:avLst/>
          </a:prstGeom>
          <a:noFill/>
        </p:spPr>
        <p:txBody>
          <a:bodyPr vertOverflow="overflow" vert="horz" wrap="square" rtlCol="0" anchor="t">
            <a:noAutofit/>
          </a:bodyPr>
          <a:lstStyle/>
          <a:p>
            <a:pPr algn="l"/>
            <a:r>
              <a:rPr lang="en-US" sz="690">
                <a:solidFill>
                  <a:srgbClr val="E36B6B"/>
                </a:solidFill>
                <a:latin typeface="Courier New"/>
                <a:cs typeface="Courier New"/>
              </a:rPr>
              <a:t>Final User Message
AI Host → User</a:t>
            </a:r>
            <a:r>
              <a:rPr lang="en-US" sz="690">
                <a:solidFill>
                  <a:srgbClr val="2F6B39"/>
                </a:solidFill>
                <a:latin typeface="Courier New"/>
                <a:cs typeface="Courier New"/>
              </a:rPr>
              <a:t>
{
  "message": "Created GitHub issue #123 for the login bug.",
  "complete": true
}</a:t>
            </a:r>
            <a:endParaRPr lang="en-IN" sz="690">
              <a:solidFill>
                <a:srgbClr val="2F6B39"/>
              </a:solidFill>
              <a:latin typeface="Courier New"/>
              <a:cs typeface="Courier New"/>
            </a:endParaRPr>
          </a:p>
        </p:txBody>
      </p:sp>
    </p:spTree>
    <p:extLst>
      <p:ext uri="{BB962C8B-B14F-4D97-AF65-F5344CB8AC3E}">
        <p14:creationId xmlns:p14="http://schemas.microsoft.com/office/powerpoint/2010/main" val="124404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C81DB-B1C8-5D63-8445-470A1FB1D489}"/>
              </a:ext>
            </a:extLst>
          </p:cNvPr>
          <p:cNvSpPr>
            <a:spLocks noGrp="1"/>
          </p:cNvSpPr>
          <p:nvPr>
            <p:ph type="title"/>
          </p:nvPr>
        </p:nvSpPr>
        <p:spPr/>
        <p:txBody>
          <a:bodyPr/>
          <a:lstStyle/>
          <a:p>
            <a:r>
              <a:rPr lang="en-IN" dirty="0"/>
              <a:t>MCP Transports — How MCP Clients and Servers Communicate</a:t>
            </a:r>
          </a:p>
        </p:txBody>
      </p:sp>
      <p:sp>
        <p:nvSpPr>
          <p:cNvPr id="3" name="Content Placeholder 2">
            <a:extLst>
              <a:ext uri="{FF2B5EF4-FFF2-40B4-BE49-F238E27FC236}">
                <a16:creationId xmlns:a16="http://schemas.microsoft.com/office/drawing/2014/main" id="{24F8599D-3C68-4EA8-E4D4-D568F2E0E894}"/>
              </a:ext>
            </a:extLst>
          </p:cNvPr>
          <p:cNvSpPr>
            <a:spLocks noGrp="1"/>
          </p:cNvSpPr>
          <p:nvPr>
            <p:ph idx="1"/>
          </p:nvPr>
        </p:nvSpPr>
        <p:spPr/>
        <p:txBody>
          <a:bodyPr>
            <a:normAutofit fontScale="85000" lnSpcReduction="20000"/>
          </a:bodyPr>
          <a:lstStyle/>
          <a:p>
            <a:pPr marL="0" indent="0">
              <a:buNone/>
            </a:pPr>
            <a:r>
              <a:rPr lang="en-IN" b="1" dirty="0"/>
              <a:t>Why Do We Need a Transport Layer?</a:t>
            </a:r>
          </a:p>
          <a:p>
            <a:pPr marL="0" indent="0">
              <a:buNone/>
            </a:pPr>
            <a:r>
              <a:rPr lang="en-IN" dirty="0"/>
              <a:t>MCP defines </a:t>
            </a:r>
            <a:r>
              <a:rPr lang="en-IN" b="1" dirty="0"/>
              <a:t>what messages are exchanged</a:t>
            </a:r>
            <a:r>
              <a:rPr lang="en-IN" dirty="0"/>
              <a:t> between an AI client and a server.</a:t>
            </a:r>
          </a:p>
          <a:p>
            <a:pPr marL="0" indent="0">
              <a:buNone/>
            </a:pPr>
            <a:r>
              <a:rPr lang="en-IN" dirty="0"/>
              <a:t>Examples:</a:t>
            </a:r>
          </a:p>
          <a:p>
            <a:pPr lvl="1"/>
            <a:r>
              <a:rPr lang="en-IN" dirty="0"/>
              <a:t>initialize </a:t>
            </a:r>
          </a:p>
          <a:p>
            <a:pPr lvl="1"/>
            <a:r>
              <a:rPr lang="en-IN" dirty="0"/>
              <a:t>tools/list </a:t>
            </a:r>
          </a:p>
          <a:p>
            <a:pPr lvl="1"/>
            <a:r>
              <a:rPr lang="en-IN" dirty="0"/>
              <a:t>tools/call 	</a:t>
            </a:r>
          </a:p>
          <a:p>
            <a:pPr lvl="1"/>
            <a:r>
              <a:rPr lang="en-IN" dirty="0"/>
              <a:t>resources/read </a:t>
            </a:r>
          </a:p>
          <a:p>
            <a:pPr marL="0" indent="0">
              <a:buNone/>
            </a:pPr>
            <a:r>
              <a:rPr lang="en-IN" dirty="0"/>
              <a:t>But MCP does not assume where the server runs.</a:t>
            </a:r>
          </a:p>
          <a:p>
            <a:pPr marL="0" indent="0">
              <a:buNone/>
            </a:pPr>
            <a:r>
              <a:rPr lang="en-IN" dirty="0"/>
              <a:t>The server could be: a local process on the developer machine </a:t>
            </a:r>
          </a:p>
          <a:p>
            <a:pPr marL="0" indent="0">
              <a:buNone/>
            </a:pPr>
            <a:r>
              <a:rPr lang="en-IN" dirty="0"/>
              <a:t>a service running in Kubernetes a remote enterprise service </a:t>
            </a:r>
          </a:p>
          <a:p>
            <a:pPr marL="0" indent="0">
              <a:buNone/>
            </a:pPr>
            <a:r>
              <a:rPr lang="en-IN" dirty="0"/>
              <a:t>The </a:t>
            </a:r>
            <a:r>
              <a:rPr lang="en-IN" b="1" dirty="0"/>
              <a:t>transport layer</a:t>
            </a:r>
            <a:r>
              <a:rPr lang="en-IN" dirty="0"/>
              <a:t> defines how these MCP messages travel.</a:t>
            </a:r>
          </a:p>
          <a:p>
            <a:endParaRPr lang="en-IN" dirty="0"/>
          </a:p>
        </p:txBody>
      </p:sp>
      <p:sp>
        <p:nvSpPr>
          <p:cNvPr id="5" name="TextBox 4">
            <a:extLst>
              <a:ext uri="{FF2B5EF4-FFF2-40B4-BE49-F238E27FC236}">
                <a16:creationId xmlns:a16="http://schemas.microsoft.com/office/drawing/2014/main" id="{68CC43CB-5F54-EB3A-F39D-9D784C59AF95}"/>
              </a:ext>
            </a:extLst>
          </p:cNvPr>
          <p:cNvSpPr txBox="1"/>
          <p:nvPr/>
        </p:nvSpPr>
        <p:spPr>
          <a:xfrm>
            <a:off x="8634047" y="2368540"/>
            <a:ext cx="2981848" cy="3416320"/>
          </a:xfrm>
          <a:prstGeom prst="rect">
            <a:avLst/>
          </a:prstGeom>
          <a:noFill/>
        </p:spPr>
        <p:txBody>
          <a:bodyPr wrap="square">
            <a:spAutoFit/>
          </a:bodyPr>
          <a:lstStyle/>
          <a:p>
            <a:r>
              <a:rPr lang="en-IN" dirty="0"/>
              <a:t>+-------------+</a:t>
            </a:r>
          </a:p>
          <a:p>
            <a:r>
              <a:rPr lang="en-IN" dirty="0"/>
              <a:t>| MCP Message |</a:t>
            </a:r>
          </a:p>
          <a:p>
            <a:r>
              <a:rPr lang="en-IN" dirty="0"/>
              <a:t>| (JSON-RPC)  |</a:t>
            </a:r>
          </a:p>
          <a:p>
            <a:r>
              <a:rPr lang="en-IN" dirty="0"/>
              <a:t>+-------------+</a:t>
            </a:r>
          </a:p>
          <a:p>
            <a:r>
              <a:rPr lang="en-IN" dirty="0"/>
              <a:t>       |</a:t>
            </a:r>
          </a:p>
          <a:p>
            <a:r>
              <a:rPr lang="en-IN" dirty="0"/>
              <a:t>       |</a:t>
            </a:r>
          </a:p>
          <a:p>
            <a:r>
              <a:rPr lang="en-IN" dirty="0"/>
              <a:t>+----------------+</a:t>
            </a:r>
          </a:p>
          <a:p>
            <a:r>
              <a:rPr lang="en-IN" dirty="0"/>
              <a:t>| Transport      |</a:t>
            </a:r>
          </a:p>
          <a:p>
            <a:r>
              <a:rPr lang="en-IN" dirty="0"/>
              <a:t>+----------------+</a:t>
            </a:r>
          </a:p>
          <a:p>
            <a:r>
              <a:rPr lang="en-IN" dirty="0"/>
              <a:t>   /          \</a:t>
            </a:r>
          </a:p>
          <a:p>
            <a:r>
              <a:rPr lang="en-IN" dirty="0"/>
              <a:t>  /            \</a:t>
            </a:r>
          </a:p>
          <a:p>
            <a:r>
              <a:rPr lang="en-IN" dirty="0"/>
              <a:t>STDIO        HTTP</a:t>
            </a:r>
          </a:p>
        </p:txBody>
      </p:sp>
    </p:spTree>
    <p:extLst>
      <p:ext uri="{BB962C8B-B14F-4D97-AF65-F5344CB8AC3E}">
        <p14:creationId xmlns:p14="http://schemas.microsoft.com/office/powerpoint/2010/main" val="11566993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2024E-1319-732D-329D-89142E789675}"/>
              </a:ext>
            </a:extLst>
          </p:cNvPr>
          <p:cNvSpPr>
            <a:spLocks noGrp="1"/>
          </p:cNvSpPr>
          <p:nvPr>
            <p:ph type="title"/>
          </p:nvPr>
        </p:nvSpPr>
        <p:spPr/>
        <p:txBody>
          <a:bodyPr/>
          <a:lstStyle/>
          <a:p>
            <a:r>
              <a:rPr lang="en-IN" b="1" dirty="0"/>
              <a:t>Transport 1: STDIO</a:t>
            </a:r>
            <a:br>
              <a:rPr lang="en-IN" b="1" dirty="0"/>
            </a:br>
            <a:endParaRPr lang="en-IN" dirty="0"/>
          </a:p>
        </p:txBody>
      </p:sp>
      <p:sp>
        <p:nvSpPr>
          <p:cNvPr id="3" name="Content Placeholder 2">
            <a:extLst>
              <a:ext uri="{FF2B5EF4-FFF2-40B4-BE49-F238E27FC236}">
                <a16:creationId xmlns:a16="http://schemas.microsoft.com/office/drawing/2014/main" id="{D1715034-44B4-D557-5C22-BCC62C655B3B}"/>
              </a:ext>
            </a:extLst>
          </p:cNvPr>
          <p:cNvSpPr>
            <a:spLocks noGrp="1"/>
          </p:cNvSpPr>
          <p:nvPr>
            <p:ph idx="1"/>
          </p:nvPr>
        </p:nvSpPr>
        <p:spPr>
          <a:xfrm>
            <a:off x="992871" y="1823775"/>
            <a:ext cx="5571811" cy="4597121"/>
          </a:xfrm>
        </p:spPr>
        <p:txBody>
          <a:bodyPr>
            <a:normAutofit fontScale="92500" lnSpcReduction="10000"/>
          </a:bodyPr>
          <a:lstStyle/>
          <a:p>
            <a:pPr marL="0" indent="0">
              <a:buNone/>
            </a:pPr>
            <a:r>
              <a:rPr lang="en-IN" b="1" dirty="0"/>
              <a:t>Local Process Communication</a:t>
            </a:r>
          </a:p>
          <a:p>
            <a:pPr marL="0" indent="0">
              <a:buNone/>
            </a:pPr>
            <a:r>
              <a:rPr lang="en-IN" dirty="0"/>
              <a:t>STDIO is designed for </a:t>
            </a:r>
            <a:r>
              <a:rPr lang="en-IN" b="1" dirty="0"/>
              <a:t>local MCP servers</a:t>
            </a:r>
            <a:r>
              <a:rPr lang="en-IN" dirty="0"/>
              <a:t>.</a:t>
            </a:r>
          </a:p>
          <a:p>
            <a:pPr marL="0" indent="0">
              <a:buNone/>
            </a:pPr>
            <a:r>
              <a:rPr lang="en-IN" dirty="0"/>
              <a:t>The MCP client launches the server as a child process and communicates through:</a:t>
            </a:r>
          </a:p>
          <a:p>
            <a:pPr marL="0" indent="0">
              <a:buNone/>
            </a:pPr>
            <a:r>
              <a:rPr lang="en-IN" dirty="0"/>
              <a:t>stdin → requests </a:t>
            </a:r>
          </a:p>
          <a:p>
            <a:pPr marL="0" indent="0">
              <a:buNone/>
            </a:pPr>
            <a:r>
              <a:rPr lang="en-IN" dirty="0" err="1"/>
              <a:t>stdout</a:t>
            </a:r>
            <a:r>
              <a:rPr lang="en-IN" dirty="0"/>
              <a:t> → responses </a:t>
            </a:r>
          </a:p>
          <a:p>
            <a:pPr marL="0" indent="0">
              <a:buNone/>
            </a:pPr>
            <a:r>
              <a:rPr lang="en-IN" dirty="0"/>
              <a:t>Characteristics:</a:t>
            </a:r>
          </a:p>
          <a:p>
            <a:pPr lvl="1"/>
            <a:r>
              <a:rPr lang="en-IN" dirty="0"/>
              <a:t>Client launches server process </a:t>
            </a:r>
          </a:p>
          <a:p>
            <a:pPr lvl="1"/>
            <a:r>
              <a:rPr lang="en-IN" dirty="0"/>
              <a:t>No network </a:t>
            </a:r>
          </a:p>
          <a:p>
            <a:pPr lvl="1"/>
            <a:r>
              <a:rPr lang="en-IN" dirty="0"/>
              <a:t>No port </a:t>
            </a:r>
          </a:p>
          <a:p>
            <a:pPr lvl="1"/>
            <a:r>
              <a:rPr lang="en-IN" dirty="0"/>
              <a:t>OS permissions control access</a:t>
            </a:r>
          </a:p>
          <a:p>
            <a:pPr lvl="1"/>
            <a:r>
              <a:rPr lang="en-IN" dirty="0"/>
              <a:t>No TCP connection.</a:t>
            </a:r>
          </a:p>
          <a:p>
            <a:pPr lvl="1"/>
            <a:r>
              <a:rPr lang="en-IN" dirty="0"/>
              <a:t>No port.</a:t>
            </a:r>
          </a:p>
        </p:txBody>
      </p:sp>
      <p:pic>
        <p:nvPicPr>
          <p:cNvPr id="7" name="Picture 6">
            <a:extLst>
              <a:ext uri="{FF2B5EF4-FFF2-40B4-BE49-F238E27FC236}">
                <a16:creationId xmlns:a16="http://schemas.microsoft.com/office/drawing/2014/main" id="{1F119E0F-4A31-63CD-AA61-3286034B14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64682" y="934496"/>
            <a:ext cx="5627318" cy="5702439"/>
          </a:xfrm>
          <a:prstGeom prst="rect">
            <a:avLst/>
          </a:prstGeom>
        </p:spPr>
      </p:pic>
    </p:spTree>
    <p:extLst>
      <p:ext uri="{BB962C8B-B14F-4D97-AF65-F5344CB8AC3E}">
        <p14:creationId xmlns:p14="http://schemas.microsoft.com/office/powerpoint/2010/main" val="203892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C1ED7-2C1B-679B-62EB-858259B8C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0A9422-B8DA-6F0B-8A96-9A7222289E0D}"/>
              </a:ext>
            </a:extLst>
          </p:cNvPr>
          <p:cNvSpPr>
            <a:spLocks noGrp="1"/>
          </p:cNvSpPr>
          <p:nvPr>
            <p:ph type="title"/>
          </p:nvPr>
        </p:nvSpPr>
        <p:spPr/>
        <p:txBody>
          <a:bodyPr/>
          <a:lstStyle/>
          <a:p>
            <a:r>
              <a:rPr lang="en-IN" b="1" dirty="0"/>
              <a:t>Transport 2: HTTP</a:t>
            </a:r>
            <a:endParaRPr lang="en-IN" dirty="0"/>
          </a:p>
        </p:txBody>
      </p:sp>
      <p:sp>
        <p:nvSpPr>
          <p:cNvPr id="3" name="Content Placeholder 2">
            <a:extLst>
              <a:ext uri="{FF2B5EF4-FFF2-40B4-BE49-F238E27FC236}">
                <a16:creationId xmlns:a16="http://schemas.microsoft.com/office/drawing/2014/main" id="{37D64975-A254-5C0A-2B09-9AEBB4C655E8}"/>
              </a:ext>
            </a:extLst>
          </p:cNvPr>
          <p:cNvSpPr>
            <a:spLocks noGrp="1"/>
          </p:cNvSpPr>
          <p:nvPr>
            <p:ph idx="1"/>
          </p:nvPr>
        </p:nvSpPr>
        <p:spPr>
          <a:xfrm>
            <a:off x="1371600" y="2286000"/>
            <a:ext cx="5571811" cy="3581400"/>
          </a:xfrm>
        </p:spPr>
        <p:txBody>
          <a:bodyPr>
            <a:normAutofit fontScale="92500" lnSpcReduction="20000"/>
          </a:bodyPr>
          <a:lstStyle/>
          <a:p>
            <a:r>
              <a:rPr lang="en-IN" dirty="0"/>
              <a:t>HTTP is used when the MCP server is deployed as a service.</a:t>
            </a:r>
          </a:p>
          <a:p>
            <a:r>
              <a:rPr lang="en-IN" dirty="0"/>
              <a:t>Examples:</a:t>
            </a:r>
          </a:p>
          <a:p>
            <a:pPr lvl="1"/>
            <a:r>
              <a:rPr lang="en-IN" dirty="0"/>
              <a:t>company-wide MCP server </a:t>
            </a:r>
          </a:p>
          <a:p>
            <a:pPr lvl="1"/>
            <a:r>
              <a:rPr lang="en-IN" dirty="0"/>
              <a:t>Kubernetes deployment </a:t>
            </a:r>
          </a:p>
          <a:p>
            <a:pPr lvl="1"/>
            <a:r>
              <a:rPr lang="en-IN" dirty="0"/>
              <a:t>cloud hosted MCP platform</a:t>
            </a:r>
          </a:p>
          <a:p>
            <a:endParaRPr lang="en-IN" dirty="0"/>
          </a:p>
          <a:p>
            <a:r>
              <a:rPr lang="en-IN" dirty="0"/>
              <a:t>Characteristics:</a:t>
            </a:r>
          </a:p>
          <a:p>
            <a:pPr lvl="1"/>
            <a:r>
              <a:rPr lang="en-IN" dirty="0"/>
              <a:t>Server runs independently </a:t>
            </a:r>
          </a:p>
          <a:p>
            <a:pPr lvl="1"/>
            <a:r>
              <a:rPr lang="en-IN" dirty="0"/>
              <a:t>Multiple clients can connect </a:t>
            </a:r>
          </a:p>
          <a:p>
            <a:pPr lvl="1"/>
            <a:r>
              <a:rPr lang="en-IN" dirty="0"/>
              <a:t>Requires authentication &amp; authorization </a:t>
            </a:r>
          </a:p>
          <a:p>
            <a:endParaRPr lang="en-IN" dirty="0"/>
          </a:p>
        </p:txBody>
      </p:sp>
      <p:pic>
        <p:nvPicPr>
          <p:cNvPr id="5" name="Picture 4">
            <a:extLst>
              <a:ext uri="{FF2B5EF4-FFF2-40B4-BE49-F238E27FC236}">
                <a16:creationId xmlns:a16="http://schemas.microsoft.com/office/drawing/2014/main" id="{E70A60F6-E48D-B8C3-638C-1993EC9835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33939" y="510529"/>
            <a:ext cx="5258061" cy="6238875"/>
          </a:xfrm>
          <a:prstGeom prst="rect">
            <a:avLst/>
          </a:prstGeom>
        </p:spPr>
      </p:pic>
    </p:spTree>
    <p:extLst>
      <p:ext uri="{BB962C8B-B14F-4D97-AF65-F5344CB8AC3E}">
        <p14:creationId xmlns:p14="http://schemas.microsoft.com/office/powerpoint/2010/main" val="3766433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9D59D01-C39C-B842-E34A-21D031F6554E}"/>
              </a:ext>
            </a:extLst>
          </p:cNvPr>
          <p:cNvSpPr txBox="1"/>
          <p:nvPr/>
        </p:nvSpPr>
        <p:spPr>
          <a:xfrm>
            <a:off x="1371600" y="685800"/>
            <a:ext cx="9601200" cy="1485900"/>
          </a:xfrm>
          <a:prstGeom prst="rect">
            <a:avLst/>
          </a:prstGeom>
        </p:spPr>
        <p:txBody>
          <a:bodyPr vert="horz" lIns="91440" tIns="45720" rIns="91440" bIns="45720" rtlCol="0" anchor="t">
            <a:normAutofit/>
          </a:bodyPr>
          <a:lstStyle/>
          <a:p>
            <a:pPr defTabSz="914400">
              <a:lnSpc>
                <a:spcPct val="89000"/>
              </a:lnSpc>
              <a:spcBef>
                <a:spcPct val="0"/>
              </a:spcBef>
              <a:spcAft>
                <a:spcPts val="600"/>
              </a:spcAft>
            </a:pPr>
            <a:r>
              <a:rPr lang="en-US" sz="4400" b="1" kern="1200" baseline="0">
                <a:solidFill>
                  <a:schemeClr val="tx2"/>
                </a:solidFill>
                <a:latin typeface="+mj-lt"/>
                <a:ea typeface="+mj-ea"/>
                <a:cs typeface="+mj-cs"/>
              </a:rPr>
              <a:t>When to Use STDIO vs HTTP Transport</a:t>
            </a:r>
          </a:p>
        </p:txBody>
      </p:sp>
      <p:graphicFrame>
        <p:nvGraphicFramePr>
          <p:cNvPr id="4" name="Content Placeholder 3">
            <a:extLst>
              <a:ext uri="{FF2B5EF4-FFF2-40B4-BE49-F238E27FC236}">
                <a16:creationId xmlns:a16="http://schemas.microsoft.com/office/drawing/2014/main" id="{98893F40-D8BB-719A-4BED-05A7FBD37B16}"/>
              </a:ext>
            </a:extLst>
          </p:cNvPr>
          <p:cNvGraphicFramePr>
            <a:graphicFrameLocks noGrp="1"/>
          </p:cNvGraphicFramePr>
          <p:nvPr>
            <p:ph idx="1"/>
            <p:extLst>
              <p:ext uri="{D42A27DB-BD31-4B8C-83A1-F6EECF244321}">
                <p14:modId xmlns:p14="http://schemas.microsoft.com/office/powerpoint/2010/main" val="923418340"/>
              </p:ext>
            </p:extLst>
          </p:nvPr>
        </p:nvGraphicFramePr>
        <p:xfrm>
          <a:off x="1592554" y="2286000"/>
          <a:ext cx="9159292" cy="3581406"/>
        </p:xfrm>
        <a:graphic>
          <a:graphicData uri="http://schemas.openxmlformats.org/drawingml/2006/table">
            <a:tbl>
              <a:tblPr>
                <a:noFill/>
              </a:tblPr>
              <a:tblGrid>
                <a:gridCol w="2909824">
                  <a:extLst>
                    <a:ext uri="{9D8B030D-6E8A-4147-A177-3AD203B41FA5}">
                      <a16:colId xmlns:a16="http://schemas.microsoft.com/office/drawing/2014/main" val="1872754678"/>
                    </a:ext>
                  </a:extLst>
                </a:gridCol>
                <a:gridCol w="3124734">
                  <a:extLst>
                    <a:ext uri="{9D8B030D-6E8A-4147-A177-3AD203B41FA5}">
                      <a16:colId xmlns:a16="http://schemas.microsoft.com/office/drawing/2014/main" val="952907633"/>
                    </a:ext>
                  </a:extLst>
                </a:gridCol>
                <a:gridCol w="3124734">
                  <a:extLst>
                    <a:ext uri="{9D8B030D-6E8A-4147-A177-3AD203B41FA5}">
                      <a16:colId xmlns:a16="http://schemas.microsoft.com/office/drawing/2014/main" val="3553502749"/>
                    </a:ext>
                  </a:extLst>
                </a:gridCol>
              </a:tblGrid>
              <a:tr h="343061">
                <a:tc>
                  <a:txBody>
                    <a:bodyPr/>
                    <a:lstStyle/>
                    <a:p>
                      <a:pPr>
                        <a:buNone/>
                      </a:pPr>
                      <a:r>
                        <a:rPr lang="en-IN" sz="1000">
                          <a:solidFill>
                            <a:schemeClr val="tx1">
                              <a:lumMod val="85000"/>
                              <a:lumOff val="15000"/>
                            </a:schemeClr>
                          </a:solidFill>
                        </a:rPr>
                        <a:t>Use Case</a:t>
                      </a:r>
                    </a:p>
                  </a:txBody>
                  <a:tcPr marL="141371" marR="84823" marT="84823" marB="84823" anchor="ctr">
                    <a:lnL w="12700" cmpd="sng">
                      <a:noFill/>
                      <a:prstDash val="solid"/>
                    </a:lnL>
                    <a:lnR w="38100" cap="flat" cmpd="sng" algn="ctr">
                      <a:solidFill>
                        <a:srgbClr val="FFFFFF"/>
                      </a:solidFill>
                      <a:prstDash val="solid"/>
                    </a:lnR>
                    <a:lnT w="12700" cmpd="sng">
                      <a:noFill/>
                      <a:prstDash val="solid"/>
                    </a:lnT>
                    <a:lnB w="38100" cap="flat" cmpd="sng" algn="ctr">
                      <a:solidFill>
                        <a:srgbClr val="FFFFFF"/>
                      </a:solidFill>
                      <a:prstDash val="solid"/>
                    </a:lnB>
                    <a:solidFill>
                      <a:srgbClr val="878E8B">
                        <a:alpha val="30196"/>
                      </a:srgbClr>
                    </a:solidFill>
                  </a:tcPr>
                </a:tc>
                <a:tc>
                  <a:txBody>
                    <a:bodyPr/>
                    <a:lstStyle/>
                    <a:p>
                      <a:pPr>
                        <a:buNone/>
                      </a:pPr>
                      <a:r>
                        <a:rPr lang="en-IN" sz="1000">
                          <a:solidFill>
                            <a:schemeClr val="tx1">
                              <a:lumMod val="85000"/>
                              <a:lumOff val="15000"/>
                            </a:schemeClr>
                          </a:solidFill>
                        </a:rPr>
                        <a:t>STDIO</a:t>
                      </a:r>
                    </a:p>
                  </a:txBody>
                  <a:tcPr marL="141371" marR="84823" marT="84823" marB="84823" anchor="ctr">
                    <a:lnL w="38100" cap="flat" cmpd="sng" algn="ctr">
                      <a:solidFill>
                        <a:srgbClr val="FFFFFF"/>
                      </a:solidFill>
                      <a:prstDash val="solid"/>
                    </a:lnL>
                    <a:lnR w="38100" cap="flat" cmpd="sng" algn="ctr">
                      <a:solidFill>
                        <a:srgbClr val="FFFFFF"/>
                      </a:solidFill>
                      <a:prstDash val="solid"/>
                    </a:lnR>
                    <a:lnT w="12700" cmpd="sng">
                      <a:noFill/>
                      <a:prstDash val="solid"/>
                    </a:lnT>
                    <a:lnB w="38100" cap="flat" cmpd="sng" algn="ctr">
                      <a:solidFill>
                        <a:srgbClr val="FFFFFF"/>
                      </a:solidFill>
                      <a:prstDash val="solid"/>
                    </a:lnB>
                    <a:solidFill>
                      <a:srgbClr val="878E8B">
                        <a:alpha val="30196"/>
                      </a:srgbClr>
                    </a:solidFill>
                  </a:tcPr>
                </a:tc>
                <a:tc>
                  <a:txBody>
                    <a:bodyPr/>
                    <a:lstStyle/>
                    <a:p>
                      <a:pPr>
                        <a:buNone/>
                      </a:pPr>
                      <a:r>
                        <a:rPr lang="en-IN" sz="1000">
                          <a:solidFill>
                            <a:schemeClr val="tx1">
                              <a:lumMod val="85000"/>
                              <a:lumOff val="15000"/>
                            </a:schemeClr>
                          </a:solidFill>
                        </a:rPr>
                        <a:t>HTTP</a:t>
                      </a:r>
                    </a:p>
                  </a:txBody>
                  <a:tcPr marL="141371" marR="84823" marT="84823" marB="84823" anchor="ctr">
                    <a:lnL w="38100" cap="flat" cmpd="sng" algn="ctr">
                      <a:solidFill>
                        <a:srgbClr val="FFFFFF"/>
                      </a:solidFill>
                      <a:prstDash val="solid"/>
                    </a:lnL>
                    <a:lnR w="12700" cmpd="sng">
                      <a:noFill/>
                      <a:prstDash val="solid"/>
                    </a:lnR>
                    <a:lnT w="12700" cmpd="sng">
                      <a:no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3874096324"/>
                  </a:ext>
                </a:extLst>
              </a:tr>
              <a:tr h="343061">
                <a:tc>
                  <a:txBody>
                    <a:bodyPr/>
                    <a:lstStyle/>
                    <a:p>
                      <a:pPr>
                        <a:buNone/>
                      </a:pPr>
                      <a:r>
                        <a:rPr lang="en-IN" sz="1000">
                          <a:solidFill>
                            <a:schemeClr val="tx1">
                              <a:lumMod val="85000"/>
                              <a:lumOff val="15000"/>
                            </a:schemeClr>
                          </a:solidFill>
                        </a:rPr>
                        <a:t>Server location</a:t>
                      </a:r>
                    </a:p>
                  </a:txBody>
                  <a:tcPr marL="141371" marR="84823" marT="84823" marB="84823"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IN" sz="1000">
                          <a:solidFill>
                            <a:schemeClr val="tx1">
                              <a:lumMod val="85000"/>
                              <a:lumOff val="15000"/>
                            </a:schemeClr>
                          </a:solidFill>
                        </a:rPr>
                        <a:t>Runs locally on the same machine</a:t>
                      </a:r>
                    </a:p>
                  </a:txBody>
                  <a:tcPr marL="141371" marR="84823" marT="84823" marB="8482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IN" sz="1000">
                          <a:solidFill>
                            <a:schemeClr val="tx1">
                              <a:lumMod val="85000"/>
                              <a:lumOff val="15000"/>
                            </a:schemeClr>
                          </a:solidFill>
                        </a:rPr>
                        <a:t>Runs remotely as a service</a:t>
                      </a:r>
                    </a:p>
                  </a:txBody>
                  <a:tcPr marL="141371" marR="84823" marT="84823" marB="84823"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3823771378"/>
                  </a:ext>
                </a:extLst>
              </a:tr>
              <a:tr h="343061">
                <a:tc>
                  <a:txBody>
                    <a:bodyPr/>
                    <a:lstStyle/>
                    <a:p>
                      <a:pPr>
                        <a:buNone/>
                      </a:pPr>
                      <a:r>
                        <a:rPr lang="en-IN" sz="1000">
                          <a:solidFill>
                            <a:schemeClr val="tx1">
                              <a:lumMod val="85000"/>
                              <a:lumOff val="15000"/>
                            </a:schemeClr>
                          </a:solidFill>
                        </a:rPr>
                        <a:t>Communication</a:t>
                      </a:r>
                    </a:p>
                  </a:txBody>
                  <a:tcPr marL="141371" marR="84823" marT="84823" marB="84823"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IN" sz="1000">
                          <a:solidFill>
                            <a:schemeClr val="tx1">
                              <a:lumMod val="85000"/>
                              <a:lumOff val="15000"/>
                            </a:schemeClr>
                          </a:solidFill>
                        </a:rPr>
                        <a:t>Process stdin/stdout</a:t>
                      </a:r>
                    </a:p>
                  </a:txBody>
                  <a:tcPr marL="141371" marR="84823" marT="84823" marB="8482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IN" sz="1000">
                          <a:solidFill>
                            <a:schemeClr val="tx1">
                              <a:lumMod val="85000"/>
                              <a:lumOff val="15000"/>
                            </a:schemeClr>
                          </a:solidFill>
                        </a:rPr>
                        <a:t>Network (HTTP)</a:t>
                      </a:r>
                    </a:p>
                  </a:txBody>
                  <a:tcPr marL="141371" marR="84823" marT="84823" marB="84823"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3989841863"/>
                  </a:ext>
                </a:extLst>
              </a:tr>
              <a:tr h="493857">
                <a:tc>
                  <a:txBody>
                    <a:bodyPr/>
                    <a:lstStyle/>
                    <a:p>
                      <a:pPr>
                        <a:buNone/>
                      </a:pPr>
                      <a:r>
                        <a:rPr lang="en-IN" sz="1000">
                          <a:solidFill>
                            <a:schemeClr val="tx1">
                              <a:lumMod val="85000"/>
                              <a:lumOff val="15000"/>
                            </a:schemeClr>
                          </a:solidFill>
                        </a:rPr>
                        <a:t>Best for</a:t>
                      </a:r>
                    </a:p>
                  </a:txBody>
                  <a:tcPr marL="141371" marR="84823" marT="84823" marB="84823"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IN" sz="1000">
                          <a:solidFill>
                            <a:schemeClr val="tx1">
                              <a:lumMod val="85000"/>
                              <a:lumOff val="15000"/>
                            </a:schemeClr>
                          </a:solidFill>
                        </a:rPr>
                        <a:t>Developer tools, personal assistants, IDE integrations</a:t>
                      </a:r>
                    </a:p>
                  </a:txBody>
                  <a:tcPr marL="141371" marR="84823" marT="84823" marB="8482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IN" sz="1000">
                          <a:solidFill>
                            <a:schemeClr val="tx1">
                              <a:lumMod val="85000"/>
                              <a:lumOff val="15000"/>
                            </a:schemeClr>
                          </a:solidFill>
                        </a:rPr>
                        <a:t>Enterprise/shared MCP platforms</a:t>
                      </a:r>
                    </a:p>
                  </a:txBody>
                  <a:tcPr marL="141371" marR="84823" marT="84823" marB="84823"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3821548523"/>
                  </a:ext>
                </a:extLst>
              </a:tr>
              <a:tr h="343061">
                <a:tc>
                  <a:txBody>
                    <a:bodyPr/>
                    <a:lstStyle/>
                    <a:p>
                      <a:pPr>
                        <a:buNone/>
                      </a:pPr>
                      <a:r>
                        <a:rPr lang="en-IN" sz="1000">
                          <a:solidFill>
                            <a:schemeClr val="tx1">
                              <a:lumMod val="85000"/>
                              <a:lumOff val="15000"/>
                            </a:schemeClr>
                          </a:solidFill>
                        </a:rPr>
                        <a:t>Users</a:t>
                      </a:r>
                    </a:p>
                  </a:txBody>
                  <a:tcPr marL="141371" marR="84823" marT="84823" marB="84823"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IN" sz="1000">
                          <a:solidFill>
                            <a:schemeClr val="tx1">
                              <a:lumMod val="85000"/>
                              <a:lumOff val="15000"/>
                            </a:schemeClr>
                          </a:solidFill>
                        </a:rPr>
                        <a:t>Usually single user</a:t>
                      </a:r>
                    </a:p>
                  </a:txBody>
                  <a:tcPr marL="141371" marR="84823" marT="84823" marB="8482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IN" sz="1000">
                          <a:solidFill>
                            <a:schemeClr val="tx1">
                              <a:lumMod val="85000"/>
                              <a:lumOff val="15000"/>
                            </a:schemeClr>
                          </a:solidFill>
                        </a:rPr>
                        <a:t>Multiple users / teams</a:t>
                      </a:r>
                    </a:p>
                  </a:txBody>
                  <a:tcPr marL="141371" marR="84823" marT="84823" marB="84823"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1101432313"/>
                  </a:ext>
                </a:extLst>
              </a:tr>
              <a:tr h="343061">
                <a:tc>
                  <a:txBody>
                    <a:bodyPr/>
                    <a:lstStyle/>
                    <a:p>
                      <a:pPr>
                        <a:buNone/>
                      </a:pPr>
                      <a:r>
                        <a:rPr lang="en-IN" sz="1000">
                          <a:solidFill>
                            <a:schemeClr val="tx1">
                              <a:lumMod val="85000"/>
                              <a:lumOff val="15000"/>
                            </a:schemeClr>
                          </a:solidFill>
                        </a:rPr>
                        <a:t>Deployment</a:t>
                      </a:r>
                    </a:p>
                  </a:txBody>
                  <a:tcPr marL="141371" marR="84823" marT="84823" marB="84823"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IN" sz="1000">
                          <a:solidFill>
                            <a:schemeClr val="tx1">
                              <a:lumMod val="85000"/>
                              <a:lumOff val="15000"/>
                            </a:schemeClr>
                          </a:solidFill>
                        </a:rPr>
                        <a:t>Simple process launch</a:t>
                      </a:r>
                    </a:p>
                  </a:txBody>
                  <a:tcPr marL="141371" marR="84823" marT="84823" marB="8482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IN" sz="1000">
                          <a:solidFill>
                            <a:schemeClr val="tx1">
                              <a:lumMod val="85000"/>
                              <a:lumOff val="15000"/>
                            </a:schemeClr>
                          </a:solidFill>
                        </a:rPr>
                        <a:t>Service deployment</a:t>
                      </a:r>
                    </a:p>
                  </a:txBody>
                  <a:tcPr marL="141371" marR="84823" marT="84823" marB="84823"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2305398106"/>
                  </a:ext>
                </a:extLst>
              </a:tr>
              <a:tr h="343061">
                <a:tc>
                  <a:txBody>
                    <a:bodyPr/>
                    <a:lstStyle/>
                    <a:p>
                      <a:pPr>
                        <a:buNone/>
                      </a:pPr>
                      <a:r>
                        <a:rPr lang="en-IN" sz="1000">
                          <a:solidFill>
                            <a:schemeClr val="tx1">
                              <a:lumMod val="85000"/>
                              <a:lumOff val="15000"/>
                            </a:schemeClr>
                          </a:solidFill>
                        </a:rPr>
                        <a:t>Scaling</a:t>
                      </a:r>
                    </a:p>
                  </a:txBody>
                  <a:tcPr marL="141371" marR="84823" marT="84823" marB="84823"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IN" sz="1000">
                          <a:solidFill>
                            <a:schemeClr val="tx1">
                              <a:lumMod val="85000"/>
                              <a:lumOff val="15000"/>
                            </a:schemeClr>
                          </a:solidFill>
                        </a:rPr>
                        <a:t>Not designed for horizontal scaling</a:t>
                      </a:r>
                    </a:p>
                  </a:txBody>
                  <a:tcPr marL="141371" marR="84823" marT="84823" marB="8482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IN" sz="1000">
                          <a:solidFill>
                            <a:schemeClr val="tx1">
                              <a:lumMod val="85000"/>
                              <a:lumOff val="15000"/>
                            </a:schemeClr>
                          </a:solidFill>
                        </a:rPr>
                        <a:t>Can scale like any API service</a:t>
                      </a:r>
                    </a:p>
                  </a:txBody>
                  <a:tcPr marL="141371" marR="84823" marT="84823" marB="84823"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2506393165"/>
                  </a:ext>
                </a:extLst>
              </a:tr>
              <a:tr h="343061">
                <a:tc>
                  <a:txBody>
                    <a:bodyPr/>
                    <a:lstStyle/>
                    <a:p>
                      <a:pPr>
                        <a:buNone/>
                      </a:pPr>
                      <a:r>
                        <a:rPr lang="en-IN" sz="1000">
                          <a:solidFill>
                            <a:schemeClr val="tx1">
                              <a:lumMod val="85000"/>
                              <a:lumOff val="15000"/>
                            </a:schemeClr>
                          </a:solidFill>
                        </a:rPr>
                        <a:t>Security</a:t>
                      </a:r>
                    </a:p>
                  </a:txBody>
                  <a:tcPr marL="141371" marR="84823" marT="84823" marB="84823"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IN" sz="1000">
                          <a:solidFill>
                            <a:schemeClr val="tx1">
                              <a:lumMod val="85000"/>
                              <a:lumOff val="15000"/>
                            </a:schemeClr>
                          </a:solidFill>
                        </a:rPr>
                        <a:t>OS permissions + local access</a:t>
                      </a:r>
                    </a:p>
                  </a:txBody>
                  <a:tcPr marL="141371" marR="84823" marT="84823" marB="8482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IN" sz="1000">
                          <a:solidFill>
                            <a:schemeClr val="tx1">
                              <a:lumMod val="85000"/>
                              <a:lumOff val="15000"/>
                            </a:schemeClr>
                          </a:solidFill>
                        </a:rPr>
                        <a:t>Authentication + authorization required</a:t>
                      </a:r>
                    </a:p>
                  </a:txBody>
                  <a:tcPr marL="141371" marR="84823" marT="84823" marB="84823"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3715885049"/>
                  </a:ext>
                </a:extLst>
              </a:tr>
              <a:tr h="343061">
                <a:tc>
                  <a:txBody>
                    <a:bodyPr/>
                    <a:lstStyle/>
                    <a:p>
                      <a:pPr>
                        <a:buNone/>
                      </a:pPr>
                      <a:r>
                        <a:rPr lang="en-IN" sz="1000">
                          <a:solidFill>
                            <a:schemeClr val="tx1">
                              <a:lumMod val="85000"/>
                              <a:lumOff val="15000"/>
                            </a:schemeClr>
                          </a:solidFill>
                        </a:rPr>
                        <a:t>Latency</a:t>
                      </a:r>
                    </a:p>
                  </a:txBody>
                  <a:tcPr marL="141371" marR="84823" marT="84823" marB="84823"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IN" sz="1000">
                          <a:solidFill>
                            <a:schemeClr val="tx1">
                              <a:lumMod val="85000"/>
                              <a:lumOff val="15000"/>
                            </a:schemeClr>
                          </a:solidFill>
                        </a:rPr>
                        <a:t>Very low</a:t>
                      </a:r>
                    </a:p>
                  </a:txBody>
                  <a:tcPr marL="141371" marR="84823" marT="84823" marB="8482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IN" sz="1000">
                          <a:solidFill>
                            <a:schemeClr val="tx1">
                              <a:lumMod val="85000"/>
                              <a:lumOff val="15000"/>
                            </a:schemeClr>
                          </a:solidFill>
                        </a:rPr>
                        <a:t>Network latency</a:t>
                      </a:r>
                    </a:p>
                  </a:txBody>
                  <a:tcPr marL="141371" marR="84823" marT="84823" marB="84823"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1332145073"/>
                  </a:ext>
                </a:extLst>
              </a:tr>
              <a:tr h="343061">
                <a:tc>
                  <a:txBody>
                    <a:bodyPr/>
                    <a:lstStyle/>
                    <a:p>
                      <a:pPr>
                        <a:buNone/>
                      </a:pPr>
                      <a:r>
                        <a:rPr lang="en-IN" sz="1000">
                          <a:solidFill>
                            <a:schemeClr val="tx1">
                              <a:lumMod val="85000"/>
                              <a:lumOff val="15000"/>
                            </a:schemeClr>
                          </a:solidFill>
                        </a:rPr>
                        <a:t>Availability</a:t>
                      </a:r>
                    </a:p>
                  </a:txBody>
                  <a:tcPr marL="141371" marR="84823" marT="84823" marB="84823" anchor="ctr">
                    <a:lnL w="12700" cmpd="sng">
                      <a:no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30196"/>
                      </a:srgbClr>
                    </a:solidFill>
                  </a:tcPr>
                </a:tc>
                <a:tc>
                  <a:txBody>
                    <a:bodyPr/>
                    <a:lstStyle/>
                    <a:p>
                      <a:pPr>
                        <a:buNone/>
                      </a:pPr>
                      <a:r>
                        <a:rPr lang="en-IN" sz="1000">
                          <a:solidFill>
                            <a:schemeClr val="tx1">
                              <a:lumMod val="85000"/>
                              <a:lumOff val="15000"/>
                            </a:schemeClr>
                          </a:solidFill>
                        </a:rPr>
                        <a:t>Depends on local machine</a:t>
                      </a:r>
                    </a:p>
                  </a:txBody>
                  <a:tcPr marL="141371" marR="84823" marT="84823" marB="8482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30196"/>
                      </a:srgbClr>
                    </a:solidFill>
                  </a:tcPr>
                </a:tc>
                <a:tc>
                  <a:txBody>
                    <a:bodyPr/>
                    <a:lstStyle/>
                    <a:p>
                      <a:pPr>
                        <a:buNone/>
                      </a:pPr>
                      <a:r>
                        <a:rPr lang="en-IN" sz="1000">
                          <a:solidFill>
                            <a:schemeClr val="tx1">
                              <a:lumMod val="85000"/>
                              <a:lumOff val="15000"/>
                            </a:schemeClr>
                          </a:solidFill>
                        </a:rPr>
                        <a:t>Can be highly available</a:t>
                      </a:r>
                    </a:p>
                  </a:txBody>
                  <a:tcPr marL="141371" marR="84823" marT="84823" marB="84823" anchor="ctr">
                    <a:lnL w="38100" cap="flat" cmpd="sng" algn="ctr">
                      <a:solidFill>
                        <a:srgbClr val="FFFFFF"/>
                      </a:solidFill>
                      <a:prstDash val="solid"/>
                    </a:lnL>
                    <a:lnR w="12700" cmpd="sng">
                      <a:noFill/>
                      <a:prstDash val="solid"/>
                    </a:lnR>
                    <a:lnT w="38100" cap="flat" cmpd="sng" algn="ctr">
                      <a:solidFill>
                        <a:srgbClr val="FFFFFF"/>
                      </a:solidFill>
                      <a:prstDash val="solid"/>
                    </a:lnT>
                    <a:lnB w="12700" cmpd="sng">
                      <a:noFill/>
                      <a:prstDash val="solid"/>
                    </a:lnB>
                    <a:solidFill>
                      <a:srgbClr val="878E8B">
                        <a:alpha val="30196"/>
                      </a:srgbClr>
                    </a:solidFill>
                  </a:tcPr>
                </a:tc>
                <a:extLst>
                  <a:ext uri="{0D108BD9-81ED-4DB2-BD59-A6C34878D82A}">
                    <a16:rowId xmlns:a16="http://schemas.microsoft.com/office/drawing/2014/main" val="4044304261"/>
                  </a:ext>
                </a:extLst>
              </a:tr>
            </a:tbl>
          </a:graphicData>
        </a:graphic>
      </p:graphicFrame>
      <p:sp>
        <p:nvSpPr>
          <p:cNvPr id="14" name="TextBox 13">
            <a:extLst>
              <a:ext uri="{FF2B5EF4-FFF2-40B4-BE49-F238E27FC236}">
                <a16:creationId xmlns:a16="http://schemas.microsoft.com/office/drawing/2014/main" id="{60A3103D-35B7-EBD7-2097-ACD0462E26E3}"/>
              </a:ext>
            </a:extLst>
          </p:cNvPr>
          <p:cNvSpPr txBox="1"/>
          <p:nvPr/>
        </p:nvSpPr>
        <p:spPr>
          <a:xfrm>
            <a:off x="1951892" y="6172200"/>
            <a:ext cx="8448151" cy="646331"/>
          </a:xfrm>
          <a:prstGeom prst="rect">
            <a:avLst/>
          </a:prstGeom>
          <a:noFill/>
        </p:spPr>
        <p:txBody>
          <a:bodyPr wrap="square">
            <a:spAutoFit/>
          </a:bodyPr>
          <a:lstStyle/>
          <a:p>
            <a:r>
              <a:rPr lang="en-IN" dirty="0"/>
              <a:t>Use STDIO for developer-local integrations. Use HTTP for scalable, secure, multi-user MCP deployments.</a:t>
            </a:r>
          </a:p>
        </p:txBody>
      </p:sp>
    </p:spTree>
    <p:extLst>
      <p:ext uri="{BB962C8B-B14F-4D97-AF65-F5344CB8AC3E}">
        <p14:creationId xmlns:p14="http://schemas.microsoft.com/office/powerpoint/2010/main" val="1019862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FB5D9-0DBB-8707-CECD-43C8A9EABBBE}"/>
              </a:ext>
            </a:extLst>
          </p:cNvPr>
          <p:cNvSpPr>
            <a:spLocks noGrp="1"/>
          </p:cNvSpPr>
          <p:nvPr>
            <p:ph type="title"/>
          </p:nvPr>
        </p:nvSpPr>
        <p:spPr/>
        <p:txBody>
          <a:bodyPr/>
          <a:lstStyle/>
          <a:p>
            <a:r>
              <a:rPr lang="en-IN" dirty="0"/>
              <a:t>Assignment</a:t>
            </a:r>
          </a:p>
        </p:txBody>
      </p:sp>
      <p:sp>
        <p:nvSpPr>
          <p:cNvPr id="3" name="Content Placeholder 2">
            <a:extLst>
              <a:ext uri="{FF2B5EF4-FFF2-40B4-BE49-F238E27FC236}">
                <a16:creationId xmlns:a16="http://schemas.microsoft.com/office/drawing/2014/main" id="{BB535BBA-FEF1-0961-33BD-CCFFDD4BC348}"/>
              </a:ext>
            </a:extLst>
          </p:cNvPr>
          <p:cNvSpPr>
            <a:spLocks noGrp="1"/>
          </p:cNvSpPr>
          <p:nvPr>
            <p:ph idx="1"/>
          </p:nvPr>
        </p:nvSpPr>
        <p:spPr/>
        <p:txBody>
          <a:bodyPr/>
          <a:lstStyle/>
          <a:p>
            <a:r>
              <a:rPr lang="en-IN" dirty="0"/>
              <a:t>Build a </a:t>
            </a:r>
            <a:r>
              <a:rPr lang="en-IN" dirty="0" err="1"/>
              <a:t>mcp</a:t>
            </a:r>
            <a:r>
              <a:rPr lang="en-IN" dirty="0"/>
              <a:t> server  from this example </a:t>
            </a:r>
            <a:br>
              <a:rPr lang="en-IN" dirty="0"/>
            </a:br>
            <a:r>
              <a:rPr lang="en-IN" dirty="0">
                <a:hlinkClick r:id="rId2"/>
              </a:rPr>
              <a:t>https://modelcontextprotocol.io/docs/develop/build-server</a:t>
            </a:r>
            <a:br>
              <a:rPr lang="en-IN" dirty="0"/>
            </a:br>
            <a:r>
              <a:rPr lang="en-IN" dirty="0"/>
              <a:t>Use the boilerplate code from the below repo to use </a:t>
            </a:r>
            <a:r>
              <a:rPr lang="en-IN" dirty="0" err="1"/>
              <a:t>langchain</a:t>
            </a:r>
            <a:r>
              <a:rPr lang="en-IN" dirty="0"/>
              <a:t> </a:t>
            </a:r>
            <a:r>
              <a:rPr lang="en-IN" dirty="0" err="1"/>
              <a:t>mcp</a:t>
            </a:r>
            <a:r>
              <a:rPr lang="en-IN" dirty="0"/>
              <a:t> adapter code instead of </a:t>
            </a:r>
            <a:r>
              <a:rPr lang="en-IN" dirty="0" err="1"/>
              <a:t>claude</a:t>
            </a:r>
            <a:r>
              <a:rPr lang="en-IN" dirty="0"/>
              <a:t> code or </a:t>
            </a:r>
            <a:r>
              <a:rPr lang="en-IN" dirty="0" err="1"/>
              <a:t>vscode</a:t>
            </a:r>
            <a:r>
              <a:rPr lang="en-IN" dirty="0"/>
              <a:t> copilot  as </a:t>
            </a:r>
            <a:r>
              <a:rPr lang="en-IN" dirty="0" err="1"/>
              <a:t>mcp</a:t>
            </a:r>
            <a:r>
              <a:rPr lang="en-IN" dirty="0"/>
              <a:t> host</a:t>
            </a:r>
            <a:br>
              <a:rPr lang="en-IN" dirty="0"/>
            </a:br>
            <a:br>
              <a:rPr lang="en-IN" dirty="0"/>
            </a:br>
            <a:r>
              <a:rPr lang="en-IN" dirty="0"/>
              <a:t>https://github.com/Mike00028/mcp-weather-app</a:t>
            </a:r>
            <a:br>
              <a:rPr lang="en-IN" dirty="0"/>
            </a:br>
            <a:br>
              <a:rPr lang="en-IN" dirty="0"/>
            </a:br>
            <a:endParaRPr lang="en-IN" dirty="0"/>
          </a:p>
        </p:txBody>
      </p:sp>
    </p:spTree>
    <p:extLst>
      <p:ext uri="{BB962C8B-B14F-4D97-AF65-F5344CB8AC3E}">
        <p14:creationId xmlns:p14="http://schemas.microsoft.com/office/powerpoint/2010/main" val="39973508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6ACFD-3962-B9E8-DBC4-4F97AE69C1E0}"/>
              </a:ext>
            </a:extLst>
          </p:cNvPr>
          <p:cNvSpPr>
            <a:spLocks noGrp="1"/>
          </p:cNvSpPr>
          <p:nvPr>
            <p:ph type="title"/>
          </p:nvPr>
        </p:nvSpPr>
        <p:spPr>
          <a:xfrm>
            <a:off x="2074985" y="2686050"/>
            <a:ext cx="9601200" cy="1485900"/>
          </a:xfrm>
        </p:spPr>
        <p:txBody>
          <a:bodyPr/>
          <a:lstStyle/>
          <a:p>
            <a:r>
              <a:rPr lang="en-IN" dirty="0"/>
              <a:t>Commonly Asked Questions</a:t>
            </a:r>
          </a:p>
        </p:txBody>
      </p:sp>
    </p:spTree>
    <p:extLst>
      <p:ext uri="{BB962C8B-B14F-4D97-AF65-F5344CB8AC3E}">
        <p14:creationId xmlns:p14="http://schemas.microsoft.com/office/powerpoint/2010/main" val="30119965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5E7A4-1C7C-F507-4458-520A058D2520}"/>
              </a:ext>
            </a:extLst>
          </p:cNvPr>
          <p:cNvSpPr>
            <a:spLocks noGrp="1"/>
          </p:cNvSpPr>
          <p:nvPr>
            <p:ph type="title"/>
          </p:nvPr>
        </p:nvSpPr>
        <p:spPr/>
        <p:txBody>
          <a:bodyPr/>
          <a:lstStyle/>
          <a:p>
            <a:r>
              <a:rPr lang="en-IN" b="1" dirty="0"/>
              <a:t>What is MCP?</a:t>
            </a:r>
            <a:br>
              <a:rPr lang="en-IN" dirty="0"/>
            </a:br>
            <a:endParaRPr lang="en-IN" dirty="0"/>
          </a:p>
        </p:txBody>
      </p:sp>
      <p:sp>
        <p:nvSpPr>
          <p:cNvPr id="3" name="Content Placeholder 2">
            <a:extLst>
              <a:ext uri="{FF2B5EF4-FFF2-40B4-BE49-F238E27FC236}">
                <a16:creationId xmlns:a16="http://schemas.microsoft.com/office/drawing/2014/main" id="{2C1AF402-F234-5FA3-A1B2-FE7E72E27F03}"/>
              </a:ext>
            </a:extLst>
          </p:cNvPr>
          <p:cNvSpPr>
            <a:spLocks noGrp="1"/>
          </p:cNvSpPr>
          <p:nvPr>
            <p:ph idx="1"/>
          </p:nvPr>
        </p:nvSpPr>
        <p:spPr/>
        <p:txBody>
          <a:bodyPr/>
          <a:lstStyle/>
          <a:p>
            <a:r>
              <a:rPr lang="en-IN" dirty="0"/>
              <a:t>MCP (Model Context Protocol) MCP is an open-source standard for connecting AI applications to external systems.</a:t>
            </a:r>
            <a:br>
              <a:rPr lang="en-IN" dirty="0"/>
            </a:br>
            <a:r>
              <a:rPr lang="en-IN" dirty="0"/>
              <a:t>Example connecting AI applications to  external data sources, tools, rest </a:t>
            </a:r>
            <a:r>
              <a:rPr lang="en-IN" dirty="0" err="1"/>
              <a:t>api</a:t>
            </a:r>
            <a:r>
              <a:rPr lang="en-IN" dirty="0"/>
              <a:t> services.</a:t>
            </a:r>
          </a:p>
          <a:p>
            <a:endParaRPr lang="en-IN" dirty="0"/>
          </a:p>
        </p:txBody>
      </p:sp>
    </p:spTree>
    <p:extLst>
      <p:ext uri="{BB962C8B-B14F-4D97-AF65-F5344CB8AC3E}">
        <p14:creationId xmlns:p14="http://schemas.microsoft.com/office/powerpoint/2010/main" val="38127455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6FA0A-0D2A-C4BE-321E-1E06B4EA3623}"/>
              </a:ext>
            </a:extLst>
          </p:cNvPr>
          <p:cNvSpPr>
            <a:spLocks noGrp="1"/>
          </p:cNvSpPr>
          <p:nvPr>
            <p:ph type="title"/>
          </p:nvPr>
        </p:nvSpPr>
        <p:spPr/>
        <p:txBody>
          <a:bodyPr/>
          <a:lstStyle/>
          <a:p>
            <a:r>
              <a:rPr lang="en-IN" b="1" dirty="0"/>
              <a:t>How does an MCP server work?</a:t>
            </a:r>
          </a:p>
        </p:txBody>
      </p:sp>
      <p:sp>
        <p:nvSpPr>
          <p:cNvPr id="3" name="Content Placeholder 2">
            <a:extLst>
              <a:ext uri="{FF2B5EF4-FFF2-40B4-BE49-F238E27FC236}">
                <a16:creationId xmlns:a16="http://schemas.microsoft.com/office/drawing/2014/main" id="{31509EED-821E-E58C-4B36-05F6CDF2F174}"/>
              </a:ext>
            </a:extLst>
          </p:cNvPr>
          <p:cNvSpPr>
            <a:spLocks noGrp="1"/>
          </p:cNvSpPr>
          <p:nvPr>
            <p:ph idx="1"/>
          </p:nvPr>
        </p:nvSpPr>
        <p:spPr/>
        <p:txBody>
          <a:bodyPr>
            <a:normAutofit fontScale="92500" lnSpcReduction="20000"/>
          </a:bodyPr>
          <a:lstStyle/>
          <a:p>
            <a:r>
              <a:rPr lang="en-IN" b="1" dirty="0"/>
              <a:t> </a:t>
            </a:r>
            <a:r>
              <a:rPr lang="en-IN" dirty="0"/>
              <a:t>It operates on a standardized </a:t>
            </a:r>
            <a:r>
              <a:rPr lang="en-IN" b="1" dirty="0"/>
              <a:t>client-server architecture</a:t>
            </a:r>
            <a:r>
              <a:rPr lang="en-IN" dirty="0"/>
              <a:t>.</a:t>
            </a:r>
          </a:p>
          <a:p>
            <a:r>
              <a:rPr lang="en-IN" b="1" dirty="0"/>
              <a:t>The MCP Host :</a:t>
            </a:r>
            <a:r>
              <a:rPr lang="en-IN" dirty="0"/>
              <a:t> The AI application (like Custom AI application,  Claude Desktop, Copilot, ).</a:t>
            </a:r>
            <a:br>
              <a:rPr lang="en-IN" dirty="0"/>
            </a:br>
            <a:br>
              <a:rPr lang="en-IN" dirty="0"/>
            </a:br>
            <a:r>
              <a:rPr lang="en-IN" sz="1300" i="1" dirty="0"/>
              <a:t>*</a:t>
            </a:r>
            <a:r>
              <a:rPr lang="en-IN" sz="1300" i="1" dirty="0" err="1"/>
              <a:t>Mcp</a:t>
            </a:r>
            <a:r>
              <a:rPr lang="en-IN" sz="1300" i="1" dirty="0"/>
              <a:t> Client is network architecture. It initiates the connection to the MCP Server, sends requests, and handles the responses</a:t>
            </a:r>
          </a:p>
          <a:p>
            <a:r>
              <a:rPr lang="en-IN" b="1" dirty="0"/>
              <a:t>The MCP Server:</a:t>
            </a:r>
            <a:r>
              <a:rPr lang="en-IN" dirty="0"/>
              <a:t> A lightweight, local or remote application that exposes its capabilities to the AI</a:t>
            </a:r>
          </a:p>
          <a:p>
            <a:r>
              <a:rPr lang="en-IN" b="1" dirty="0"/>
              <a:t>The Capabilities:</a:t>
            </a:r>
            <a:r>
              <a:rPr lang="en-IN" dirty="0"/>
              <a:t> The server provides three main things:</a:t>
            </a:r>
          </a:p>
          <a:p>
            <a:pPr lvl="1"/>
            <a:r>
              <a:rPr lang="en-IN" b="1" dirty="0"/>
              <a:t>Tools:</a:t>
            </a:r>
            <a:r>
              <a:rPr lang="en-IN" dirty="0"/>
              <a:t> Actions the AI can take (e.g., executing a database query, creating a Jira ticket).</a:t>
            </a:r>
          </a:p>
          <a:p>
            <a:pPr lvl="1"/>
            <a:r>
              <a:rPr lang="en-IN" b="1" dirty="0"/>
              <a:t>Resources:</a:t>
            </a:r>
            <a:r>
              <a:rPr lang="en-IN" dirty="0"/>
              <a:t> Data streams or read-only files loaded into the AI's context (e.g., API documentation, logs).</a:t>
            </a:r>
          </a:p>
          <a:p>
            <a:pPr lvl="1"/>
            <a:r>
              <a:rPr lang="en-IN" b="1" dirty="0"/>
              <a:t>Prompts:</a:t>
            </a:r>
            <a:r>
              <a:rPr lang="en-IN" dirty="0"/>
              <a:t> Pre-defined templates for specific AI workflows. </a:t>
            </a:r>
          </a:p>
          <a:p>
            <a:endParaRPr lang="en-IN" dirty="0"/>
          </a:p>
        </p:txBody>
      </p:sp>
    </p:spTree>
    <p:extLst>
      <p:ext uri="{BB962C8B-B14F-4D97-AF65-F5344CB8AC3E}">
        <p14:creationId xmlns:p14="http://schemas.microsoft.com/office/powerpoint/2010/main" val="38451281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FE29B-87CE-2950-FE70-6C71BBB6A72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FA5797D-5FC4-BC53-754B-3F0163E68E2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7681633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B2B4F-DD17-B64B-B186-1F87EFF7946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B30F511-FF0E-84A7-3531-63F52BE7BCBC}"/>
              </a:ext>
            </a:extLst>
          </p:cNvPr>
          <p:cNvSpPr>
            <a:spLocks noGrp="1"/>
          </p:cNvSpPr>
          <p:nvPr>
            <p:ph idx="1"/>
          </p:nvPr>
        </p:nvSpPr>
        <p:spPr/>
        <p:txBody>
          <a:bodyPr/>
          <a:lstStyle/>
          <a:p>
            <a:r>
              <a:rPr lang="en-IN" dirty="0"/>
              <a:t>Why </a:t>
            </a:r>
            <a:r>
              <a:rPr lang="en-IN" dirty="0" err="1"/>
              <a:t>json</a:t>
            </a:r>
            <a:r>
              <a:rPr lang="en-IN" dirty="0"/>
              <a:t> </a:t>
            </a:r>
            <a:r>
              <a:rPr lang="en-IN" dirty="0" err="1"/>
              <a:t>rpc</a:t>
            </a:r>
            <a:r>
              <a:rPr lang="en-IN" dirty="0"/>
              <a:t>:  https://medium.com/@dan.avila7/why-model-context-protocol-uses-json-rpc-64d466112338</a:t>
            </a:r>
          </a:p>
        </p:txBody>
      </p:sp>
    </p:spTree>
    <p:extLst>
      <p:ext uri="{BB962C8B-B14F-4D97-AF65-F5344CB8AC3E}">
        <p14:creationId xmlns:p14="http://schemas.microsoft.com/office/powerpoint/2010/main" val="2353154589"/>
      </p:ext>
    </p:extLst>
  </p:cSld>
  <p:clrMapOvr>
    <a:masterClrMapping/>
  </p:clrMapOvr>
</p:sld>
</file>

<file path=ppt/theme/theme1.xml><?xml version="1.0" encoding="utf-8"?>
<a:theme xmlns:a="http://schemas.openxmlformats.org/drawingml/2006/main" name="Theme1">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A80D8799-ECA5-4C4A-B677-C6E04092E5CD}" vid="{1DBE6FCA-08F2-42F5-8567-1BC7484188A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 Id="rId4" Type="http://schemas.microsoft.com/office/2011/relationships/webextension" Target="webextension4.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 dockstate="right" visibility="0" width="559" row="2">
    <wetp:webextensionref xmlns:r="http://schemas.openxmlformats.org/officeDocument/2006/relationships" r:id="rId2"/>
  </wetp:taskpane>
  <wetp:taskpane dockstate="right" visibility="0" width="350" row="4">
    <wetp:webextensionref xmlns:r="http://schemas.openxmlformats.org/officeDocument/2006/relationships" r:id="rId3"/>
  </wetp:taskpane>
  <wetp:taskpane dockstate="right" visibility="0" width="350" row="5">
    <wetp:webextensionref xmlns:r="http://schemas.openxmlformats.org/officeDocument/2006/relationships" r:id="rId4"/>
  </wetp:taskpane>
</wetp:taskpanes>
</file>

<file path=ppt/webextensions/webextension1.xml><?xml version="1.0" encoding="utf-8"?>
<we:webextension xmlns:we="http://schemas.microsoft.com/office/webextensions/webextension/2010/11" id="{3DEF4AD9-D0B8-4537-867C-68EBA53E437F}">
  <we:reference id="wa200001409" version="2.0.0.0" store="en-US" storeType="OMEX"/>
  <we:alternateReferences>
    <we:reference id="wa200001409" version="2.0.0.0" store="wa200001409"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598D2F95-61A7-4ED8-8E94-78AE412EEC64}">
  <we:reference id="wa200006798" version="1.0.0.0" store="en-US" storeType="OMEX"/>
  <we:alternateReferences>
    <we:reference id="wa200006798" version="1.0.0.0" store="wa200006798"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DBD3B1FE-7C36-4EF1-8317-70EA21FFAA7B}">
  <we:reference id="wa200010215" version="2.0.0.0" store="en-US" storeType="OMEX"/>
  <we:alternateReferences>
    <we:reference id="wa200010215" version="2.0.0.0" store="wa200010215" storeType="OMEX"/>
  </we:alternateReferences>
  <we:properties/>
  <we:bindings/>
  <we:snapshot xmlns:r="http://schemas.openxmlformats.org/officeDocument/2006/relationships"/>
</we:webextension>
</file>

<file path=ppt/webextensions/webextension4.xml><?xml version="1.0" encoding="utf-8"?>
<we:webextension xmlns:we="http://schemas.microsoft.com/office/webextensions/webextension/2010/11" id="{CAFF8494-367C-4577-87D6-8521647C54D0}">
  <we:reference id="wa200010001" version="1.0.0.1" store="en-US" storeType="OMEX"/>
  <we:alternateReferences>
    <we:reference id="wa200010001" version="1.0.0.1" store="wa200010001" storeType="OMEX"/>
  </we:alternateReferences>
  <we:properties>
    <we:property name="claude.fileId" value="&quot;50e9c962-0613-4a13-b8a5-178e8466ec3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Theme1</Template>
  <TotalTime>235</TotalTime>
  <Words>3887</Words>
  <Application>Microsoft Office PowerPoint</Application>
  <PresentationFormat>Widescreen</PresentationFormat>
  <Paragraphs>318</Paragraphs>
  <Slides>30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Courier New</vt:lpstr>
      <vt:lpstr>Franklin Gothic Book</vt:lpstr>
      <vt:lpstr>Google Sans Text</vt:lpstr>
      <vt:lpstr>Theme1</vt:lpstr>
      <vt:lpstr>Model Context Protocol </vt:lpstr>
      <vt:lpstr>What is the Model Context Protocol (MCP)?</vt:lpstr>
      <vt:lpstr>PowerPoint Presentation</vt:lpstr>
      <vt:lpstr> A Side-by-Side Comparison</vt:lpstr>
      <vt:lpstr>MCP Architecture</vt:lpstr>
      <vt:lpstr>MCP Architecture</vt:lpstr>
      <vt:lpstr>Layers</vt:lpstr>
      <vt:lpstr>Data Layer</vt:lpstr>
      <vt:lpstr>Transport Layer</vt:lpstr>
      <vt:lpstr>MCP Primitives: Tools, Resources, and Prompts</vt:lpstr>
      <vt:lpstr>Tools</vt:lpstr>
      <vt:lpstr>Resources</vt:lpstr>
      <vt:lpstr>Prompts</vt:lpstr>
      <vt:lpstr>Summary of MCP Primitives</vt:lpstr>
      <vt:lpstr>MCP Communication Lifecycle</vt:lpstr>
      <vt:lpstr>MCP Communication Lifecycle</vt:lpstr>
      <vt:lpstr>MCP Communication Lifecycle</vt:lpstr>
      <vt:lpstr>MCP Communication Lifecycle</vt:lpstr>
      <vt:lpstr>MCP Communication Lifecycle</vt:lpstr>
      <vt:lpstr>MCP Communication Lifecycle</vt:lpstr>
      <vt:lpstr>MCP Transports — How MCP Clients and Servers Communicate</vt:lpstr>
      <vt:lpstr>Transport 1: STDIO </vt:lpstr>
      <vt:lpstr>Transport 2: HTTP</vt:lpstr>
      <vt:lpstr>PowerPoint Presentation</vt:lpstr>
      <vt:lpstr>Assignment</vt:lpstr>
      <vt:lpstr>Commonly Asked Questions</vt:lpstr>
      <vt:lpstr>What is MCP? </vt:lpstr>
      <vt:lpstr>How does an MCP server work?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Santosh G</dc:creator>
  <cp:lastModifiedBy>Santosh G</cp:lastModifiedBy>
  <cp:revision>2</cp:revision>
  <dcterms:created xsi:type="dcterms:W3CDTF">2026-06-23T17:57:18Z</dcterms:created>
  <dcterms:modified xsi:type="dcterms:W3CDTF">2026-06-24T11:38:48Z</dcterms:modified>
</cp:coreProperties>
</file>